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64" r:id="rId3"/>
    <p:sldId id="267" r:id="rId4"/>
    <p:sldId id="257" r:id="rId5"/>
    <p:sldId id="259" r:id="rId6"/>
    <p:sldId id="272" r:id="rId7"/>
    <p:sldId id="273" r:id="rId8"/>
    <p:sldId id="274" r:id="rId9"/>
    <p:sldId id="275" r:id="rId10"/>
    <p:sldId id="276" r:id="rId11"/>
    <p:sldId id="258" r:id="rId12"/>
    <p:sldId id="261" r:id="rId13"/>
    <p:sldId id="262" r:id="rId14"/>
    <p:sldId id="263" r:id="rId15"/>
    <p:sldId id="278" r:id="rId16"/>
    <p:sldId id="260" r:id="rId17"/>
    <p:sldId id="279" r:id="rId18"/>
  </p:sldIdLst>
  <p:sldSz cx="12192000" cy="6858000"/>
  <p:notesSz cx="6858000" cy="9144000"/>
  <p:custDataLst>
    <p:tags r:id="rId20"/>
  </p:custData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08" autoAdjust="0"/>
  </p:normalViewPr>
  <p:slideViewPr>
    <p:cSldViewPr snapToGrid="0">
      <p:cViewPr varScale="1">
        <p:scale>
          <a:sx n="89" d="100"/>
          <a:sy n="89" d="100"/>
        </p:scale>
        <p:origin x="6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time: 20 seconds.</a:t>
            </a:r>
          </a:p>
          <a:p>
            <a:r>
              <a:rPr dirty="0"/>
              <a:t>We are 404 Group Not Found. Our project, Mind the Dock, helps people check Santander Cycles stations before they leave. We combine live availability with an availability history and historical cycling collision information. Today we will explain the problem, the data, the proposed website and our delivery plan.</a:t>
            </a:r>
          </a:p>
          <a:p>
            <a:endParaRPr dirty="0"/>
          </a:p>
          <a:p>
            <a:r>
              <a:rPr dirty="0"/>
              <a:t>Sources: project title and members supplied in the group proposal. Cover photograph reused from the user-supplied 模板1.pptx, ppt/media/image1.png. That template credits </a:t>
            </a:r>
            <a:r>
              <a:rPr dirty="0" err="1"/>
              <a:t>Hippopx</a:t>
            </a:r>
            <a:r>
              <a:rPr dirty="0"/>
              <a:t> for its photographs.</a:t>
            </a:r>
          </a:p>
          <a:p>
            <a:r>
              <a:rPr dirty="0"/>
              <a:t>Pending: insert the confirmed presentation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for questions.</a:t>
            </a:r>
          </a:p>
          <a:p>
            <a:r>
              <a:rPr dirty="0"/>
              <a:t>The database name visible in the supplied screenshot is </a:t>
            </a:r>
            <a:r>
              <a:rPr dirty="0" err="1"/>
              <a:t>london_bike_pulse</a:t>
            </a:r>
            <a:r>
              <a:rPr dirty="0"/>
              <a:t>. </a:t>
            </a:r>
            <a:r>
              <a:rPr dirty="0" err="1"/>
              <a:t>bike_stations</a:t>
            </a:r>
            <a:r>
              <a:rPr dirty="0"/>
              <a:t> holds </a:t>
            </a:r>
            <a:r>
              <a:rPr dirty="0" err="1"/>
              <a:t>station_id</a:t>
            </a:r>
            <a:r>
              <a:rPr dirty="0"/>
              <a:t>, </a:t>
            </a:r>
            <a:r>
              <a:rPr dirty="0" err="1"/>
              <a:t>station_name</a:t>
            </a:r>
            <a:r>
              <a:rPr dirty="0"/>
              <a:t>, latitude, longitude, </a:t>
            </a:r>
            <a:r>
              <a:rPr dirty="0" err="1"/>
              <a:t>total_docks</a:t>
            </a:r>
            <a:r>
              <a:rPr dirty="0"/>
              <a:t>, </a:t>
            </a:r>
            <a:r>
              <a:rPr dirty="0" err="1"/>
              <a:t>current_bikes</a:t>
            </a:r>
            <a:r>
              <a:rPr dirty="0"/>
              <a:t>, </a:t>
            </a:r>
            <a:r>
              <a:rPr dirty="0" err="1"/>
              <a:t>standard_bikes</a:t>
            </a:r>
            <a:r>
              <a:rPr dirty="0"/>
              <a:t>, </a:t>
            </a:r>
            <a:r>
              <a:rPr dirty="0" err="1"/>
              <a:t>electric_bikes</a:t>
            </a:r>
            <a:r>
              <a:rPr dirty="0"/>
              <a:t>, </a:t>
            </a:r>
            <a:r>
              <a:rPr dirty="0" err="1"/>
              <a:t>empty_docks</a:t>
            </a:r>
            <a:r>
              <a:rPr dirty="0"/>
              <a:t>, </a:t>
            </a:r>
            <a:r>
              <a:rPr dirty="0" err="1"/>
              <a:t>unavailable_docks</a:t>
            </a:r>
            <a:r>
              <a:rPr dirty="0"/>
              <a:t>, </a:t>
            </a:r>
            <a:r>
              <a:rPr dirty="0" err="1"/>
              <a:t>is_locked</a:t>
            </a:r>
            <a:r>
              <a:rPr dirty="0"/>
              <a:t>, </a:t>
            </a:r>
            <a:r>
              <a:rPr dirty="0" err="1"/>
              <a:t>api_modified_at</a:t>
            </a:r>
            <a:r>
              <a:rPr dirty="0"/>
              <a:t> and </a:t>
            </a:r>
            <a:r>
              <a:rPr dirty="0" err="1"/>
              <a:t>last_updated</a:t>
            </a:r>
            <a:r>
              <a:rPr dirty="0"/>
              <a:t>. </a:t>
            </a:r>
            <a:r>
              <a:rPr dirty="0" err="1"/>
              <a:t>availability_history</a:t>
            </a:r>
            <a:r>
              <a:rPr dirty="0"/>
              <a:t> holds </a:t>
            </a:r>
            <a:r>
              <a:rPr dirty="0" err="1"/>
              <a:t>history_id</a:t>
            </a:r>
            <a:r>
              <a:rPr dirty="0"/>
              <a:t>, </a:t>
            </a:r>
            <a:r>
              <a:rPr dirty="0" err="1"/>
              <a:t>station_id</a:t>
            </a:r>
            <a:r>
              <a:rPr dirty="0"/>
              <a:t>, bikes, </a:t>
            </a:r>
            <a:r>
              <a:rPr dirty="0" err="1"/>
              <a:t>standard_bikes</a:t>
            </a:r>
            <a:r>
              <a:rPr dirty="0"/>
              <a:t>, </a:t>
            </a:r>
            <a:r>
              <a:rPr dirty="0" err="1"/>
              <a:t>electric_bikes</a:t>
            </a:r>
            <a:r>
              <a:rPr dirty="0"/>
              <a:t>, </a:t>
            </a:r>
            <a:r>
              <a:rPr dirty="0" err="1"/>
              <a:t>empty_docks</a:t>
            </a:r>
            <a:r>
              <a:rPr dirty="0"/>
              <a:t>, </a:t>
            </a:r>
            <a:r>
              <a:rPr dirty="0" err="1"/>
              <a:t>total_docks</a:t>
            </a:r>
            <a:r>
              <a:rPr dirty="0"/>
              <a:t>, </a:t>
            </a:r>
            <a:r>
              <a:rPr dirty="0" err="1"/>
              <a:t>unavailable_docks</a:t>
            </a:r>
            <a:r>
              <a:rPr dirty="0"/>
              <a:t>, </a:t>
            </a:r>
            <a:r>
              <a:rPr dirty="0" err="1"/>
              <a:t>is_locked</a:t>
            </a:r>
            <a:r>
              <a:rPr dirty="0"/>
              <a:t> and </a:t>
            </a:r>
            <a:r>
              <a:rPr dirty="0" err="1"/>
              <a:t>captured_at</a:t>
            </a:r>
            <a:r>
              <a:rPr dirty="0"/>
              <a:t>.</a:t>
            </a:r>
          </a:p>
          <a:p>
            <a:r>
              <a:rPr dirty="0"/>
              <a:t>The repeated </a:t>
            </a:r>
            <a:r>
              <a:rPr dirty="0" err="1"/>
              <a:t>station_id</a:t>
            </a:r>
            <a:r>
              <a:rPr dirty="0"/>
              <a:t> supports the intended logical link between current state and history. The screenshots do not show database types, declared foreign keys, indexes, row counts or the running collection schedule. Those details require confirmation. </a:t>
            </a:r>
            <a:r>
              <a:rPr dirty="0" err="1"/>
              <a:t>api_modified_at</a:t>
            </a:r>
            <a:r>
              <a:rPr dirty="0"/>
              <a:t> and local update/collection times should retain their different meanings.</a:t>
            </a:r>
          </a:p>
          <a:p>
            <a:endParaRPr dirty="0"/>
          </a:p>
          <a:p>
            <a:r>
              <a:rPr dirty="0"/>
              <a:t>Sources: user-supplied codex-clipboard-59faf56f-c1b6-41bc-8732-9b98fd0acdc8.jpg and codex-clipboard-6adf05a7-e3f9-4946-ad38-8e9cbea84e93.jpg, received 17 October 2026. Both original images are embedded in full without cropping field rows.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collisions includes collision_id, collision_date, latitude, longitude, location_name, borough, severity, cyclist_involved and casualty_count. The location fields support spatial comparison around stations. No station_id is visible in this table. A time-of-day field is not visible, so the team should check the underlying type of collision_date and the source data before promising hour-based collision filters. The screenshot alone does not establish the dataset source, years, record population or severity definitions.</a:t>
            </a:r>
          </a:p>
          <a:p>
            <a:r>
              <a:t>fault_reports includes report_id, station_id, bike_number, fault_target, fault_type, description, report_status, reported_at and resolved_at. It shows a data structure for reports, but a working form, moderation process and resolution workflow are not demonstrated. Treat reporting as a possible extension until scope is confirmed. A user-entered bike number would not be a TfL individual-bike condition feed.</a:t>
            </a:r>
          </a:p>
          <a:p>
            <a:endParaRPr/>
          </a:p>
          <a:p>
            <a:r>
              <a:t>Sources: user-supplied codex-clipboard-350b251f-5599-4baa-ac11-0435b873205c.jpg and codex-clipboard-02db3e4e-4b0a-4759-88d9-e7d85966b5a3.jpg, received 17 October 2026. Both images are embedded in full without cropping field rows.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for questions.</a:t>
            </a:r>
          </a:p>
          <a:p>
            <a:r>
              <a:rPr dirty="0"/>
              <a:t>The supplied query output shows station IDs, names, coordinates, </a:t>
            </a:r>
            <a:r>
              <a:rPr dirty="0" err="1"/>
              <a:t>available_bikes</a:t>
            </a:r>
            <a:r>
              <a:rPr dirty="0"/>
              <a:t> and </a:t>
            </a:r>
            <a:r>
              <a:rPr dirty="0" err="1"/>
              <a:t>recorded_at</a:t>
            </a:r>
            <a:r>
              <a:rPr dirty="0"/>
              <a:t>. For example, the displayed sample includes River Street, Clerkenwell; Park Street, Bankside; and Queen Street 1, Bank. The visible </a:t>
            </a:r>
            <a:r>
              <a:rPr dirty="0" err="1"/>
              <a:t>recorded_at</a:t>
            </a:r>
            <a:r>
              <a:rPr dirty="0"/>
              <a:t> date is 2026/10/11. These counts describe the supplied output and should not be described as current availability. No total station count, collection reliability or production readiness can be inferred from this partial query output.</a:t>
            </a:r>
          </a:p>
          <a:p>
            <a:r>
              <a:rPr dirty="0"/>
              <a:t>The query column labels </a:t>
            </a:r>
            <a:r>
              <a:rPr dirty="0" err="1"/>
              <a:t>available_bikes</a:t>
            </a:r>
            <a:r>
              <a:rPr dirty="0"/>
              <a:t> and </a:t>
            </a:r>
            <a:r>
              <a:rPr dirty="0" err="1"/>
              <a:t>recorded_at</a:t>
            </a:r>
            <a:r>
              <a:rPr dirty="0"/>
              <a:t> differ from </a:t>
            </a:r>
            <a:r>
              <a:rPr dirty="0" err="1"/>
              <a:t>current_bikes</a:t>
            </a:r>
            <a:r>
              <a:rPr dirty="0"/>
              <a:t> and </a:t>
            </a:r>
            <a:r>
              <a:rPr dirty="0" err="1"/>
              <a:t>last_updated</a:t>
            </a:r>
            <a:r>
              <a:rPr dirty="0"/>
              <a:t> in the supplied </a:t>
            </a:r>
            <a:r>
              <a:rPr dirty="0" err="1"/>
              <a:t>bike_stations</a:t>
            </a:r>
            <a:r>
              <a:rPr dirty="0"/>
              <a:t> schema. They may be SQL aliases or come from a different query or schema version. Confirm the query before mapping these names to the API contract.</a:t>
            </a:r>
          </a:p>
          <a:p>
            <a:endParaRPr dirty="0"/>
          </a:p>
          <a:p>
            <a:r>
              <a:rPr dirty="0"/>
              <a:t>Source: user-supplied codex-clipboard-5268c16c-0585-4283-95d0-9b7e31be5c73.png, received 17 October 2026. The full original screenshot and all its visible rows remain embedded.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64ADE-D192-9882-5AA2-0A4785F70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3D3C8-80D1-B347-6BE8-BB792EE1D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9DEC8-1376-7D0B-3C60-D607FB37CEF7}"/>
              </a:ext>
            </a:extLst>
          </p:cNvPr>
          <p:cNvSpPr>
            <a:spLocks noGrp="1"/>
          </p:cNvSpPr>
          <p:nvPr>
            <p:ph type="body" idx="1"/>
          </p:nvPr>
        </p:nvSpPr>
        <p:spPr/>
        <p:txBody>
          <a:bodyPr/>
          <a:lstStyle/>
          <a:p>
            <a:r>
              <a:rPr dirty="0"/>
              <a:t>Suggested time: 20 seconds.</a:t>
            </a:r>
          </a:p>
          <a:p>
            <a:r>
              <a:rPr dirty="0"/>
              <a:t>We are 404 Group Not Found. Our project, Mind the Dock, helps people check Santander Cycles stations before they leave. We combine live availability with an availability history and historical cycling collision information. Today we will explain the problem, the data, the proposed website and our delivery plan.</a:t>
            </a:r>
          </a:p>
          <a:p>
            <a:endParaRPr dirty="0"/>
          </a:p>
          <a:p>
            <a:r>
              <a:rPr dirty="0"/>
              <a:t>Sources: project title and members supplied in the group proposal. Cover photograph reused from the user-supplied 模板1.pptx, ppt/media/image1.png. That template credits </a:t>
            </a:r>
            <a:r>
              <a:rPr dirty="0" err="1"/>
              <a:t>Hippopx</a:t>
            </a:r>
            <a:r>
              <a:rPr dirty="0"/>
              <a:t> for its photographs.</a:t>
            </a:r>
          </a:p>
          <a:p>
            <a:r>
              <a:rPr dirty="0"/>
              <a:t>Pending: insert the confirmed presentation date.</a:t>
            </a:r>
          </a:p>
        </p:txBody>
      </p:sp>
      <p:sp>
        <p:nvSpPr>
          <p:cNvPr id="4" name="Slide Number Placeholder 3">
            <a:extLst>
              <a:ext uri="{FF2B5EF4-FFF2-40B4-BE49-F238E27FC236}">
                <a16:creationId xmlns:a16="http://schemas.microsoft.com/office/drawing/2014/main" id="{4501630F-191E-4C78-CFBF-BD0BED41BB4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24391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DAE435F8-AC12-D146-942B-6348F2F55CFC}" type="datetimeFigureOut">
              <a:rPr lang="zh-CN" altLang="en-US"/>
              <a:t>2026/10/21</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DAE435F8-AC12-D146-942B-6348F2F55CFC}" type="datetimeFigureOut">
              <a:rPr lang="zh-CN" altLang="en-US"/>
              <a:t>2026/10/21</a:t>
            </a:fld>
            <a:endParaRPr/>
          </a:p>
        </p:txBody>
      </p:sp>
      <p:sp>
        <p:nvSpPr>
          <p:cNvPr id="8" name="Footer Placeholder 7"/>
          <p:cNvSpPr>
            <a:spLocks noGrp="1"/>
          </p:cNvSpPr>
          <p:nvPr>
            <p:ph type="ftr" idx="11"/>
          </p:nvPr>
        </p:nvSpPr>
        <p:spPr/>
        <p:txBody>
          <a:bodyPr/>
          <a:lstStyle/>
          <a:p>
            <a:endParaRPr/>
          </a:p>
        </p:txBody>
      </p:sp>
      <p:sp>
        <p:nvSpPr>
          <p:cNvPr id="9" name="Slide Number Placeholder 8"/>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DAE435F8-AC12-D146-942B-6348F2F55CFC}" type="datetimeFigureOut">
              <a:rPr lang="zh-CN" altLang="en-US"/>
              <a:t>2026/10/21</a:t>
            </a:fld>
            <a:endParaRPr/>
          </a:p>
        </p:txBody>
      </p:sp>
      <p:sp>
        <p:nvSpPr>
          <p:cNvPr id="4" name="Footer Placeholder 3"/>
          <p:cNvSpPr>
            <a:spLocks noGrp="1"/>
          </p:cNvSpPr>
          <p:nvPr>
            <p:ph type="ftr" idx="11"/>
          </p:nvPr>
        </p:nvSpPr>
        <p:spPr/>
        <p:txBody>
          <a:bodyPr/>
          <a:lstStyle/>
          <a:p>
            <a:endParaRPr/>
          </a:p>
        </p:txBody>
      </p:sp>
      <p:sp>
        <p:nvSpPr>
          <p:cNvPr id="5" name="Slide Number Placeholder 4"/>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DAE435F8-AC12-D146-942B-6348F2F55CFC}" type="datetimeFigureOut">
              <a:rPr lang="zh-CN" altLang="en-US"/>
              <a:t>2026/10/21</a:t>
            </a:fld>
            <a:endParaRPr/>
          </a:p>
        </p:txBody>
      </p:sp>
      <p:sp>
        <p:nvSpPr>
          <p:cNvPr id="3" name="Footer Placeholder 2"/>
          <p:cNvSpPr>
            <a:spLocks noGrp="1"/>
          </p:cNvSpPr>
          <p:nvPr>
            <p:ph type="ftr" idx="11"/>
          </p:nvPr>
        </p:nvSpPr>
        <p:spPr/>
        <p:txBody>
          <a:bodyPr/>
          <a:lstStyle/>
          <a:p>
            <a:endParaRPr/>
          </a:p>
        </p:txBody>
      </p:sp>
      <p:sp>
        <p:nvSpPr>
          <p:cNvPr id="4" name="Slide Number Placeholder 3"/>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DAE435F8-AC12-D146-942B-6348F2F55CFC}" type="datetimeFigureOut">
              <a:rPr lang="zh-CN" altLang="en-US"/>
              <a:t>2026/10/21</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DAE435F8-AC12-D146-942B-6348F2F55CFC}" type="datetimeFigureOut">
              <a:rPr lang="zh-CN" altLang="en-US"/>
              <a:t>2026/10/21</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2026/10/21</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DAE435F8-AC12-D146-942B-6348F2F55CFC}" type="datetimeFigureOut">
              <a:rPr lang="zh-CN" altLang="en-US"/>
              <a:t>2026/10/21</a:t>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525703E4-8CA5-3D4F-9EFE-7E546FCDE93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Layout" Target="../slideLayouts/slideLayout2.xml"/><Relationship Id="rId17" Type="http://schemas.openxmlformats.org/officeDocument/2006/relationships/hyperlink" Target="https://www.london.gov.uk/sites/default/files/mayors-transport-strategy-2018.pdf?utm_source=chatgpt.com" TargetMode="External"/><Relationship Id="rId2" Type="http://schemas.openxmlformats.org/officeDocument/2006/relationships/tags" Target="../tags/tag3.xml"/><Relationship Id="rId16" Type="http://schemas.openxmlformats.org/officeDocument/2006/relationships/hyperlink" Target="https://discovery.ucl.ac.uk/id/eprint/10215127/?utm_source=chatgpt.com" TargetMode="Externa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hyperlink" Target="https://discovery.ucl.ac.uk/id/eprint/10161120/?utm_source=chatgpt.com" TargetMode="Externa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5.xml"/><Relationship Id="rId7"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10" Type="http://schemas.openxmlformats.org/officeDocument/2006/relationships/image" Target="../media/image4.png"/><Relationship Id="rId4" Type="http://schemas.openxmlformats.org/officeDocument/2006/relationships/tags" Target="../tags/tag16.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21.xml"/><Relationship Id="rId7" Type="http://schemas.openxmlformats.org/officeDocument/2006/relationships/image" Target="../media/image6.sv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5.jpe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24.xml"/><Relationship Id="rId7"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notesSlide" Target="../notesSlides/notesSlide15.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rcRect t="44" b="44"/>
          <a:stretch>
            <a:fillRect/>
          </a:stretch>
        </p:blipFill>
        <p:spPr>
          <a:xfrm>
            <a:off x="0" y="0"/>
            <a:ext cx="12192000" cy="6858000"/>
          </a:xfrm>
          <a:prstGeom prst="rect">
            <a:avLst/>
          </a:prstGeom>
        </p:spPr>
      </p:pic>
      <p:sp>
        <p:nvSpPr>
          <p:cNvPr id="2" name="矩形 1"/>
          <p:cNvSpPr>
            <a:spLocks noGrp="1"/>
          </p:cNvSpPr>
          <p:nvPr/>
        </p:nvSpPr>
        <p:spPr>
          <a:xfrm>
            <a:off x="0" y="0"/>
            <a:ext cx="12192000" cy="6858000"/>
          </a:xfrm>
          <a:prstGeom prst="rect">
            <a:avLst/>
          </a:prstGeom>
          <a:gradFill>
            <a:gsLst>
              <a:gs pos="0">
                <a:srgbClr val="04091D"/>
              </a:gs>
              <a:gs pos="48000">
                <a:srgbClr val="04091D">
                  <a:alpha val="94000"/>
                </a:srgbClr>
              </a:gs>
              <a:gs pos="100000">
                <a:srgbClr val="04091D">
                  <a:alpha val="15000"/>
                </a:srgbClr>
              </a:gs>
            </a:gsLst>
            <a:lin ang="0"/>
          </a:gradFill>
          <a:ln w="0">
            <a:noFill/>
          </a:ln>
        </p:spPr>
      </p:sp>
      <p:sp>
        <p:nvSpPr>
          <p:cNvPr id="3" name="CASA0017  /  GROUP PROJECT PITCH"/>
          <p:cNvSpPr>
            <a:spLocks noGrp="1"/>
          </p:cNvSpPr>
          <p:nvPr/>
        </p:nvSpPr>
        <p:spPr>
          <a:xfrm>
            <a:off x="838200" y="866775"/>
            <a:ext cx="8572500" cy="333375"/>
          </a:xfrm>
          <a:prstGeom prst="rect">
            <a:avLst/>
          </a:prstGeom>
          <a:noFill/>
          <a:ln w="0">
            <a:noFill/>
          </a:ln>
        </p:spPr>
        <p:txBody>
          <a:bodyPr wrap="square" lIns="0" tIns="0" rIns="0" bIns="0" anchor="t">
            <a:noAutofit/>
          </a:bodyPr>
          <a:lstStyle>
            <a:defPPr>
              <a:defRPr sz="1725" b="1">
                <a:solidFill>
                  <a:srgbClr val="0BE4F7"/>
                </a:solidFill>
                <a:latin typeface="Arial" panose="020B0604020202020204"/>
                <a:ea typeface="Arial" panose="020B0604020202020204"/>
                <a:cs typeface="Arial" panose="020B0604020202020204"/>
              </a:defRPr>
            </a:defPPr>
          </a:lstStyle>
          <a:p>
            <a:pPr>
              <a:lnSpc>
                <a:spcPct val="113000"/>
              </a:lnSpc>
              <a:buNone/>
              <a:defRPr sz="1725" b="1">
                <a:solidFill>
                  <a:srgbClr val="0BE4F7"/>
                </a:solidFill>
                <a:latin typeface="Arial" panose="020B0604020202020204"/>
                <a:ea typeface="Arial" panose="020B0604020202020204"/>
                <a:cs typeface="Arial" panose="020B0604020202020204"/>
              </a:defRPr>
            </a:pPr>
            <a:r>
              <a:rPr sz="1725" b="1">
                <a:solidFill>
                  <a:srgbClr val="0BE4F7"/>
                </a:solidFill>
                <a:latin typeface="Arial" panose="020B0604020202020204"/>
                <a:ea typeface="Arial" panose="020B0604020202020204"/>
                <a:cs typeface="Arial" panose="020B0604020202020204"/>
              </a:rPr>
              <a:t>CASA0017  /  GROUP PROJECT PITCH</a:t>
            </a:r>
          </a:p>
        </p:txBody>
      </p:sp>
      <p:sp>
        <p:nvSpPr>
          <p:cNvPr id="4" name="Mind the Dock"/>
          <p:cNvSpPr>
            <a:spLocks noGrp="1"/>
          </p:cNvSpPr>
          <p:nvPr/>
        </p:nvSpPr>
        <p:spPr>
          <a:xfrm>
            <a:off x="838200" y="1571625"/>
            <a:ext cx="10191750" cy="952500"/>
          </a:xfrm>
          <a:prstGeom prst="rect">
            <a:avLst/>
          </a:prstGeom>
          <a:noFill/>
          <a:ln w="0">
            <a:noFill/>
          </a:ln>
        </p:spPr>
        <p:txBody>
          <a:bodyPr wrap="square" lIns="0" tIns="0" rIns="0" bIns="0" anchor="t">
            <a:noAutofit/>
          </a:bodyPr>
          <a:lstStyle>
            <a:defPPr>
              <a:defRPr sz="6000" b="1">
                <a:solidFill>
                  <a:srgbClr val="FFFFFF"/>
                </a:solidFill>
                <a:latin typeface="Arial" panose="020B0604020202020204"/>
                <a:ea typeface="Arial" panose="020B0604020202020204"/>
                <a:cs typeface="Arial" panose="020B0604020202020204"/>
              </a:defRPr>
            </a:defPPr>
          </a:lstStyle>
          <a:p>
            <a:pPr>
              <a:lnSpc>
                <a:spcPct val="113000"/>
              </a:lnSpc>
              <a:buNone/>
              <a:defRPr sz="6000" b="1">
                <a:solidFill>
                  <a:srgbClr val="FFFFFF"/>
                </a:solidFill>
                <a:latin typeface="Arial" panose="020B0604020202020204"/>
                <a:ea typeface="Arial" panose="020B0604020202020204"/>
                <a:cs typeface="Arial" panose="020B0604020202020204"/>
              </a:defRPr>
            </a:pPr>
            <a:r>
              <a:rPr sz="7200" b="1" dirty="0">
                <a:solidFill>
                  <a:srgbClr val="FFFFFF"/>
                </a:solidFill>
                <a:latin typeface="Arial" panose="020B0604020202020204"/>
                <a:ea typeface="Arial" panose="020B0604020202020204"/>
                <a:cs typeface="Arial" panose="020B0604020202020204"/>
              </a:rPr>
              <a:t>Mind the Dock</a:t>
            </a:r>
          </a:p>
        </p:txBody>
      </p:sp>
      <p:sp>
        <p:nvSpPr>
          <p:cNvPr id="5" name="A Live Map of London's Cycle Hire"/>
          <p:cNvSpPr>
            <a:spLocks noGrp="1"/>
          </p:cNvSpPr>
          <p:nvPr/>
        </p:nvSpPr>
        <p:spPr>
          <a:xfrm>
            <a:off x="838200" y="2809875"/>
            <a:ext cx="9810750" cy="619125"/>
          </a:xfrm>
          <a:prstGeom prst="rect">
            <a:avLst/>
          </a:prstGeom>
          <a:noFill/>
          <a:ln w="0">
            <a:noFill/>
          </a:ln>
        </p:spPr>
        <p:txBody>
          <a:bodyPr wrap="square" lIns="0" tIns="0" rIns="0" bIns="0" anchor="t">
            <a:noAutofit/>
          </a:bodyPr>
          <a:lstStyle>
            <a:defPPr>
              <a:defRPr sz="2775" b="0">
                <a:solidFill>
                  <a:srgbClr val="FFFFFF"/>
                </a:solidFill>
                <a:latin typeface="Arial" panose="020B0604020202020204"/>
                <a:ea typeface="Arial" panose="020B0604020202020204"/>
                <a:cs typeface="Arial" panose="020B0604020202020204"/>
              </a:defRPr>
            </a:defPPr>
          </a:lstStyle>
          <a:p>
            <a:pPr>
              <a:lnSpc>
                <a:spcPct val="113000"/>
              </a:lnSpc>
              <a:buNone/>
              <a:defRPr sz="2775" b="0">
                <a:solidFill>
                  <a:srgbClr val="FFFFFF"/>
                </a:solidFill>
                <a:latin typeface="Arial" panose="020B0604020202020204"/>
                <a:ea typeface="Arial" panose="020B0604020202020204"/>
                <a:cs typeface="Arial" panose="020B0604020202020204"/>
              </a:defRPr>
            </a:pPr>
            <a:r>
              <a:rPr sz="3200" b="0">
                <a:solidFill>
                  <a:srgbClr val="FFFFFF"/>
                </a:solidFill>
                <a:latin typeface="Arial" panose="020B0604020202020204"/>
                <a:ea typeface="Arial" panose="020B0604020202020204"/>
                <a:cs typeface="Arial" panose="020B0604020202020204"/>
              </a:rPr>
              <a:t>A Live Map of London's Cycle Hire</a:t>
            </a:r>
          </a:p>
        </p:txBody>
      </p:sp>
      <p:sp>
        <p:nvSpPr>
          <p:cNvPr id="6" name="404 Group Not Found"/>
          <p:cNvSpPr>
            <a:spLocks noGrp="1"/>
          </p:cNvSpPr>
          <p:nvPr/>
        </p:nvSpPr>
        <p:spPr>
          <a:xfrm>
            <a:off x="838200" y="3900170"/>
            <a:ext cx="8096250" cy="476250"/>
          </a:xfrm>
          <a:prstGeom prst="rect">
            <a:avLst/>
          </a:prstGeom>
          <a:noFill/>
          <a:ln w="0">
            <a:noFill/>
          </a:ln>
        </p:spPr>
        <p:txBody>
          <a:bodyPr wrap="square" lIns="0" tIns="0" rIns="0" bIns="0" anchor="t">
            <a:noAutofit/>
          </a:bodyPr>
          <a:lstStyle>
            <a:defPPr>
              <a:defRPr sz="2400" b="1">
                <a:solidFill>
                  <a:srgbClr val="0BE4F7"/>
                </a:solidFill>
                <a:latin typeface="Arial" panose="020B0604020202020204"/>
                <a:ea typeface="Arial" panose="020B0604020202020204"/>
                <a:cs typeface="Arial" panose="020B0604020202020204"/>
              </a:defRPr>
            </a:defPPr>
          </a:lstStyle>
          <a:p>
            <a:pPr>
              <a:lnSpc>
                <a:spcPct val="113000"/>
              </a:lnSpc>
              <a:buNone/>
              <a:defRPr sz="2400" b="1">
                <a:solidFill>
                  <a:srgbClr val="0BE4F7"/>
                </a:solidFill>
                <a:latin typeface="Arial" panose="020B0604020202020204"/>
                <a:ea typeface="Arial" panose="020B0604020202020204"/>
                <a:cs typeface="Arial" panose="020B0604020202020204"/>
              </a:defRPr>
            </a:pPr>
            <a:r>
              <a:rPr sz="2800" b="1">
                <a:solidFill>
                  <a:srgbClr val="0BE4F7"/>
                </a:solidFill>
                <a:latin typeface="Arial" panose="020B0604020202020204"/>
                <a:ea typeface="Arial" panose="020B0604020202020204"/>
                <a:cs typeface="Arial" panose="020B0604020202020204"/>
              </a:rPr>
              <a:t>404 Group Not Found</a:t>
            </a:r>
          </a:p>
        </p:txBody>
      </p:sp>
      <p:sp>
        <p:nvSpPr>
          <p:cNvPr id="7" name="Yifei Gong, Jiahan Xie, Zeyu Cheng, Jialing Zhao and Shamima Akht"/>
          <p:cNvSpPr>
            <a:spLocks noGrp="1"/>
          </p:cNvSpPr>
          <p:nvPr/>
        </p:nvSpPr>
        <p:spPr>
          <a:xfrm>
            <a:off x="838200" y="4524375"/>
            <a:ext cx="8572500" cy="857250"/>
          </a:xfrm>
          <a:prstGeom prst="rect">
            <a:avLst/>
          </a:prstGeom>
          <a:noFill/>
          <a:ln w="0">
            <a:noFill/>
          </a:ln>
        </p:spPr>
        <p:txBody>
          <a:bodyPr wrap="square" lIns="0" tIns="0" rIns="0" bIns="0" anchor="t">
            <a:noAutofit/>
          </a:bodyPr>
          <a:lstStyle>
            <a:defPPr>
              <a:defRPr sz="1950" b="0">
                <a:solidFill>
                  <a:srgbClr val="FFFFFF"/>
                </a:solidFill>
                <a:latin typeface="Arial" panose="020B0604020202020204"/>
                <a:ea typeface="Arial" panose="020B0604020202020204"/>
                <a:cs typeface="Arial" panose="020B0604020202020204"/>
              </a:defRPr>
            </a:defPPr>
          </a:lstStyle>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Yifei Gong, Jiahan Xie, Zeyu Cheng,</a:t>
            </a:r>
          </a:p>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Jialing Zhao and Shamima Akhtar</a:t>
            </a:r>
          </a:p>
        </p:txBody>
      </p:sp>
      <p:sp>
        <p:nvSpPr>
          <p:cNvPr id="8" name="UCL CASA Connected Environments MSc"/>
          <p:cNvSpPr>
            <a:spLocks noGrp="1"/>
          </p:cNvSpPr>
          <p:nvPr/>
        </p:nvSpPr>
        <p:spPr>
          <a:xfrm>
            <a:off x="838200" y="5753100"/>
            <a:ext cx="7620000" cy="304800"/>
          </a:xfrm>
          <a:prstGeom prst="rect">
            <a:avLst/>
          </a:prstGeom>
          <a:noFill/>
          <a:ln w="0">
            <a:noFill/>
          </a:ln>
        </p:spPr>
        <p:txBody>
          <a:bodyPr wrap="square" lIns="0" tIns="0" rIns="0" bIns="0" anchor="t">
            <a:noAutofit/>
          </a:bodyPr>
          <a:lstStyle>
            <a:defPPr>
              <a:defRPr sz="1500" b="0">
                <a:solidFill>
                  <a:srgbClr val="D2D6DF"/>
                </a:solidFill>
                <a:latin typeface="Arial" panose="020B0604020202020204"/>
                <a:ea typeface="Arial" panose="020B0604020202020204"/>
                <a:cs typeface="Arial" panose="020B0604020202020204"/>
              </a:defRPr>
            </a:defPPr>
          </a:lstStyle>
          <a:p>
            <a:pPr>
              <a:lnSpc>
                <a:spcPct val="113000"/>
              </a:lnSpc>
              <a:buNone/>
              <a:defRPr sz="1500" b="0">
                <a:solidFill>
                  <a:srgbClr val="D2D6DF"/>
                </a:solidFill>
                <a:latin typeface="Arial" panose="020B0604020202020204"/>
                <a:ea typeface="Arial" panose="020B0604020202020204"/>
                <a:cs typeface="Arial" panose="020B0604020202020204"/>
              </a:defRPr>
            </a:pPr>
            <a:r>
              <a:rPr sz="1600" b="0" dirty="0">
                <a:solidFill>
                  <a:srgbClr val="D2D6DF"/>
                </a:solidFill>
                <a:latin typeface="Arial" panose="020B0604020202020204"/>
                <a:ea typeface="Arial" panose="020B0604020202020204"/>
                <a:cs typeface="Arial" panose="020B0604020202020204"/>
              </a:rPr>
              <a:t>UCL CASA Connected Environments</a:t>
            </a:r>
            <a:r>
              <a:rPr lang="zh-CN" altLang="en-US" sz="1600" b="0" dirty="0">
                <a:solidFill>
                  <a:srgbClr val="D2D6DF"/>
                </a:solidFill>
                <a:latin typeface="Arial" panose="020B0604020202020204"/>
                <a:ea typeface="Arial" panose="020B0604020202020204"/>
                <a:cs typeface="Arial" panose="020B0604020202020204"/>
              </a:rPr>
              <a:t> </a:t>
            </a:r>
            <a:r>
              <a:rPr lang="en-US" sz="1600" b="0" dirty="0">
                <a:solidFill>
                  <a:srgbClr val="D2D6DF"/>
                </a:solidFill>
                <a:latin typeface="Arial" panose="020B0604020202020204"/>
                <a:ea typeface="Arial" panose="020B0604020202020204"/>
                <a:cs typeface="Arial" panose="020B0604020202020204"/>
              </a:rPr>
              <a:t>MSc</a:t>
            </a:r>
            <a:endParaRPr sz="1600" b="0" dirty="0">
              <a:solidFill>
                <a:srgbClr val="D2D6DF"/>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sz="3300" b="1">
                <a:solidFill>
                  <a:srgbClr val="04091D"/>
                </a:solidFill>
                <a:latin typeface="Arial" panose="020B0604020202020204"/>
                <a:ea typeface="Arial" panose="020B0604020202020204"/>
                <a:cs typeface="Arial" panose="020B0604020202020204"/>
              </a:rPr>
              <a:t>1. Background and Research</a:t>
            </a:r>
          </a:p>
        </p:txBody>
      </p:sp>
      <p:sp>
        <p:nvSpPr>
          <p:cNvPr id="2" name="矩形 1"/>
          <p:cNvSpPr>
            <a:spLocks noGrp="1"/>
          </p:cNvSpPr>
          <p:nvPr/>
        </p:nvSpPr>
        <p:spPr>
          <a:xfrm>
            <a:off x="584835" y="1148715"/>
            <a:ext cx="11128375" cy="76200"/>
          </a:xfrm>
          <a:prstGeom prst="rect">
            <a:avLst/>
          </a:prstGeom>
          <a:solidFill>
            <a:srgbClr val="0BE4F7"/>
          </a:solidFill>
          <a:ln w="0">
            <a:noFill/>
          </a:ln>
        </p:spPr>
      </p:sp>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02</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3192"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12" name="An empty station delays a journey. A full station makes returning"/>
          <p:cNvSpPr>
            <a:spLocks noGrp="1"/>
          </p:cNvSpPr>
          <p:nvPr/>
        </p:nvSpPr>
        <p:spPr>
          <a:xfrm>
            <a:off x="760095" y="1381125"/>
            <a:ext cx="404495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indent="0">
              <a:lnSpc>
                <a:spcPct val="150000"/>
              </a:lnSpc>
              <a:buFont typeface="Arial" panose="020B0604020202020204" pitchFamily="34" charset="0"/>
            </a:pPr>
            <a:r>
              <a:rPr sz="1900" b="1">
                <a:solidFill>
                  <a:srgbClr val="091430"/>
                </a:solidFill>
                <a:latin typeface="Aptos"/>
              </a:rPr>
              <a:t>LONDON POLICY</a:t>
            </a:r>
          </a:p>
          <a:p>
            <a:pPr indent="0">
              <a:lnSpc>
                <a:spcPct val="100000"/>
              </a:lnSpc>
              <a:buFont typeface="Arial" panose="020B0604020202020204" pitchFamily="34" charset="0"/>
            </a:pPr>
            <a:endParaRPr sz="1900">
              <a:solidFill>
                <a:srgbClr val="091430"/>
              </a:solidFill>
              <a:latin typeface="Aptos"/>
            </a:endParaRPr>
          </a:p>
        </p:txBody>
      </p:sp>
      <p:sp>
        <p:nvSpPr>
          <p:cNvPr id="16" name="Our map will help users check a station before leaving and compar"/>
          <p:cNvSpPr>
            <a:spLocks noGrp="1"/>
          </p:cNvSpPr>
          <p:nvPr/>
        </p:nvSpPr>
        <p:spPr>
          <a:xfrm>
            <a:off x="5278120" y="1469390"/>
            <a:ext cx="582168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indent="0">
              <a:lnSpc>
                <a:spcPct val="100000"/>
              </a:lnSpc>
              <a:buFont typeface="Arial" panose="020B0604020202020204" pitchFamily="34" charset="0"/>
            </a:pPr>
            <a:r>
              <a:rPr sz="1900" b="1">
                <a:solidFill>
                  <a:srgbClr val="091430"/>
                </a:solidFill>
                <a:latin typeface="Aptos"/>
              </a:rPr>
              <a:t>UCL </a:t>
            </a:r>
            <a:r>
              <a:rPr lang="en-US" sz="1900" b="1">
                <a:solidFill>
                  <a:srgbClr val="091430"/>
                </a:solidFill>
                <a:latin typeface="Aptos"/>
              </a:rPr>
              <a:t>Research</a:t>
            </a:r>
            <a:endParaRPr lang="en-US" altLang="zh-CN" sz="1900">
              <a:solidFill>
                <a:srgbClr val="091430"/>
              </a:solidFill>
              <a:latin typeface="Aptos"/>
            </a:endParaRPr>
          </a:p>
        </p:txBody>
      </p:sp>
      <p:pic>
        <p:nvPicPr>
          <p:cNvPr id="22" name="图片 21"/>
          <p:cNvPicPr>
            <a:picLocks noChangeAspect="1"/>
          </p:cNvPicPr>
          <p:nvPr/>
        </p:nvPicPr>
        <p:blipFill>
          <a:blip r:embed="rId14"/>
          <a:srcRect b="51316"/>
          <a:stretch>
            <a:fillRect/>
          </a:stretch>
        </p:blipFill>
        <p:spPr>
          <a:xfrm>
            <a:off x="584835" y="3956050"/>
            <a:ext cx="1999615" cy="1951355"/>
          </a:xfrm>
          <a:prstGeom prst="rect">
            <a:avLst/>
          </a:prstGeom>
        </p:spPr>
      </p:pic>
      <p:pic>
        <p:nvPicPr>
          <p:cNvPr id="23" name="图片 22"/>
          <p:cNvPicPr>
            <a:picLocks noChangeAspect="1"/>
          </p:cNvPicPr>
          <p:nvPr/>
        </p:nvPicPr>
        <p:blipFill>
          <a:blip r:embed="rId14"/>
          <a:srcRect t="51315" b="1"/>
          <a:stretch>
            <a:fillRect/>
          </a:stretch>
        </p:blipFill>
        <p:spPr>
          <a:xfrm>
            <a:off x="2748280" y="4300855"/>
            <a:ext cx="2056765" cy="2007870"/>
          </a:xfrm>
          <a:prstGeom prst="rect">
            <a:avLst/>
          </a:prstGeom>
        </p:spPr>
      </p:pic>
      <p:sp>
        <p:nvSpPr>
          <p:cNvPr id="29" name="Rounded Rectangle 5"/>
          <p:cNvSpPr/>
          <p:nvPr>
            <p:custDataLst>
              <p:tags r:id="rId1"/>
            </p:custDataLst>
          </p:nvPr>
        </p:nvSpPr>
        <p:spPr>
          <a:xfrm>
            <a:off x="5162550" y="1917700"/>
            <a:ext cx="6551295" cy="2183130"/>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6"/>
          <p:cNvSpPr txBox="1"/>
          <p:nvPr>
            <p:custDataLst>
              <p:tags r:id="rId2"/>
            </p:custDataLst>
          </p:nvPr>
        </p:nvSpPr>
        <p:spPr>
          <a:xfrm>
            <a:off x="5213858" y="2143760"/>
            <a:ext cx="2468880" cy="250825"/>
          </a:xfrm>
          <a:prstGeom prst="rect">
            <a:avLst/>
          </a:prstGeom>
          <a:noFill/>
        </p:spPr>
        <p:txBody>
          <a:bodyPr wrap="square" lIns="54864" tIns="36576">
            <a:spAutoFit/>
          </a:bodyPr>
          <a:lstStyle/>
          <a:p>
            <a:pPr>
              <a:spcAft>
                <a:spcPts val="700"/>
              </a:spcAft>
              <a:defRPr sz="1100" b="1">
                <a:solidFill>
                  <a:srgbClr val="16955D"/>
                </a:solidFill>
                <a:latin typeface="Aptos"/>
              </a:defRPr>
            </a:pPr>
            <a:r>
              <a:t>2016  ·  MASTER’S THESIS</a:t>
            </a:r>
          </a:p>
        </p:txBody>
      </p:sp>
      <p:sp>
        <p:nvSpPr>
          <p:cNvPr id="31" name="TextBox 7"/>
          <p:cNvSpPr txBox="1"/>
          <p:nvPr>
            <p:custDataLst>
              <p:tags r:id="rId3"/>
            </p:custDataLst>
          </p:nvPr>
        </p:nvSpPr>
        <p:spPr>
          <a:xfrm>
            <a:off x="5278120" y="2571115"/>
            <a:ext cx="1710690" cy="635635"/>
          </a:xfrm>
          <a:prstGeom prst="rect">
            <a:avLst/>
          </a:prstGeom>
          <a:noFill/>
        </p:spPr>
        <p:txBody>
          <a:bodyPr wrap="square" lIns="54864" tIns="36576">
            <a:spAutoFit/>
          </a:bodyPr>
          <a:lstStyle/>
          <a:p>
            <a:pPr>
              <a:spcAft>
                <a:spcPts val="700"/>
              </a:spcAft>
              <a:defRPr sz="1800" b="1">
                <a:solidFill>
                  <a:srgbClr val="091430"/>
                </a:solidFill>
                <a:latin typeface="Aptos"/>
              </a:defRPr>
            </a:pPr>
            <a:r>
              <a:t>Nilufer Sari Aslam</a:t>
            </a:r>
          </a:p>
        </p:txBody>
      </p:sp>
      <p:sp>
        <p:nvSpPr>
          <p:cNvPr id="32" name="TextBox 8"/>
          <p:cNvSpPr txBox="1"/>
          <p:nvPr>
            <p:custDataLst>
              <p:tags r:id="rId4"/>
            </p:custDataLst>
          </p:nvPr>
        </p:nvSpPr>
        <p:spPr>
          <a:xfrm>
            <a:off x="7099300" y="2059305"/>
            <a:ext cx="4034790" cy="604520"/>
          </a:xfrm>
          <a:prstGeom prst="rect">
            <a:avLst/>
          </a:prstGeom>
          <a:noFill/>
        </p:spPr>
        <p:txBody>
          <a:bodyPr wrap="square" lIns="54864" tIns="36576">
            <a:spAutoFit/>
          </a:bodyPr>
          <a:lstStyle/>
          <a:p>
            <a:pPr>
              <a:spcAft>
                <a:spcPts val="700"/>
              </a:spcAft>
              <a:defRPr sz="1700" b="1">
                <a:solidFill>
                  <a:srgbClr val="091430"/>
                </a:solidFill>
                <a:latin typeface="Aptos"/>
              </a:defRPr>
            </a:pPr>
            <a:r>
              <a:t>Demand dynamics and inter-modal connectivity in London bike sharing</a:t>
            </a:r>
          </a:p>
        </p:txBody>
      </p:sp>
      <p:sp>
        <p:nvSpPr>
          <p:cNvPr id="33" name="TextBox 9"/>
          <p:cNvSpPr txBox="1"/>
          <p:nvPr>
            <p:custDataLst>
              <p:tags r:id="rId5"/>
            </p:custDataLst>
          </p:nvPr>
        </p:nvSpPr>
        <p:spPr>
          <a:xfrm>
            <a:off x="7099300" y="2774315"/>
            <a:ext cx="4355465" cy="512445"/>
          </a:xfrm>
          <a:prstGeom prst="rect">
            <a:avLst/>
          </a:prstGeom>
          <a:noFill/>
        </p:spPr>
        <p:txBody>
          <a:bodyPr wrap="square" lIns="54864" tIns="36576">
            <a:spAutoFit/>
          </a:bodyPr>
          <a:lstStyle/>
          <a:p>
            <a:pPr>
              <a:spcAft>
                <a:spcPts val="700"/>
              </a:spcAft>
              <a:defRPr sz="1400" b="0">
                <a:solidFill>
                  <a:srgbClr val="091430"/>
                </a:solidFill>
                <a:latin typeface="Aptos"/>
              </a:defRPr>
            </a:pPr>
            <a:r>
              <a:t>Fluctuating demand and station imbalance motivate our Find / Return modes.</a:t>
            </a:r>
          </a:p>
        </p:txBody>
      </p:sp>
      <p:sp>
        <p:nvSpPr>
          <p:cNvPr id="34" name="Rounded Rectangle 10"/>
          <p:cNvSpPr/>
          <p:nvPr>
            <p:custDataLst>
              <p:tags r:id="rId6"/>
            </p:custDataLst>
          </p:nvPr>
        </p:nvSpPr>
        <p:spPr>
          <a:xfrm>
            <a:off x="5161915" y="4270375"/>
            <a:ext cx="6551295" cy="2016760"/>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1"/>
          <p:cNvSpPr txBox="1"/>
          <p:nvPr>
            <p:custDataLst>
              <p:tags r:id="rId7"/>
            </p:custDataLst>
          </p:nvPr>
        </p:nvSpPr>
        <p:spPr>
          <a:xfrm>
            <a:off x="5277485" y="4457700"/>
            <a:ext cx="1821180" cy="250825"/>
          </a:xfrm>
          <a:prstGeom prst="rect">
            <a:avLst/>
          </a:prstGeom>
          <a:noFill/>
        </p:spPr>
        <p:txBody>
          <a:bodyPr wrap="square" lIns="54864" tIns="36576">
            <a:spAutoFit/>
          </a:bodyPr>
          <a:lstStyle/>
          <a:p>
            <a:pPr>
              <a:spcAft>
                <a:spcPts val="700"/>
              </a:spcAft>
              <a:defRPr sz="1100" b="1">
                <a:solidFill>
                  <a:srgbClr val="16955D"/>
                </a:solidFill>
                <a:latin typeface="Aptos"/>
              </a:defRPr>
            </a:pPr>
            <a:r>
              <a:t>2022  ·  PHD THESIS</a:t>
            </a:r>
          </a:p>
        </p:txBody>
      </p:sp>
      <p:sp>
        <p:nvSpPr>
          <p:cNvPr id="36" name="TextBox 12"/>
          <p:cNvSpPr txBox="1"/>
          <p:nvPr>
            <p:custDataLst>
              <p:tags r:id="rId8"/>
            </p:custDataLst>
          </p:nvPr>
        </p:nvSpPr>
        <p:spPr>
          <a:xfrm>
            <a:off x="5277485" y="4959985"/>
            <a:ext cx="2091690" cy="358775"/>
          </a:xfrm>
          <a:prstGeom prst="rect">
            <a:avLst/>
          </a:prstGeom>
          <a:noFill/>
        </p:spPr>
        <p:txBody>
          <a:bodyPr wrap="square" lIns="54864" tIns="36576">
            <a:spAutoFit/>
          </a:bodyPr>
          <a:lstStyle/>
          <a:p>
            <a:pPr>
              <a:spcAft>
                <a:spcPts val="700"/>
              </a:spcAft>
              <a:defRPr sz="1800" b="1">
                <a:solidFill>
                  <a:srgbClr val="091430"/>
                </a:solidFill>
                <a:latin typeface="Aptos"/>
              </a:defRPr>
            </a:pPr>
            <a:r>
              <a:t>James Todd</a:t>
            </a:r>
          </a:p>
        </p:txBody>
      </p:sp>
      <p:sp>
        <p:nvSpPr>
          <p:cNvPr id="37" name="TextBox 13"/>
          <p:cNvSpPr txBox="1"/>
          <p:nvPr>
            <p:custDataLst>
              <p:tags r:id="rId9"/>
            </p:custDataLst>
          </p:nvPr>
        </p:nvSpPr>
        <p:spPr>
          <a:xfrm>
            <a:off x="6882130" y="4377690"/>
            <a:ext cx="4982210" cy="604520"/>
          </a:xfrm>
          <a:prstGeom prst="rect">
            <a:avLst/>
          </a:prstGeom>
          <a:noFill/>
        </p:spPr>
        <p:txBody>
          <a:bodyPr wrap="square" lIns="54864" tIns="36576">
            <a:spAutoFit/>
          </a:bodyPr>
          <a:lstStyle/>
          <a:p>
            <a:pPr>
              <a:spcAft>
                <a:spcPts val="700"/>
              </a:spcAft>
              <a:defRPr sz="1700" b="1">
                <a:solidFill>
                  <a:srgbClr val="091430"/>
                </a:solidFill>
                <a:latin typeface="Aptos"/>
              </a:defRPr>
            </a:pPr>
            <a:r>
              <a:t>Bicycle Sharing Systems: Fast and Slow Urban Mobility Dynamics</a:t>
            </a:r>
          </a:p>
        </p:txBody>
      </p:sp>
      <p:sp>
        <p:nvSpPr>
          <p:cNvPr id="38" name="TextBox 14"/>
          <p:cNvSpPr txBox="1"/>
          <p:nvPr>
            <p:custDataLst>
              <p:tags r:id="rId10"/>
            </p:custDataLst>
          </p:nvPr>
        </p:nvSpPr>
        <p:spPr>
          <a:xfrm>
            <a:off x="6882130" y="5048250"/>
            <a:ext cx="4618355" cy="512445"/>
          </a:xfrm>
          <a:prstGeom prst="rect">
            <a:avLst/>
          </a:prstGeom>
          <a:noFill/>
        </p:spPr>
        <p:txBody>
          <a:bodyPr wrap="square" lIns="54864" tIns="36576">
            <a:spAutoFit/>
          </a:bodyPr>
          <a:lstStyle/>
          <a:p>
            <a:pPr>
              <a:spcAft>
                <a:spcPts val="700"/>
              </a:spcAft>
              <a:defRPr sz="1400" b="0">
                <a:solidFill>
                  <a:srgbClr val="091430"/>
                </a:solidFill>
                <a:latin typeface="Aptos"/>
              </a:defRPr>
            </a:pPr>
            <a:r>
              <a:t>Bike sharing varies across time scales: motivation for our Daily Flow replay.</a:t>
            </a:r>
          </a:p>
        </p:txBody>
      </p:sp>
      <p:sp>
        <p:nvSpPr>
          <p:cNvPr id="39" name="文本框 38"/>
          <p:cNvSpPr txBox="1"/>
          <p:nvPr/>
        </p:nvSpPr>
        <p:spPr>
          <a:xfrm>
            <a:off x="5277485" y="5607685"/>
            <a:ext cx="6324600" cy="583565"/>
          </a:xfrm>
          <a:prstGeom prst="rect">
            <a:avLst/>
          </a:prstGeom>
        </p:spPr>
        <p:txBody>
          <a:bodyPr wrap="square">
            <a:spAutoFit/>
          </a:bodyPr>
          <a:lstStyle/>
          <a:p>
            <a:r>
              <a:rPr lang="en-US" altLang="zh-CN" sz="1600">
                <a:hlinkClick r:id="rId15"/>
              </a:rPr>
              <a:t>Bicycle Sharing Systems: Fast and Slow Urban Mobility Dynamics - UCL Discovery</a:t>
            </a:r>
          </a:p>
        </p:txBody>
      </p:sp>
      <p:sp>
        <p:nvSpPr>
          <p:cNvPr id="46" name="文本框 45"/>
          <p:cNvSpPr txBox="1"/>
          <p:nvPr/>
        </p:nvSpPr>
        <p:spPr>
          <a:xfrm>
            <a:off x="5331460" y="3440430"/>
            <a:ext cx="6270625" cy="583565"/>
          </a:xfrm>
          <a:prstGeom prst="rect">
            <a:avLst/>
          </a:prstGeom>
        </p:spPr>
        <p:txBody>
          <a:bodyPr wrap="square">
            <a:spAutoFit/>
          </a:bodyPr>
          <a:lstStyle/>
          <a:p>
            <a:r>
              <a:rPr lang="en-US" altLang="zh-CN" sz="1600">
                <a:hlinkClick r:id="rId16"/>
              </a:rPr>
              <a:t>Analysis of Demand Dynamics and Inter-modal Connectivity in London Bicycle Sharing System - UCL Discovery</a:t>
            </a:r>
          </a:p>
        </p:txBody>
      </p:sp>
      <p:sp>
        <p:nvSpPr>
          <p:cNvPr id="47" name="Rounded Rectangle 5"/>
          <p:cNvSpPr/>
          <p:nvPr>
            <p:custDataLst>
              <p:tags r:id="rId11"/>
            </p:custDataLst>
          </p:nvPr>
        </p:nvSpPr>
        <p:spPr>
          <a:xfrm>
            <a:off x="650875" y="1917700"/>
            <a:ext cx="4154170" cy="1614805"/>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indent="0">
              <a:lnSpc>
                <a:spcPct val="100000"/>
              </a:lnSpc>
              <a:buFont typeface="Arial" panose="020B0604020202020204" pitchFamily="34" charset="0"/>
            </a:pPr>
            <a:endParaRPr/>
          </a:p>
        </p:txBody>
      </p:sp>
      <p:sp>
        <p:nvSpPr>
          <p:cNvPr id="48" name="文本框 47"/>
          <p:cNvSpPr txBox="1"/>
          <p:nvPr/>
        </p:nvSpPr>
        <p:spPr>
          <a:xfrm>
            <a:off x="838200" y="3006408"/>
            <a:ext cx="5080000" cy="337185"/>
          </a:xfrm>
          <a:prstGeom prst="rect">
            <a:avLst/>
          </a:prstGeom>
        </p:spPr>
        <p:txBody>
          <a:bodyPr>
            <a:spAutoFit/>
          </a:bodyPr>
          <a:lstStyle/>
          <a:p>
            <a:r>
              <a:rPr lang="en-US" altLang="zh-CN" sz="1600">
                <a:hlinkClick r:id="rId17"/>
              </a:rPr>
              <a:t>Mayor's Transport Strategy</a:t>
            </a:r>
          </a:p>
        </p:txBody>
      </p:sp>
      <p:sp>
        <p:nvSpPr>
          <p:cNvPr id="49" name="文本框 48"/>
          <p:cNvSpPr txBox="1"/>
          <p:nvPr/>
        </p:nvSpPr>
        <p:spPr>
          <a:xfrm>
            <a:off x="838200" y="2143760"/>
            <a:ext cx="4055745" cy="645160"/>
          </a:xfrm>
          <a:prstGeom prst="rect">
            <a:avLst/>
          </a:prstGeom>
          <a:noFill/>
        </p:spPr>
        <p:txBody>
          <a:bodyPr wrap="square" rtlCol="0" anchor="t">
            <a:spAutoFit/>
          </a:bodyPr>
          <a:lstStyle/>
          <a:p>
            <a:pPr indent="0">
              <a:lnSpc>
                <a:spcPct val="100000"/>
              </a:lnSpc>
              <a:buFont typeface="Arial" panose="020B0604020202020204" pitchFamily="34" charset="0"/>
            </a:pPr>
            <a:r>
              <a:rPr>
                <a:solidFill>
                  <a:srgbClr val="091430"/>
                </a:solidFill>
                <a:latin typeface="Aptos"/>
                <a:sym typeface="+mn-ea"/>
              </a:rPr>
              <a:t>TfL aims for 80% of trips by active or public transport modes by 2041.</a:t>
            </a:r>
            <a:endParaRPr lang="zh-CN" altLang="en-US">
              <a:solidFill>
                <a:srgbClr val="091430"/>
              </a:solidFill>
              <a:latin typeface="Apto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sz="3300">
                <a:sym typeface="+mn-ea"/>
              </a:rPr>
              <a:t>Storyboard: from uncertainty to informed choice</a:t>
            </a:r>
            <a:endParaRPr lang="en-US" sz="3300" b="1">
              <a:solidFill>
                <a:srgbClr val="04091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84835" y="1148715"/>
            <a:ext cx="11128375" cy="76200"/>
          </a:xfrm>
          <a:prstGeom prst="rect">
            <a:avLst/>
          </a:prstGeom>
          <a:solidFill>
            <a:srgbClr val="0BE4F7"/>
          </a:solidFill>
          <a:ln w="0">
            <a:noFill/>
          </a:ln>
        </p:spPr>
      </p:sp>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3</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3192"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pic>
        <p:nvPicPr>
          <p:cNvPr id="6" name="Picture 5" descr="Storyboard_1(3).png"/>
          <p:cNvPicPr>
            <a:picLocks noChangeAspect="1"/>
          </p:cNvPicPr>
          <p:nvPr>
            <p:custDataLst>
              <p:tags r:id="rId1"/>
            </p:custDataLst>
          </p:nvPr>
        </p:nvPicPr>
        <p:blipFill>
          <a:blip r:embed="rId9"/>
          <a:stretch>
            <a:fillRect/>
          </a:stretch>
        </p:blipFill>
        <p:spPr>
          <a:xfrm>
            <a:off x="770001" y="1861312"/>
            <a:ext cx="4773168" cy="3182112"/>
          </a:xfrm>
          <a:prstGeom prst="rect">
            <a:avLst/>
          </a:prstGeom>
        </p:spPr>
      </p:pic>
      <p:pic>
        <p:nvPicPr>
          <p:cNvPr id="7" name="Picture 6" descr="Storyboard_2(2).png"/>
          <p:cNvPicPr>
            <a:picLocks noChangeAspect="1"/>
          </p:cNvPicPr>
          <p:nvPr>
            <p:custDataLst>
              <p:tags r:id="rId2"/>
            </p:custDataLst>
          </p:nvPr>
        </p:nvPicPr>
        <p:blipFill>
          <a:blip r:embed="rId10"/>
          <a:stretch>
            <a:fillRect/>
          </a:stretch>
        </p:blipFill>
        <p:spPr>
          <a:xfrm>
            <a:off x="6244590" y="1927860"/>
            <a:ext cx="5175250" cy="3009265"/>
          </a:xfrm>
          <a:prstGeom prst="rect">
            <a:avLst/>
          </a:prstGeom>
        </p:spPr>
      </p:pic>
      <p:sp>
        <p:nvSpPr>
          <p:cNvPr id="8" name="TextBox 7"/>
          <p:cNvSpPr txBox="1"/>
          <p:nvPr>
            <p:custDataLst>
              <p:tags r:id="rId3"/>
            </p:custDataLst>
          </p:nvPr>
        </p:nvSpPr>
        <p:spPr>
          <a:xfrm>
            <a:off x="715645" y="5141468"/>
            <a:ext cx="4992624" cy="358775"/>
          </a:xfrm>
          <a:prstGeom prst="rect">
            <a:avLst/>
          </a:prstGeom>
          <a:noFill/>
        </p:spPr>
        <p:txBody>
          <a:bodyPr wrap="square" lIns="54864" tIns="36576">
            <a:spAutoFit/>
          </a:bodyPr>
          <a:lstStyle/>
          <a:p>
            <a:pPr>
              <a:spcAft>
                <a:spcPts val="700"/>
              </a:spcAft>
              <a:defRPr sz="1600" b="1">
                <a:solidFill>
                  <a:srgbClr val="091430"/>
                </a:solidFill>
                <a:latin typeface="Aptos"/>
              </a:defRPr>
            </a:pPr>
            <a:r>
              <a:rPr sz="1800"/>
              <a:t>Scenario A: finding a bike after a lecture</a:t>
            </a:r>
          </a:p>
        </p:txBody>
      </p:sp>
      <p:sp>
        <p:nvSpPr>
          <p:cNvPr id="4" name="TextBox 8"/>
          <p:cNvSpPr txBox="1"/>
          <p:nvPr>
            <p:custDataLst>
              <p:tags r:id="rId4"/>
            </p:custDataLst>
          </p:nvPr>
        </p:nvSpPr>
        <p:spPr>
          <a:xfrm>
            <a:off x="6245225" y="5141595"/>
            <a:ext cx="5375275" cy="358775"/>
          </a:xfrm>
          <a:prstGeom prst="rect">
            <a:avLst/>
          </a:prstGeom>
          <a:noFill/>
        </p:spPr>
        <p:txBody>
          <a:bodyPr wrap="square" lIns="54864" tIns="36576">
            <a:spAutoFit/>
          </a:bodyPr>
          <a:lstStyle/>
          <a:p>
            <a:pPr>
              <a:spcAft>
                <a:spcPts val="700"/>
              </a:spcAft>
              <a:defRPr sz="1600" b="1">
                <a:solidFill>
                  <a:srgbClr val="091430"/>
                </a:solidFill>
                <a:latin typeface="Aptos"/>
              </a:defRPr>
            </a:pPr>
            <a:r>
              <a:rPr sz="1800"/>
              <a:t>Scenario B: avoiding an unreliable return dock</a:t>
            </a:r>
          </a:p>
        </p:txBody>
      </p:sp>
      <p:sp>
        <p:nvSpPr>
          <p:cNvPr id="10" name="TextBox 9"/>
          <p:cNvSpPr txBox="1"/>
          <p:nvPr>
            <p:custDataLst>
              <p:tags r:id="rId5"/>
            </p:custDataLst>
          </p:nvPr>
        </p:nvSpPr>
        <p:spPr>
          <a:xfrm>
            <a:off x="715645" y="5543804"/>
            <a:ext cx="5010912" cy="297180"/>
          </a:xfrm>
          <a:prstGeom prst="rect">
            <a:avLst/>
          </a:prstGeom>
          <a:noFill/>
        </p:spPr>
        <p:txBody>
          <a:bodyPr wrap="square" lIns="54864" tIns="36576">
            <a:spAutoFit/>
          </a:bodyPr>
          <a:lstStyle/>
          <a:p>
            <a:pPr>
              <a:spcAft>
                <a:spcPts val="700"/>
              </a:spcAft>
              <a:defRPr sz="1300" b="0">
                <a:solidFill>
                  <a:srgbClr val="091430"/>
                </a:solidFill>
                <a:latin typeface="Aptos"/>
              </a:defRPr>
            </a:pPr>
            <a:r>
              <a:rPr sz="1400"/>
              <a:t>Discover → inspect station → check safety → borrow → return</a:t>
            </a:r>
          </a:p>
        </p:txBody>
      </p:sp>
      <p:sp>
        <p:nvSpPr>
          <p:cNvPr id="5" name="TextBox 10"/>
          <p:cNvSpPr txBox="1"/>
          <p:nvPr>
            <p:custDataLst>
              <p:tags r:id="rId6"/>
            </p:custDataLst>
          </p:nvPr>
        </p:nvSpPr>
        <p:spPr>
          <a:xfrm>
            <a:off x="6296660" y="5543550"/>
            <a:ext cx="5467985" cy="297180"/>
          </a:xfrm>
          <a:prstGeom prst="rect">
            <a:avLst/>
          </a:prstGeom>
          <a:noFill/>
        </p:spPr>
        <p:txBody>
          <a:bodyPr wrap="square" lIns="54864" tIns="36576">
            <a:spAutoFit/>
          </a:bodyPr>
          <a:lstStyle/>
          <a:p>
            <a:pPr>
              <a:spcAft>
                <a:spcPts val="700"/>
              </a:spcAft>
              <a:defRPr sz="1300" b="0">
                <a:solidFill>
                  <a:srgbClr val="091430"/>
                </a:solidFill>
                <a:latin typeface="Aptos"/>
              </a:defRPr>
            </a:pPr>
            <a:r>
              <a:rPr sz="1400"/>
              <a:t>Review availability → compare stations → choose return option</a:t>
            </a:r>
          </a:p>
        </p:txBody>
      </p:sp>
      <p:sp>
        <p:nvSpPr>
          <p:cNvPr id="16" name="Rectangle 13">
            <a:extLst>
              <a:ext uri="{FF2B5EF4-FFF2-40B4-BE49-F238E27FC236}">
                <a16:creationId xmlns:a16="http://schemas.microsoft.com/office/drawing/2014/main" id="{D80EBD21-A607-619E-2228-570246334CBA}"/>
              </a:ext>
            </a:extLst>
          </p:cNvPr>
          <p:cNvSpPr/>
          <p:nvPr/>
        </p:nvSpPr>
        <p:spPr>
          <a:xfrm>
            <a:off x="838200"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4</a:t>
            </a:r>
          </a:p>
        </p:txBody>
      </p:sp>
      <p:sp>
        <p:nvSpPr>
          <p:cNvPr id="5" name="An empty station delays a journey. A full station makes returning"/>
          <p:cNvSpPr>
            <a:spLocks noGrp="1"/>
          </p:cNvSpPr>
          <p:nvPr/>
        </p:nvSpPr>
        <p:spPr>
          <a:xfrm>
            <a:off x="584835" y="2078355"/>
            <a:ext cx="6345555"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Help users quickly locate available bikes and empty docking spaces nearby, reducing unnecessary walking and waiting.</a:t>
            </a:r>
          </a:p>
        </p:txBody>
      </p:sp>
      <p:sp>
        <p:nvSpPr>
          <p:cNvPr id="6" name="Our map will help users check a station before leaving and compar"/>
          <p:cNvSpPr>
            <a:spLocks noGrp="1"/>
          </p:cNvSpPr>
          <p:nvPr/>
        </p:nvSpPr>
        <p:spPr>
          <a:xfrm>
            <a:off x="584835" y="3865245"/>
            <a:ext cx="648081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Combine live availability with historical trends to help users plan journeys and make informed decisions.</a:t>
            </a:r>
          </a:p>
        </p:txBody>
      </p:sp>
      <p:pic>
        <p:nvPicPr>
          <p:cNvPr id="10" name="图片 9"/>
          <p:cNvPicPr/>
          <p:nvPr/>
        </p:nvPicPr>
        <p:blipFill>
          <a:blip r:embed="rId6"/>
          <a:stretch>
            <a:fillRect/>
          </a:stretch>
        </p:blipFill>
        <p:spPr>
          <a:xfrm>
            <a:off x="7291070" y="2412365"/>
            <a:ext cx="4422140" cy="3313430"/>
          </a:xfrm>
          <a:prstGeom prst="rect">
            <a:avLst/>
          </a:prstGeom>
        </p:spPr>
      </p:pic>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a:solidFill>
                  <a:srgbClr val="04091D"/>
                </a:solidFill>
                <a:latin typeface="Arial" panose="020B0604020202020204"/>
                <a:ea typeface="Arial" panose="020B0604020202020204"/>
                <a:cs typeface="Arial" panose="020B0604020202020204"/>
                <a:sym typeface="+mn-ea"/>
              </a:rPr>
              <a:t>2. </a:t>
            </a:r>
            <a:r>
              <a:rPr>
                <a:solidFill>
                  <a:srgbClr val="04091D"/>
                </a:solidFill>
                <a:latin typeface="Arial" panose="020B0604020202020204"/>
                <a:ea typeface="Arial" panose="020B0604020202020204"/>
                <a:cs typeface="Arial" panose="020B0604020202020204"/>
                <a:sym typeface="+mn-ea"/>
              </a:rPr>
              <a:t>What problem are we trying to solve?</a:t>
            </a:r>
            <a:endParaRPr lang="en-US" sz="3300" b="1">
              <a:solidFill>
                <a:srgbClr val="04091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84835" y="1148715"/>
            <a:ext cx="11128375" cy="76200"/>
          </a:xfrm>
          <a:prstGeom prst="rect">
            <a:avLst/>
          </a:prstGeom>
          <a:solidFill>
            <a:srgbClr val="0BE4F7"/>
          </a:solidFill>
          <a:ln w="0">
            <a:noFill/>
          </a:ln>
        </p:spPr>
      </p:sp>
      <p:sp>
        <p:nvSpPr>
          <p:cNvPr id="17" name="TextBox 14"/>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
        <p:nvSpPr>
          <p:cNvPr id="23" name="Rectangle 2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93192" y="6702552"/>
            <a:ext cx="2695302"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ur map will help users check a station before leaving and compar"/>
          <p:cNvSpPr>
            <a:spLocks noGrp="1"/>
          </p:cNvSpPr>
          <p:nvPr/>
        </p:nvSpPr>
        <p:spPr>
          <a:xfrm>
            <a:off x="584835" y="5329555"/>
            <a:ext cx="6345555"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Visualise historical cycling collisions to help users understand potential safety concerns around docking stations.</a:t>
            </a:r>
          </a:p>
        </p:txBody>
      </p:sp>
      <p:grpSp>
        <p:nvGrpSpPr>
          <p:cNvPr id="30" name="组合 29"/>
          <p:cNvGrpSpPr/>
          <p:nvPr/>
        </p:nvGrpSpPr>
        <p:grpSpPr>
          <a:xfrm>
            <a:off x="584835" y="1505585"/>
            <a:ext cx="2313940" cy="523240"/>
            <a:chOff x="827" y="3198"/>
            <a:chExt cx="3644" cy="824"/>
          </a:xfrm>
        </p:grpSpPr>
        <p:pic>
          <p:nvPicPr>
            <p:cNvPr id="21" name="图片 20" descr="455e8ecee1c5b47b0c6a1e2198fbb8fe"/>
            <p:cNvPicPr>
              <a:picLocks noChangeAspect="1"/>
            </p:cNvPicPr>
            <p:nvPr>
              <p:custDataLst>
                <p:tags r:id="rId3"/>
              </p:custDataLst>
            </p:nvPr>
          </p:nvPicPr>
          <p:blipFill>
            <a:blip>
              <a:extLst>
                <a:ext uri="{96DAC541-7B7A-43D3-8B79-37D633B846F1}">
                  <asvg:svgBlip xmlns:asvg="http://schemas.microsoft.com/office/drawing/2016/SVG/main" r:embed="rId7"/>
                </a:ext>
              </a:extLst>
            </a:blip>
            <a:stretch>
              <a:fillRect/>
            </a:stretch>
          </p:blipFill>
          <p:spPr>
            <a:xfrm>
              <a:off x="827" y="3198"/>
              <a:ext cx="599" cy="599"/>
            </a:xfrm>
            <a:prstGeom prst="rect">
              <a:avLst/>
            </a:prstGeom>
          </p:spPr>
        </p:pic>
        <p:sp>
          <p:nvSpPr>
            <p:cNvPr id="22" name="An empty station delays a journey. A full station makes returning"/>
            <p:cNvSpPr>
              <a:spLocks noGrp="1"/>
            </p:cNvSpPr>
            <p:nvPr/>
          </p:nvSpPr>
          <p:spPr>
            <a:xfrm>
              <a:off x="1715" y="3198"/>
              <a:ext cx="2756"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Convenience</a:t>
              </a:r>
            </a:p>
          </p:txBody>
        </p:sp>
      </p:grpSp>
      <p:grpSp>
        <p:nvGrpSpPr>
          <p:cNvPr id="31" name="组合 30"/>
          <p:cNvGrpSpPr/>
          <p:nvPr/>
        </p:nvGrpSpPr>
        <p:grpSpPr>
          <a:xfrm>
            <a:off x="584835" y="3261995"/>
            <a:ext cx="2382520" cy="602615"/>
            <a:chOff x="719" y="5627"/>
            <a:chExt cx="3752" cy="949"/>
          </a:xfrm>
        </p:grpSpPr>
        <p:sp>
          <p:nvSpPr>
            <p:cNvPr id="26" name="An empty station delays a journey. A full station makes returning"/>
            <p:cNvSpPr>
              <a:spLocks noGrp="1"/>
            </p:cNvSpPr>
            <p:nvPr/>
          </p:nvSpPr>
          <p:spPr>
            <a:xfrm>
              <a:off x="1715" y="5752"/>
              <a:ext cx="2756"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Reliability</a:t>
              </a:r>
            </a:p>
          </p:txBody>
        </p:sp>
        <p:pic>
          <p:nvPicPr>
            <p:cNvPr id="28" name="图片 27" descr="ee9130eebf15813ac451b1eddbeec86b"/>
            <p:cNvPicPr>
              <a:picLocks noChangeAspect="1"/>
            </p:cNvPicPr>
            <p:nvPr>
              <p:custDataLst>
                <p:tags r:id="rId2"/>
              </p:custDataLst>
            </p:nvPr>
          </p:nvPicPr>
          <p:blipFill>
            <a:blip>
              <a:extLst>
                <a:ext uri="{96DAC541-7B7A-43D3-8B79-37D633B846F1}">
                  <asvg:svgBlip xmlns:asvg="http://schemas.microsoft.com/office/drawing/2016/SVG/main" r:embed="rId8"/>
                </a:ext>
              </a:extLst>
            </a:blip>
            <a:stretch>
              <a:fillRect/>
            </a:stretch>
          </p:blipFill>
          <p:spPr>
            <a:xfrm>
              <a:off x="719" y="5627"/>
              <a:ext cx="707" cy="707"/>
            </a:xfrm>
            <a:prstGeom prst="rect">
              <a:avLst/>
            </a:prstGeom>
          </p:spPr>
        </p:pic>
      </p:grpSp>
      <p:grpSp>
        <p:nvGrpSpPr>
          <p:cNvPr id="32" name="组合 31"/>
          <p:cNvGrpSpPr/>
          <p:nvPr/>
        </p:nvGrpSpPr>
        <p:grpSpPr>
          <a:xfrm>
            <a:off x="584835" y="4827270"/>
            <a:ext cx="3942080" cy="523240"/>
            <a:chOff x="827" y="7779"/>
            <a:chExt cx="6208" cy="824"/>
          </a:xfrm>
        </p:grpSpPr>
        <p:pic>
          <p:nvPicPr>
            <p:cNvPr id="27" name="图片 26" descr="8a8264e2d8d15c3003cee52a7a3de0bd"/>
            <p:cNvPicPr>
              <a:picLocks noChangeAspect="1"/>
            </p:cNvPicPr>
            <p:nvPr>
              <p:custDataLst>
                <p:tags r:id="rId1"/>
              </p:custDataLst>
            </p:nvPr>
          </p:nvPicPr>
          <p:blipFill>
            <a:blip>
              <a:extLst>
                <a:ext uri="{96DAC541-7B7A-43D3-8B79-37D633B846F1}">
                  <asvg:svgBlip xmlns:asvg="http://schemas.microsoft.com/office/drawing/2016/SVG/main" r:embed="rId9"/>
                </a:ext>
              </a:extLst>
            </a:blip>
            <a:stretch>
              <a:fillRect/>
            </a:stretch>
          </p:blipFill>
          <p:spPr>
            <a:xfrm>
              <a:off x="827" y="7779"/>
              <a:ext cx="559" cy="559"/>
            </a:xfrm>
            <a:prstGeom prst="rect">
              <a:avLst/>
            </a:prstGeom>
          </p:spPr>
        </p:pic>
        <p:sp>
          <p:nvSpPr>
            <p:cNvPr id="29" name="An empty station delays a journey. A full station makes returning"/>
            <p:cNvSpPr>
              <a:spLocks noGrp="1"/>
            </p:cNvSpPr>
            <p:nvPr/>
          </p:nvSpPr>
          <p:spPr>
            <a:xfrm>
              <a:off x="1715" y="7779"/>
              <a:ext cx="5321"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Safety Awareness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dirty="0">
                <a:solidFill>
                  <a:srgbClr val="727580"/>
                </a:solidFill>
                <a:latin typeface="Arial" panose="020B0604020202020204"/>
                <a:ea typeface="Arial" panose="020B0604020202020204"/>
                <a:cs typeface="Arial" panose="020B0604020202020204"/>
              </a:rPr>
              <a:t>0</a:t>
            </a:r>
            <a:r>
              <a:rPr lang="en-US" sz="1275" b="0" dirty="0">
                <a:solidFill>
                  <a:srgbClr val="727580"/>
                </a:solidFill>
                <a:latin typeface="Arial" panose="020B0604020202020204"/>
                <a:ea typeface="Arial" panose="020B0604020202020204"/>
                <a:cs typeface="Arial" panose="020B0604020202020204"/>
              </a:rPr>
              <a:t>5</a:t>
            </a:r>
          </a:p>
        </p:txBody>
      </p:sp>
      <p:grpSp>
        <p:nvGrpSpPr>
          <p:cNvPr id="27" name="组合 26"/>
          <p:cNvGrpSpPr/>
          <p:nvPr/>
        </p:nvGrpSpPr>
        <p:grpSpPr>
          <a:xfrm>
            <a:off x="668020" y="1404620"/>
            <a:ext cx="2762250" cy="628015"/>
            <a:chOff x="1320" y="2655"/>
            <a:chExt cx="4350" cy="989"/>
          </a:xfrm>
        </p:grpSpPr>
        <p:sp>
          <p:nvSpPr>
            <p:cNvPr id="4" name="Home"/>
            <p:cNvSpPr>
              <a:spLocks noGrp="1"/>
            </p:cNvSpPr>
            <p:nvPr/>
          </p:nvSpPr>
          <p:spPr>
            <a:xfrm>
              <a:off x="1320" y="2655"/>
              <a:ext cx="300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Home</a:t>
              </a:r>
            </a:p>
          </p:txBody>
        </p:sp>
        <p:sp>
          <p:nvSpPr>
            <p:cNvPr id="7" name="Question and findings"/>
            <p:cNvSpPr>
              <a:spLocks noGrp="1"/>
            </p:cNvSpPr>
            <p:nvPr/>
          </p:nvSpPr>
          <p:spPr>
            <a:xfrm>
              <a:off x="1320" y="3210"/>
              <a:ext cx="435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lang="en-US" sz="1575" b="0">
                  <a:solidFill>
                    <a:srgbClr val="727580"/>
                  </a:solidFill>
                  <a:latin typeface="Arial" panose="020B0604020202020204"/>
                  <a:ea typeface="Arial" panose="020B0604020202020204"/>
                  <a:cs typeface="Arial" panose="020B0604020202020204"/>
                </a:rPr>
                <a:t>Log in and Register</a:t>
              </a:r>
            </a:p>
          </p:txBody>
        </p:sp>
      </p:grpSp>
      <p:grpSp>
        <p:nvGrpSpPr>
          <p:cNvPr id="28" name="组合 27"/>
          <p:cNvGrpSpPr/>
          <p:nvPr/>
        </p:nvGrpSpPr>
        <p:grpSpPr>
          <a:xfrm>
            <a:off x="2999105" y="1410335"/>
            <a:ext cx="3619500" cy="628015"/>
            <a:chOff x="6405" y="2655"/>
            <a:chExt cx="5700" cy="989"/>
          </a:xfrm>
        </p:grpSpPr>
        <p:sp>
          <p:nvSpPr>
            <p:cNvPr id="5" name="Live map"/>
            <p:cNvSpPr>
              <a:spLocks noGrp="1"/>
            </p:cNvSpPr>
            <p:nvPr/>
          </p:nvSpPr>
          <p:spPr>
            <a:xfrm>
              <a:off x="6405" y="2655"/>
              <a:ext cx="375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Live </a:t>
              </a:r>
              <a:r>
                <a:rPr lang="en-US" sz="1875" b="1">
                  <a:solidFill>
                    <a:srgbClr val="04091D"/>
                  </a:solidFill>
                  <a:latin typeface="Arial" panose="020B0604020202020204"/>
                  <a:ea typeface="Arial" panose="020B0604020202020204"/>
                  <a:cs typeface="Arial" panose="020B0604020202020204"/>
                </a:rPr>
                <a:t>M</a:t>
              </a:r>
              <a:r>
                <a:rPr sz="1875" b="1">
                  <a:solidFill>
                    <a:srgbClr val="04091D"/>
                  </a:solidFill>
                  <a:latin typeface="Arial" panose="020B0604020202020204"/>
                  <a:ea typeface="Arial" panose="020B0604020202020204"/>
                  <a:cs typeface="Arial" panose="020B0604020202020204"/>
                </a:rPr>
                <a:t>ap</a:t>
              </a:r>
            </a:p>
          </p:txBody>
        </p:sp>
        <p:sp>
          <p:nvSpPr>
            <p:cNvPr id="8" name="Availability and historical context"/>
            <p:cNvSpPr>
              <a:spLocks noGrp="1"/>
            </p:cNvSpPr>
            <p:nvPr/>
          </p:nvSpPr>
          <p:spPr>
            <a:xfrm>
              <a:off x="6405" y="3210"/>
              <a:ext cx="570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sz="1575" b="0">
                  <a:solidFill>
                    <a:srgbClr val="727580"/>
                  </a:solidFill>
                  <a:latin typeface="Arial" panose="020B0604020202020204"/>
                  <a:ea typeface="Arial" panose="020B0604020202020204"/>
                  <a:cs typeface="Arial" panose="020B0604020202020204"/>
                </a:rPr>
                <a:t>Availability and historical context</a:t>
              </a:r>
            </a:p>
          </p:txBody>
        </p:sp>
      </p:grpSp>
      <p:grpSp>
        <p:nvGrpSpPr>
          <p:cNvPr id="29" name="组合 28"/>
          <p:cNvGrpSpPr/>
          <p:nvPr/>
        </p:nvGrpSpPr>
        <p:grpSpPr>
          <a:xfrm>
            <a:off x="9208770" y="1433830"/>
            <a:ext cx="3314700" cy="628015"/>
            <a:chOff x="12660" y="2655"/>
            <a:chExt cx="5220" cy="989"/>
          </a:xfrm>
        </p:grpSpPr>
        <p:sp>
          <p:nvSpPr>
            <p:cNvPr id="6" name="About / Contact"/>
            <p:cNvSpPr>
              <a:spLocks noGrp="1"/>
            </p:cNvSpPr>
            <p:nvPr/>
          </p:nvSpPr>
          <p:spPr>
            <a:xfrm>
              <a:off x="12660" y="2655"/>
              <a:ext cx="522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Contact</a:t>
              </a:r>
              <a:r>
                <a:rPr lang="en-US" sz="1875" b="1">
                  <a:solidFill>
                    <a:srgbClr val="04091D"/>
                  </a:solidFill>
                  <a:latin typeface="Arial" panose="020B0604020202020204"/>
                  <a:ea typeface="Arial" panose="020B0604020202020204"/>
                  <a:cs typeface="Arial" panose="020B0604020202020204"/>
                </a:rPr>
                <a:t> Us</a:t>
              </a:r>
            </a:p>
          </p:txBody>
        </p:sp>
        <p:sp>
          <p:nvSpPr>
            <p:cNvPr id="9" name="Sources, team and email"/>
            <p:cNvSpPr>
              <a:spLocks noGrp="1"/>
            </p:cNvSpPr>
            <p:nvPr/>
          </p:nvSpPr>
          <p:spPr>
            <a:xfrm>
              <a:off x="12660" y="3210"/>
              <a:ext cx="522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sz="1575" b="0">
                  <a:solidFill>
                    <a:srgbClr val="727580"/>
                  </a:solidFill>
                  <a:latin typeface="Arial" panose="020B0604020202020204"/>
                  <a:ea typeface="Arial" panose="020B0604020202020204"/>
                  <a:cs typeface="Arial" panose="020B0604020202020204"/>
                </a:rPr>
                <a:t>Sources, team and email</a:t>
              </a:r>
            </a:p>
          </p:txBody>
        </p:sp>
      </p:grpSp>
      <p:pic>
        <p:nvPicPr>
          <p:cNvPr id="10" name="图片 9"/>
          <p:cNvPicPr>
            <a:picLocks noChangeAspect="1"/>
          </p:cNvPicPr>
          <p:nvPr/>
        </p:nvPicPr>
        <p:blipFill>
          <a:blip r:embed="rId9"/>
          <a:stretch>
            <a:fillRect/>
          </a:stretch>
        </p:blipFill>
        <p:spPr>
          <a:xfrm>
            <a:off x="667385" y="2248535"/>
            <a:ext cx="7218680" cy="3703320"/>
          </a:xfrm>
          <a:prstGeom prst="rect">
            <a:avLst/>
          </a:prstGeom>
        </p:spPr>
      </p:pic>
      <p:sp>
        <p:nvSpPr>
          <p:cNvPr id="11" name="Planned interactions"/>
          <p:cNvSpPr>
            <a:spLocks noGrp="1"/>
          </p:cNvSpPr>
          <p:nvPr/>
        </p:nvSpPr>
        <p:spPr>
          <a:xfrm>
            <a:off x="8314690" y="2236470"/>
            <a:ext cx="3152775" cy="361950"/>
          </a:xfrm>
          <a:prstGeom prst="rect">
            <a:avLst/>
          </a:prstGeom>
          <a:noFill/>
          <a:ln w="0">
            <a:noFill/>
          </a:ln>
        </p:spPr>
        <p:txBody>
          <a:bodyPr wrap="square" lIns="0" tIns="0" rIns="0" bIns="0" anchor="t">
            <a:noAutofit/>
          </a:bodyPr>
          <a:lstStyle>
            <a:defPPr>
              <a:defRPr sz="2025" b="1">
                <a:solidFill>
                  <a:srgbClr val="04091D"/>
                </a:solidFill>
                <a:latin typeface="Arial" panose="020B0604020202020204"/>
                <a:ea typeface="Arial" panose="020B0604020202020204"/>
                <a:cs typeface="Arial" panose="020B0604020202020204"/>
              </a:defRPr>
            </a:defPPr>
          </a:lstStyle>
          <a:p>
            <a:pPr>
              <a:lnSpc>
                <a:spcPct val="110000"/>
              </a:lnSpc>
              <a:buNone/>
              <a:defRPr sz="2025" b="1">
                <a:solidFill>
                  <a:srgbClr val="04091D"/>
                </a:solidFill>
                <a:latin typeface="Arial" panose="020B0604020202020204"/>
                <a:ea typeface="Arial" panose="020B0604020202020204"/>
                <a:cs typeface="Arial" panose="020B0604020202020204"/>
              </a:defRPr>
            </a:pPr>
            <a:r>
              <a:rPr sz="2025" b="1">
                <a:solidFill>
                  <a:srgbClr val="04091D"/>
                </a:solidFill>
                <a:latin typeface="Arial" panose="020B0604020202020204"/>
                <a:ea typeface="Arial" panose="020B0604020202020204"/>
                <a:cs typeface="Arial" panose="020B0604020202020204"/>
              </a:rPr>
              <a:t>Planned interactions</a:t>
            </a:r>
          </a:p>
        </p:txBody>
      </p:sp>
      <p:sp>
        <p:nvSpPr>
          <p:cNvPr id="12" name="Borrow / return"/>
          <p:cNvSpPr>
            <a:spLocks noGrp="1"/>
          </p:cNvSpPr>
          <p:nvPr>
            <p:custDataLst>
              <p:tags r:id="rId1"/>
            </p:custDataLst>
          </p:nvPr>
        </p:nvSpPr>
        <p:spPr>
          <a:xfrm>
            <a:off x="8314690" y="2769870"/>
            <a:ext cx="3152775" cy="285750"/>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lang="en-US" sz="1800" b="1">
                <a:solidFill>
                  <a:srgbClr val="04091D"/>
                </a:solidFill>
                <a:latin typeface="Arial" panose="020B0604020202020204"/>
                <a:ea typeface="Arial" panose="020B0604020202020204"/>
                <a:cs typeface="Arial" panose="020B0604020202020204"/>
              </a:rPr>
              <a:t>Find</a:t>
            </a:r>
            <a:r>
              <a:rPr sz="1800" b="1">
                <a:solidFill>
                  <a:srgbClr val="04091D"/>
                </a:solidFill>
                <a:latin typeface="Arial" panose="020B0604020202020204"/>
                <a:ea typeface="Arial" panose="020B0604020202020204"/>
                <a:cs typeface="Arial" panose="020B0604020202020204"/>
              </a:rPr>
              <a:t> / return</a:t>
            </a:r>
          </a:p>
        </p:txBody>
      </p:sp>
      <p:sp>
        <p:nvSpPr>
          <p:cNvPr id="13" name="Colour markers by bike count or empty docks."/>
          <p:cNvSpPr>
            <a:spLocks noGrp="1"/>
          </p:cNvSpPr>
          <p:nvPr>
            <p:custDataLst>
              <p:tags r:id="rId2"/>
            </p:custDataLst>
          </p:nvPr>
        </p:nvSpPr>
        <p:spPr>
          <a:xfrm>
            <a:off x="8314690" y="3122295"/>
            <a:ext cx="3152775" cy="619125"/>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Colour markers by bike count</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or empty docks.</a:t>
            </a:r>
          </a:p>
        </p:txBody>
      </p:sp>
      <p:sp>
        <p:nvSpPr>
          <p:cNvPr id="14" name="Station details"/>
          <p:cNvSpPr>
            <a:spLocks noGrp="1"/>
          </p:cNvSpPr>
          <p:nvPr>
            <p:custDataLst>
              <p:tags r:id="rId3"/>
            </p:custDataLst>
          </p:nvPr>
        </p:nvSpPr>
        <p:spPr>
          <a:xfrm>
            <a:off x="8314690" y="3912870"/>
            <a:ext cx="3152775" cy="295275"/>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sz="1800" b="1">
                <a:solidFill>
                  <a:srgbClr val="04091D"/>
                </a:solidFill>
                <a:latin typeface="Arial" panose="020B0604020202020204"/>
                <a:ea typeface="Arial" panose="020B0604020202020204"/>
                <a:cs typeface="Arial" panose="020B0604020202020204"/>
              </a:rPr>
              <a:t>Station details</a:t>
            </a:r>
          </a:p>
        </p:txBody>
      </p:sp>
      <p:sp>
        <p:nvSpPr>
          <p:cNvPr id="15" name="Click for standard bikes, e-bikes and a 24-hour history chart."/>
          <p:cNvSpPr>
            <a:spLocks noGrp="1"/>
          </p:cNvSpPr>
          <p:nvPr>
            <p:custDataLst>
              <p:tags r:id="rId4"/>
            </p:custDataLst>
          </p:nvPr>
        </p:nvSpPr>
        <p:spPr>
          <a:xfrm>
            <a:off x="8314690" y="4265295"/>
            <a:ext cx="3152775" cy="6286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Click for standard bikes, e-bikes</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and a 24-hour history chart.</a:t>
            </a:r>
          </a:p>
        </p:txBody>
      </p:sp>
      <p:sp>
        <p:nvSpPr>
          <p:cNvPr id="16" name="Collision filters"/>
          <p:cNvSpPr>
            <a:spLocks noGrp="1"/>
          </p:cNvSpPr>
          <p:nvPr>
            <p:custDataLst>
              <p:tags r:id="rId5"/>
            </p:custDataLst>
          </p:nvPr>
        </p:nvSpPr>
        <p:spPr>
          <a:xfrm>
            <a:off x="8314690" y="5055870"/>
            <a:ext cx="3152775" cy="295275"/>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sz="1800" b="1">
                <a:solidFill>
                  <a:srgbClr val="04091D"/>
                </a:solidFill>
                <a:latin typeface="Arial" panose="020B0604020202020204"/>
                <a:ea typeface="Arial" panose="020B0604020202020204"/>
                <a:cs typeface="Arial" panose="020B0604020202020204"/>
              </a:rPr>
              <a:t>Collision filters</a:t>
            </a:r>
          </a:p>
        </p:txBody>
      </p:sp>
      <p:sp>
        <p:nvSpPr>
          <p:cNvPr id="17" name="Explore historical records by year, severity and time."/>
          <p:cNvSpPr>
            <a:spLocks noGrp="1"/>
          </p:cNvSpPr>
          <p:nvPr>
            <p:custDataLst>
              <p:tags r:id="rId6"/>
            </p:custDataLst>
          </p:nvPr>
        </p:nvSpPr>
        <p:spPr>
          <a:xfrm>
            <a:off x="8314690" y="5408295"/>
            <a:ext cx="3152775" cy="600075"/>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Explore historical records</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by year, severity and time.</a:t>
            </a:r>
          </a:p>
        </p:txBody>
      </p:sp>
      <p:sp>
        <p:nvSpPr>
          <p:cNvPr id="18" name="Map layout reference supplied by the team. Interface and availability "/>
          <p:cNvSpPr>
            <a:spLocks noGrp="1"/>
          </p:cNvSpPr>
          <p:nvPr/>
        </p:nvSpPr>
        <p:spPr>
          <a:xfrm>
            <a:off x="668020" y="6031865"/>
            <a:ext cx="6395720" cy="319405"/>
          </a:xfrm>
          <a:prstGeom prst="rect">
            <a:avLst/>
          </a:prstGeom>
          <a:noFill/>
          <a:ln w="0">
            <a:noFill/>
          </a:ln>
        </p:spPr>
        <p:txBody>
          <a:bodyPr wrap="square" lIns="0" tIns="0" rIns="0" bIns="0" anchor="t">
            <a:noAutofit/>
          </a:bodyPr>
          <a:lstStyle>
            <a:defPPr>
              <a:defRPr sz="1200" b="0">
                <a:solidFill>
                  <a:srgbClr val="727580"/>
                </a:solidFill>
                <a:latin typeface="Arial" panose="020B0604020202020204"/>
                <a:ea typeface="Arial" panose="020B0604020202020204"/>
                <a:cs typeface="Arial" panose="020B0604020202020204"/>
              </a:defRPr>
            </a:defPPr>
          </a:lstStyle>
          <a:p>
            <a:pPr>
              <a:lnSpc>
                <a:spcPct val="110000"/>
              </a:lnSpc>
              <a:buNone/>
              <a:defRPr sz="1200" b="0">
                <a:solidFill>
                  <a:srgbClr val="727580"/>
                </a:solidFill>
                <a:latin typeface="Arial" panose="020B0604020202020204"/>
                <a:ea typeface="Arial" panose="020B0604020202020204"/>
                <a:cs typeface="Arial" panose="020B0604020202020204"/>
              </a:defRPr>
            </a:pPr>
            <a:r>
              <a:rPr sz="1200" b="0">
                <a:solidFill>
                  <a:srgbClr val="727580"/>
                </a:solidFill>
                <a:latin typeface="Arial" panose="020B0604020202020204"/>
                <a:ea typeface="Arial" panose="020B0604020202020204"/>
                <a:cs typeface="Arial" panose="020B0604020202020204"/>
              </a:rPr>
              <a:t>Map layout reference supplied by the team. Interface and availability colours are proposed.</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lang="en-US" dirty="0">
                <a:sym typeface="+mn-ea"/>
              </a:rPr>
              <a:t>3. </a:t>
            </a:r>
            <a:r>
              <a:rPr dirty="0">
                <a:sym typeface="+mn-ea"/>
              </a:rPr>
              <a:t>What will the website look like?</a:t>
            </a:r>
            <a:endParaRPr lang="en-US" sz="3300" b="1" dirty="0">
              <a:solidFill>
                <a:srgbClr val="04091D"/>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0" name="组合 29"/>
          <p:cNvGrpSpPr/>
          <p:nvPr/>
        </p:nvGrpSpPr>
        <p:grpSpPr>
          <a:xfrm>
            <a:off x="6618605" y="1433830"/>
            <a:ext cx="1977390" cy="628015"/>
            <a:chOff x="6405" y="2655"/>
            <a:chExt cx="5700" cy="989"/>
          </a:xfrm>
        </p:grpSpPr>
        <p:sp>
          <p:nvSpPr>
            <p:cNvPr id="31" name="Live map"/>
            <p:cNvSpPr>
              <a:spLocks noGrp="1"/>
            </p:cNvSpPr>
            <p:nvPr/>
          </p:nvSpPr>
          <p:spPr>
            <a:xfrm>
              <a:off x="6405" y="2655"/>
              <a:ext cx="375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lang="en-US" sz="1875" b="1">
                  <a:solidFill>
                    <a:srgbClr val="04091D"/>
                  </a:solidFill>
                  <a:latin typeface="Arial" panose="020B0604020202020204"/>
                  <a:ea typeface="Arial" panose="020B0604020202020204"/>
                  <a:cs typeface="Arial" panose="020B0604020202020204"/>
                </a:rPr>
                <a:t>Daily Flow</a:t>
              </a:r>
            </a:p>
          </p:txBody>
        </p:sp>
        <p:sp>
          <p:nvSpPr>
            <p:cNvPr id="32" name="Availability and historical context"/>
            <p:cNvSpPr>
              <a:spLocks noGrp="1"/>
            </p:cNvSpPr>
            <p:nvPr/>
          </p:nvSpPr>
          <p:spPr>
            <a:xfrm>
              <a:off x="6405" y="3210"/>
              <a:ext cx="570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lang="en-US" altLang="zh-CN" sz="1575" b="0">
                  <a:solidFill>
                    <a:srgbClr val="727580"/>
                  </a:solidFill>
                  <a:latin typeface="Arial" panose="020B0604020202020204"/>
                  <a:ea typeface="Arial" panose="020B0604020202020204"/>
                  <a:cs typeface="Arial" panose="020B0604020202020204"/>
                </a:rPr>
                <a:t>Visualized data</a:t>
              </a:r>
            </a:p>
          </p:txBody>
        </p:sp>
      </p:gr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3"/>
          <p:cNvSpPr/>
          <p:nvPr/>
        </p:nvSpPr>
        <p:spPr>
          <a:xfrm>
            <a:off x="8161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4">
            <a:extLst>
              <a:ext uri="{FF2B5EF4-FFF2-40B4-BE49-F238E27FC236}">
                <a16:creationId xmlns:a16="http://schemas.microsoft.com/office/drawing/2014/main" id="{E4605BA5-36D3-9C6D-24F3-3A503E3A0157}"/>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dirty="0">
                <a:solidFill>
                  <a:srgbClr val="727580"/>
                </a:solidFill>
                <a:latin typeface="Arial" panose="020B0604020202020204"/>
                <a:ea typeface="Arial" panose="020B0604020202020204"/>
                <a:cs typeface="Arial" panose="020B0604020202020204"/>
              </a:rPr>
              <a:t>0</a:t>
            </a:r>
            <a:r>
              <a:rPr lang="en-US" sz="1275" dirty="0">
                <a:solidFill>
                  <a:srgbClr val="727580"/>
                </a:solidFill>
                <a:latin typeface="Arial" panose="020B0604020202020204"/>
                <a:ea typeface="Arial" panose="020B0604020202020204"/>
                <a:cs typeface="Arial" panose="020B0604020202020204"/>
              </a:rPr>
              <a:t>6</a:t>
            </a:r>
            <a:endParaRPr lang="en-US" sz="1275" b="0" dirty="0">
              <a:solidFill>
                <a:srgbClr val="727580"/>
              </a:solidFill>
              <a:latin typeface="Arial" panose="020B0604020202020204"/>
              <a:ea typeface="Arial" panose="020B0604020202020204"/>
              <a:cs typeface="Arial" panose="020B0604020202020204"/>
            </a:endParaRP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a:t>
            </a:r>
            <a:r>
              <a:rPr sz="3300">
                <a:sym typeface="+mn-ea"/>
              </a:rPr>
              <a:t>Home</a:t>
            </a:r>
            <a:r>
              <a:rPr lang="en-US" sz="3300">
                <a:sym typeface="+mn-ea"/>
              </a:rPr>
              <a:t> -</a:t>
            </a:r>
            <a:r>
              <a:rPr sz="3300">
                <a:sym typeface="+mn-ea"/>
              </a:rPr>
              <a:t> </a:t>
            </a:r>
            <a:r>
              <a:rPr lang="en-US" sz="3300">
                <a:sym typeface="+mn-ea"/>
              </a:rPr>
              <a:t>log in</a:t>
            </a:r>
            <a:r>
              <a:rPr sz="3300">
                <a:sym typeface="+mn-ea"/>
              </a:rPr>
              <a:t> and </a:t>
            </a:r>
            <a:r>
              <a:rPr lang="en-US" sz="3300">
                <a:sym typeface="+mn-ea"/>
              </a:rPr>
              <a:t>register</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图片 48" descr="Home Page"/>
          <p:cNvPicPr>
            <a:picLocks noChangeAspect="1"/>
          </p:cNvPicPr>
          <p:nvPr/>
        </p:nvPicPr>
        <p:blipFill>
          <a:blip r:embed="rId3"/>
          <a:stretch>
            <a:fillRect/>
          </a:stretch>
        </p:blipFill>
        <p:spPr>
          <a:xfrm>
            <a:off x="1591945" y="1449705"/>
            <a:ext cx="8502015" cy="4799330"/>
          </a:xfrm>
          <a:prstGeom prst="rect">
            <a:avLst/>
          </a:prstGeom>
        </p:spPr>
      </p:pic>
      <p:sp>
        <p:nvSpPr>
          <p:cNvPr id="50" name="Rectangle 33"/>
          <p:cNvSpPr/>
          <p:nvPr/>
        </p:nvSpPr>
        <p:spPr>
          <a:xfrm>
            <a:off x="150952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4">
            <a:extLst>
              <a:ext uri="{FF2B5EF4-FFF2-40B4-BE49-F238E27FC236}">
                <a16:creationId xmlns:a16="http://schemas.microsoft.com/office/drawing/2014/main" id="{5EB4770D-FE21-3E6D-F7CC-C843FF972369}"/>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dirty="0">
                <a:solidFill>
                  <a:srgbClr val="727580"/>
                </a:solidFill>
                <a:latin typeface="Arial" panose="020B0604020202020204"/>
                <a:ea typeface="Arial" panose="020B0604020202020204"/>
                <a:cs typeface="Arial" panose="020B0604020202020204"/>
              </a:rPr>
              <a:t>0</a:t>
            </a:r>
            <a:r>
              <a:rPr lang="en-US" sz="1275" b="0" dirty="0">
                <a:solidFill>
                  <a:srgbClr val="727580"/>
                </a:solidFill>
                <a:latin typeface="Arial" panose="020B0604020202020204"/>
                <a:ea typeface="Arial" panose="020B0604020202020204"/>
                <a:cs typeface="Arial" panose="020B0604020202020204"/>
              </a:rPr>
              <a:t>7</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Live Map -</a:t>
            </a:r>
            <a:r>
              <a:rPr sz="3300">
                <a:sym typeface="+mn-ea"/>
              </a:rPr>
              <a:t> </a:t>
            </a:r>
            <a:r>
              <a:rPr lang="en-US" sz="3300">
                <a:sym typeface="+mn-ea"/>
              </a:rPr>
              <a:t>find/return a bike</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图片 1" descr="Live Map_1"/>
          <p:cNvPicPr>
            <a:picLocks noChangeAspect="1"/>
          </p:cNvPicPr>
          <p:nvPr/>
        </p:nvPicPr>
        <p:blipFill>
          <a:blip r:embed="rId3"/>
          <a:srcRect b="1982"/>
          <a:stretch>
            <a:fillRect/>
          </a:stretch>
        </p:blipFill>
        <p:spPr>
          <a:xfrm>
            <a:off x="1722120" y="1410970"/>
            <a:ext cx="8241030" cy="5012055"/>
          </a:xfrm>
          <a:prstGeom prst="rect">
            <a:avLst/>
          </a:prstGeom>
        </p:spPr>
      </p:pic>
      <p:sp>
        <p:nvSpPr>
          <p:cNvPr id="4" name="Rectangle 33"/>
          <p:cNvSpPr/>
          <p:nvPr/>
        </p:nvSpPr>
        <p:spPr>
          <a:xfrm>
            <a:off x="150952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4">
            <a:extLst>
              <a:ext uri="{FF2B5EF4-FFF2-40B4-BE49-F238E27FC236}">
                <a16:creationId xmlns:a16="http://schemas.microsoft.com/office/drawing/2014/main" id="{C7D1E21E-AE50-C838-E89F-06F179F92109}"/>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dirty="0">
                <a:solidFill>
                  <a:srgbClr val="727580"/>
                </a:solidFill>
                <a:latin typeface="Arial" panose="020B0604020202020204"/>
                <a:ea typeface="Arial" panose="020B0604020202020204"/>
                <a:cs typeface="Arial" panose="020B0604020202020204"/>
              </a:rPr>
              <a:t>0</a:t>
            </a:r>
            <a:r>
              <a:rPr lang="en-US" sz="1275" b="0" dirty="0">
                <a:solidFill>
                  <a:srgbClr val="727580"/>
                </a:solidFill>
                <a:latin typeface="Arial" panose="020B0604020202020204"/>
                <a:ea typeface="Arial" panose="020B0604020202020204"/>
                <a:cs typeface="Arial" panose="020B0604020202020204"/>
              </a:rPr>
              <a:t>8</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Live Map -</a:t>
            </a:r>
            <a:r>
              <a:rPr sz="3300">
                <a:sym typeface="+mn-ea"/>
              </a:rPr>
              <a:t> </a:t>
            </a:r>
            <a:r>
              <a:rPr lang="en-US" sz="3300">
                <a:sym typeface="+mn-ea"/>
              </a:rPr>
              <a:t>library station</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27084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图片 4" descr="Live Map_2"/>
          <p:cNvPicPr>
            <a:picLocks noChangeAspect="1"/>
          </p:cNvPicPr>
          <p:nvPr/>
        </p:nvPicPr>
        <p:blipFill>
          <a:blip r:embed="rId3"/>
          <a:stretch>
            <a:fillRect/>
          </a:stretch>
        </p:blipFill>
        <p:spPr>
          <a:xfrm>
            <a:off x="1857375" y="1349375"/>
            <a:ext cx="8493760" cy="4999355"/>
          </a:xfrm>
          <a:prstGeom prst="rect">
            <a:avLst/>
          </a:prstGeom>
        </p:spPr>
      </p:pic>
      <p:sp>
        <p:nvSpPr>
          <p:cNvPr id="6" name="TextBox 14">
            <a:extLst>
              <a:ext uri="{FF2B5EF4-FFF2-40B4-BE49-F238E27FC236}">
                <a16:creationId xmlns:a16="http://schemas.microsoft.com/office/drawing/2014/main" id="{C7559155-B38F-DE1F-8A7C-D05D84807413}"/>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09</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Daily Flow - Visualized data</a:t>
            </a:r>
            <a:endParaRPr lang="en-US" altLang="zh-CN" sz="3300" b="0">
              <a:solidFill>
                <a:srgbClr val="727580"/>
              </a:solidFill>
              <a:latin typeface="Arial" panose="020B0604020202020204"/>
              <a:ea typeface="Arial" panose="020B0604020202020204"/>
              <a:cs typeface="Arial" panose="020B0604020202020204"/>
            </a:endParaRPr>
          </a:p>
          <a:p>
            <a:pPr>
              <a:spcAft>
                <a:spcPts val="700"/>
              </a:spcAft>
              <a:defRPr sz="2700" b="1">
                <a:solidFill>
                  <a:srgbClr val="091430"/>
                </a:solidFill>
                <a:latin typeface="Aptos"/>
              </a:defRPr>
            </a:pPr>
            <a:r>
              <a:rPr sz="3300">
                <a:sym typeface="+mn-ea"/>
              </a:rPr>
              <a:t> </a:t>
            </a:r>
            <a:endParaRPr lang="en-US" sz="3300">
              <a:sym typeface="+mn-ea"/>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395236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图片 1" descr="Daily Flow"/>
          <p:cNvPicPr>
            <a:picLocks noChangeAspect="1"/>
          </p:cNvPicPr>
          <p:nvPr/>
        </p:nvPicPr>
        <p:blipFill>
          <a:blip r:embed="rId3"/>
          <a:stretch>
            <a:fillRect/>
          </a:stretch>
        </p:blipFill>
        <p:spPr>
          <a:xfrm>
            <a:off x="2091055" y="1304290"/>
            <a:ext cx="7924165" cy="5090795"/>
          </a:xfrm>
          <a:prstGeom prst="rect">
            <a:avLst/>
          </a:prstGeom>
        </p:spPr>
      </p:pic>
      <p:sp>
        <p:nvSpPr>
          <p:cNvPr id="6"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4">
            <a:extLst>
              <a:ext uri="{FF2B5EF4-FFF2-40B4-BE49-F238E27FC236}">
                <a16:creationId xmlns:a16="http://schemas.microsoft.com/office/drawing/2014/main" id="{9F3613DF-DBED-EBF4-098A-5F194C3CA8C9}"/>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10</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Contact Us - Team Members</a:t>
            </a:r>
            <a:r>
              <a:rPr sz="3300">
                <a:sym typeface="+mn-ea"/>
              </a:rPr>
              <a:t> </a:t>
            </a:r>
            <a:endParaRPr lang="en-US" sz="3300">
              <a:sym typeface="+mn-ea"/>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456323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图片 4" descr="Contact Us"/>
          <p:cNvPicPr>
            <a:picLocks noChangeAspect="1"/>
          </p:cNvPicPr>
          <p:nvPr/>
        </p:nvPicPr>
        <p:blipFill>
          <a:blip r:embed="rId3"/>
          <a:stretch>
            <a:fillRect/>
          </a:stretch>
        </p:blipFill>
        <p:spPr>
          <a:xfrm>
            <a:off x="2078990" y="1289050"/>
            <a:ext cx="8139430" cy="5100955"/>
          </a:xfrm>
          <a:prstGeom prst="rect">
            <a:avLst/>
          </a:prstGeom>
        </p:spPr>
      </p:pic>
      <p:sp>
        <p:nvSpPr>
          <p:cNvPr id="7" name="TextBox 14">
            <a:extLst>
              <a:ext uri="{FF2B5EF4-FFF2-40B4-BE49-F238E27FC236}">
                <a16:creationId xmlns:a16="http://schemas.microsoft.com/office/drawing/2014/main" id="{D5D092C4-3DF4-DA4E-6ADD-CF084AE46370}"/>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 name="表格 3"/>
          <p:cNvGraphicFramePr/>
          <p:nvPr>
            <p:extLst>
              <p:ext uri="{D42A27DB-BD31-4B8C-83A1-F6EECF244321}">
                <p14:modId xmlns:p14="http://schemas.microsoft.com/office/powerpoint/2010/main" val="245305730"/>
              </p:ext>
            </p:extLst>
          </p:nvPr>
        </p:nvGraphicFramePr>
        <p:xfrm>
          <a:off x="838200" y="1554480"/>
          <a:ext cx="10515600" cy="3019424"/>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754856">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Dataset</a:t>
                      </a:r>
                    </a:p>
                  </a:txBody>
                  <a:tcPr anchor="ctr">
                    <a:lnL w="9525">
                      <a:solidFill>
                        <a:srgbClr val="D8DBE1"/>
                      </a:solidFill>
                      <a:prstDash val="soli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What we will collect</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What it will show</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extLst>
                  <a:ext uri="{0D108BD9-81ED-4DB2-BD59-A6C34878D82A}">
                    <a16:rowId xmlns:a16="http://schemas.microsoft.com/office/drawing/2014/main" val="10000"/>
                  </a:ext>
                </a:extLst>
              </a:tr>
              <a:tr h="754856">
                <a:tc rowSpan="2">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TfL </a:t>
                      </a:r>
                      <a:r>
                        <a:rPr sz="1800" b="0" dirty="0" err="1">
                          <a:solidFill>
                            <a:srgbClr val="3A3C52"/>
                          </a:solidFill>
                          <a:latin typeface="Arial" panose="020B0604020202020204"/>
                          <a:ea typeface="Arial" panose="020B0604020202020204"/>
                          <a:cs typeface="Arial" panose="020B0604020202020204"/>
                        </a:rPr>
                        <a:t>BikePoint</a:t>
                      </a:r>
                      <a:r>
                        <a:rPr sz="1800" b="0" dirty="0">
                          <a:solidFill>
                            <a:srgbClr val="3A3C52"/>
                          </a:solidFill>
                          <a:latin typeface="Arial" panose="020B0604020202020204"/>
                          <a:ea typeface="Arial" panose="020B0604020202020204"/>
                          <a:cs typeface="Arial" panose="020B0604020202020204"/>
                        </a:rPr>
                        <a:t> API</a:t>
                      </a:r>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Station locations</a:t>
                      </a:r>
                    </a:p>
                    <a:p>
                      <a:pPr>
                        <a:lnSpc>
                          <a:spcPct val="110000"/>
                        </a:lnSpc>
                        <a:buNone/>
                      </a:pPr>
                      <a:r>
                        <a:rPr sz="1800" b="0">
                          <a:solidFill>
                            <a:srgbClr val="3A3C52"/>
                          </a:solidFill>
                          <a:latin typeface="Arial" panose="020B0604020202020204"/>
                          <a:ea typeface="Arial" panose="020B0604020202020204"/>
                          <a:cs typeface="Arial" panose="020B0604020202020204"/>
                        </a:rPr>
                        <a:t>Bikes and empty docks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Where users can borrow</a:t>
                      </a:r>
                    </a:p>
                    <a:p>
                      <a:pPr>
                        <a:lnSpc>
                          <a:spcPct val="110000"/>
                        </a:lnSpc>
                        <a:buNone/>
                      </a:pPr>
                      <a:r>
                        <a:rPr sz="1800" b="0">
                          <a:solidFill>
                            <a:srgbClr val="3A3C52"/>
                          </a:solidFill>
                          <a:latin typeface="Arial" panose="020B0604020202020204"/>
                          <a:ea typeface="Arial" panose="020B0604020202020204"/>
                          <a:cs typeface="Arial" panose="020B0604020202020204"/>
                        </a:rPr>
                        <a:t>or return a bike</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extLst>
                  <a:ext uri="{0D108BD9-81ED-4DB2-BD59-A6C34878D82A}">
                    <a16:rowId xmlns:a16="http://schemas.microsoft.com/office/drawing/2014/main" val="10001"/>
                  </a:ext>
                </a:extLst>
              </a:tr>
              <a:tr h="754856">
                <a:tc vMerge="1">
                  <a:txBody>
                    <a:bodyPr/>
                    <a:lstStyle/>
                    <a:p>
                      <a:endParaRPr lang="zh-CN"/>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Repeated station observations</a:t>
                      </a:r>
                    </a:p>
                    <a:p>
                      <a:pPr>
                        <a:lnSpc>
                          <a:spcPct val="110000"/>
                        </a:lnSpc>
                        <a:buNone/>
                      </a:pPr>
                      <a:r>
                        <a:rPr sz="1800" b="0">
                          <a:solidFill>
                            <a:srgbClr val="3A3C52"/>
                          </a:solidFill>
                          <a:latin typeface="Arial" panose="020B0604020202020204"/>
                          <a:ea typeface="Arial" panose="020B0604020202020204"/>
                          <a:cs typeface="Arial" panose="020B0604020202020204"/>
                        </a:rPr>
                        <a:t>Target: every 5 minutes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24-hour availability</a:t>
                      </a:r>
                    </a:p>
                    <a:p>
                      <a:pPr>
                        <a:lnSpc>
                          <a:spcPct val="110000"/>
                        </a:lnSpc>
                        <a:buNone/>
                      </a:pPr>
                      <a:r>
                        <a:rPr sz="1800" b="0">
                          <a:solidFill>
                            <a:srgbClr val="3A3C52"/>
                          </a:solidFill>
                          <a:latin typeface="Arial" panose="020B0604020202020204"/>
                          <a:ea typeface="Arial" panose="020B0604020202020204"/>
                          <a:cs typeface="Arial" panose="020B0604020202020204"/>
                        </a:rPr>
                        <a:t>Difficult stations and times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extLst>
                  <a:ext uri="{0D108BD9-81ED-4DB2-BD59-A6C34878D82A}">
                    <a16:rowId xmlns:a16="http://schemas.microsoft.com/office/drawing/2014/main" val="10002"/>
                  </a:ext>
                </a:extLst>
              </a:tr>
              <a:tr h="754856">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Cycling collisions</a:t>
                      </a:r>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Location, date and severity</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Historical collision patterns</a:t>
                      </a:r>
                    </a:p>
                    <a:p>
                      <a:pPr>
                        <a:lnSpc>
                          <a:spcPct val="110000"/>
                        </a:lnSpc>
                        <a:buNone/>
                      </a:pPr>
                      <a:r>
                        <a:rPr sz="1800" b="0" dirty="0">
                          <a:solidFill>
                            <a:srgbClr val="3A3C52"/>
                          </a:solidFill>
                          <a:latin typeface="Arial" panose="020B0604020202020204"/>
                          <a:ea typeface="Arial" panose="020B0604020202020204"/>
                          <a:cs typeface="Arial" panose="020B0604020202020204"/>
                        </a:rPr>
                        <a:t>around docking stations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Planned architecture"/>
          <p:cNvSpPr>
            <a:spLocks noGrp="1"/>
          </p:cNvSpPr>
          <p:nvPr/>
        </p:nvSpPr>
        <p:spPr>
          <a:xfrm>
            <a:off x="838200" y="4888230"/>
            <a:ext cx="10515600" cy="36195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3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Planned architecture</a:t>
            </a:r>
          </a:p>
        </p:txBody>
      </p:sp>
      <p:sp>
        <p:nvSpPr>
          <p:cNvPr id="6" name="Node.js collects data. MySQL stores snapshots. Express serves JSO"/>
          <p:cNvSpPr>
            <a:spLocks noGrp="1"/>
          </p:cNvSpPr>
          <p:nvPr/>
        </p:nvSpPr>
        <p:spPr>
          <a:xfrm>
            <a:off x="838200" y="5354955"/>
            <a:ext cx="10515600" cy="723900"/>
          </a:xfrm>
          <a:prstGeom prst="rect">
            <a:avLst/>
          </a:prstGeom>
          <a:noFill/>
          <a:ln w="0">
            <a:noFill/>
          </a:ln>
        </p:spPr>
        <p:txBody>
          <a:bodyPr wrap="square" lIns="0" tIns="0" rIns="0" bIns="0" anchor="t">
            <a:noAutofit/>
          </a:bodyPr>
          <a:lstStyle>
            <a:defPPr>
              <a:defRPr sz="1875" b="0">
                <a:solidFill>
                  <a:srgbClr val="3A3C52"/>
                </a:solidFill>
                <a:latin typeface="Arial" panose="020B0604020202020204"/>
                <a:ea typeface="Arial" panose="020B0604020202020204"/>
                <a:cs typeface="Arial" panose="020B0604020202020204"/>
              </a:defRPr>
            </a:defPPr>
          </a:lstStyle>
          <a:p>
            <a:pPr>
              <a:lnSpc>
                <a:spcPct val="113000"/>
              </a:lnSpc>
              <a:buNone/>
              <a:defRPr sz="1875" b="0">
                <a:solidFill>
                  <a:srgbClr val="3A3C52"/>
                </a:solidFill>
                <a:latin typeface="Arial" panose="020B0604020202020204"/>
                <a:ea typeface="Arial" panose="020B0604020202020204"/>
                <a:cs typeface="Arial" panose="020B0604020202020204"/>
              </a:defRPr>
            </a:pPr>
            <a:r>
              <a:rPr sz="1875" b="0" dirty="0">
                <a:solidFill>
                  <a:srgbClr val="3A3C52"/>
                </a:solidFill>
                <a:latin typeface="Arial" panose="020B0604020202020204"/>
                <a:ea typeface="Arial" panose="020B0604020202020204"/>
                <a:cs typeface="Arial" panose="020B0604020202020204"/>
              </a:rPr>
              <a:t>Node.js collects data. MySQL stores snapshots. Express serves JSON.</a:t>
            </a:r>
          </a:p>
          <a:p>
            <a:pPr>
              <a:lnSpc>
                <a:spcPct val="113000"/>
              </a:lnSpc>
              <a:buNone/>
              <a:defRPr sz="1875" b="0">
                <a:solidFill>
                  <a:srgbClr val="3A3C52"/>
                </a:solidFill>
                <a:latin typeface="Arial" panose="020B0604020202020204"/>
                <a:ea typeface="Arial" panose="020B0604020202020204"/>
                <a:cs typeface="Arial" panose="020B0604020202020204"/>
              </a:defRPr>
            </a:pPr>
            <a:r>
              <a:rPr sz="1875" b="0" dirty="0">
                <a:solidFill>
                  <a:srgbClr val="3A3C52"/>
                </a:solidFill>
                <a:latin typeface="Arial" panose="020B0604020202020204"/>
                <a:ea typeface="Arial" panose="020B0604020202020204"/>
                <a:cs typeface="Arial" panose="020B0604020202020204"/>
              </a:rPr>
              <a:t>Python handles analysis. Leaflet and Chart.js display the results.</a:t>
            </a:r>
          </a:p>
        </p:txBody>
      </p:sp>
      <p:sp>
        <p:nvSpPr>
          <p:cNvPr id="7" name="待填写 / TO FILL: collision dataset and year range"/>
          <p:cNvSpPr>
            <a:spLocks noGrp="1"/>
          </p:cNvSpPr>
          <p:nvPr/>
        </p:nvSpPr>
        <p:spPr>
          <a:xfrm>
            <a:off x="838200" y="6193155"/>
            <a:ext cx="9715500" cy="266700"/>
          </a:xfrm>
          <a:prstGeom prst="rect">
            <a:avLst/>
          </a:prstGeom>
          <a:noFill/>
          <a:ln w="0">
            <a:noFill/>
          </a:ln>
        </p:spPr>
        <p:txBody>
          <a:bodyPr wrap="square" lIns="0" tIns="0" rIns="0" bIns="0" anchor="t">
            <a:noAutofit/>
          </a:bodyPr>
          <a:lstStyle>
            <a:defPPr>
              <a:defRPr sz="1350" b="0">
                <a:solidFill>
                  <a:srgbClr val="727580"/>
                </a:solidFill>
                <a:latin typeface="Arial" panose="020B0604020202020204"/>
                <a:ea typeface="Arial" panose="020B0604020202020204"/>
                <a:cs typeface="Arial" panose="020B0604020202020204"/>
              </a:defRPr>
            </a:defPPr>
          </a:lstStyle>
          <a:p>
            <a:pPr>
              <a:lnSpc>
                <a:spcPct val="113000"/>
              </a:lnSpc>
              <a:buNone/>
              <a:defRPr sz="1350" b="0">
                <a:solidFill>
                  <a:srgbClr val="727580"/>
                </a:solidFill>
                <a:latin typeface="Arial" panose="020B0604020202020204"/>
                <a:ea typeface="Arial" panose="020B0604020202020204"/>
                <a:cs typeface="Arial" panose="020B0604020202020204"/>
              </a:defRPr>
            </a:pPr>
            <a:r>
              <a:rPr sz="1350" b="0">
                <a:solidFill>
                  <a:srgbClr val="727580"/>
                </a:solidFill>
                <a:latin typeface="Arial" panose="020B0604020202020204"/>
                <a:ea typeface="Arial" panose="020B0604020202020204"/>
                <a:cs typeface="Arial" panose="020B0604020202020204"/>
              </a:rPr>
              <a:t>Database: london_bike_pulse. Schema and query screenshots follow in the appendix.</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dirty="0">
                <a:solidFill>
                  <a:srgbClr val="727580"/>
                </a:solidFill>
                <a:latin typeface="Arial" panose="020B0604020202020204"/>
                <a:ea typeface="Arial" panose="020B0604020202020204"/>
                <a:cs typeface="Arial" panose="020B0604020202020204"/>
              </a:rPr>
              <a:t>11</a:t>
            </a:r>
            <a:endParaRPr lang="en-US" sz="1275" b="0" dirty="0">
              <a:solidFill>
                <a:srgbClr val="727580"/>
              </a:solidFill>
              <a:latin typeface="Arial" panose="020B0604020202020204"/>
              <a:ea typeface="Arial" panose="020B0604020202020204"/>
              <a:cs typeface="Arial" panose="020B0604020202020204"/>
            </a:endParaRPr>
          </a:p>
        </p:txBody>
      </p:sp>
      <p:sp>
        <p:nvSpPr>
          <p:cNvPr id="23" name="Rectangle 2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dirty="0">
                <a:sym typeface="+mn-ea"/>
              </a:rPr>
              <a:t>4. </a:t>
            </a:r>
            <a:r>
              <a:rPr dirty="0">
                <a:sym typeface="+mn-ea"/>
              </a:rPr>
              <a:t>What data will we use?</a:t>
            </a:r>
            <a:endParaRPr lang="en-US" sz="3300" b="1" dirty="0">
              <a:solidFill>
                <a:srgbClr val="04091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84835" y="1148715"/>
            <a:ext cx="11128375" cy="76200"/>
          </a:xfrm>
          <a:prstGeom prst="rect">
            <a:avLst/>
          </a:prstGeom>
          <a:solidFill>
            <a:srgbClr val="0BE4F7"/>
          </a:solidFill>
          <a:ln w="0">
            <a:noFill/>
          </a:ln>
        </p:spPr>
      </p:sp>
      <p:sp>
        <p:nvSpPr>
          <p:cNvPr id="3" name="Rectangle 33">
            <a:extLst>
              <a:ext uri="{FF2B5EF4-FFF2-40B4-BE49-F238E27FC236}">
                <a16:creationId xmlns:a16="http://schemas.microsoft.com/office/drawing/2014/main" id="{786E212A-660F-E42C-B79B-736A50F008E4}"/>
              </a:ext>
            </a:extLst>
          </p:cNvPr>
          <p:cNvSpPr/>
          <p:nvPr/>
        </p:nvSpPr>
        <p:spPr>
          <a:xfrm>
            <a:off x="5003174"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33">
            <a:extLst>
              <a:ext uri="{FF2B5EF4-FFF2-40B4-BE49-F238E27FC236}">
                <a16:creationId xmlns:a16="http://schemas.microsoft.com/office/drawing/2014/main" id="{A78E9513-D566-6E64-9F9A-2AE57EBC26F3}"/>
              </a:ext>
            </a:extLst>
          </p:cNvPr>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4">
            <a:extLst>
              <a:ext uri="{FF2B5EF4-FFF2-40B4-BE49-F238E27FC236}">
                <a16:creationId xmlns:a16="http://schemas.microsoft.com/office/drawing/2014/main" id="{1E85A40C-2B7B-674A-8B45-819BA21B286A}"/>
              </a:ext>
            </a:extLst>
          </p:cNvPr>
          <p:cNvSpPr txBox="1"/>
          <p:nvPr/>
        </p:nvSpPr>
        <p:spPr>
          <a:xfrm>
            <a:off x="393065" y="6467475"/>
            <a:ext cx="5109210" cy="213995"/>
          </a:xfrm>
          <a:prstGeom prst="rect">
            <a:avLst/>
          </a:prstGeom>
          <a:noFill/>
        </p:spPr>
        <p:txBody>
          <a:bodyPr wrap="square">
            <a:spAutoFit/>
          </a:bodyPr>
          <a:lstStyle/>
          <a:p>
            <a:r>
              <a:rPr sz="800" dirty="0">
                <a:solidFill>
                  <a:srgbClr val="69778C"/>
                </a:solidFill>
                <a:latin typeface="Aptos"/>
              </a:rPr>
              <a:t>MIND THE DOCK   •   UCL CASA0017   •   404 GROUP NOT FOUND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Database: station status and history"/>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station status and history</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6"/>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dirty="0">
                <a:solidFill>
                  <a:srgbClr val="727580"/>
                </a:solidFill>
                <a:latin typeface="Arial" panose="020B0604020202020204"/>
                <a:ea typeface="Arial" panose="020B0604020202020204"/>
                <a:cs typeface="Arial" panose="020B0604020202020204"/>
              </a:rPr>
              <a:t>12</a:t>
            </a:r>
            <a:endParaRPr sz="1275" b="0" dirty="0">
              <a:solidFill>
                <a:srgbClr val="727580"/>
              </a:solidFill>
              <a:latin typeface="Arial" panose="020B0604020202020204"/>
              <a:ea typeface="Arial" panose="020B0604020202020204"/>
              <a:cs typeface="Arial" panose="020B0604020202020204"/>
            </a:endParaRPr>
          </a:p>
        </p:txBody>
      </p:sp>
      <p:sp>
        <p:nvSpPr>
          <p:cNvPr id="4" name="bike_stations"/>
          <p:cNvSpPr>
            <a:spLocks noGrp="1"/>
          </p:cNvSpPr>
          <p:nvPr/>
        </p:nvSpPr>
        <p:spPr>
          <a:xfrm>
            <a:off x="838200" y="1685925"/>
            <a:ext cx="49530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bike_stations</a:t>
            </a:r>
          </a:p>
        </p:txBody>
      </p:sp>
      <p:sp>
        <p:nvSpPr>
          <p:cNvPr id="5" name="Latest station state and update times"/>
          <p:cNvSpPr>
            <a:spLocks noGrp="1"/>
          </p:cNvSpPr>
          <p:nvPr/>
        </p:nvSpPr>
        <p:spPr>
          <a:xfrm>
            <a:off x="838200" y="2085975"/>
            <a:ext cx="49530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Latest station state and update times</a:t>
            </a:r>
          </a:p>
        </p:txBody>
      </p:sp>
      <p:sp>
        <p:nvSpPr>
          <p:cNvPr id="6" name="availability_history"/>
          <p:cNvSpPr>
            <a:spLocks noGrp="1"/>
          </p:cNvSpPr>
          <p:nvPr/>
        </p:nvSpPr>
        <p:spPr>
          <a:xfrm>
            <a:off x="6362700" y="1685925"/>
            <a:ext cx="49911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availability_history</a:t>
            </a:r>
          </a:p>
        </p:txBody>
      </p:sp>
      <p:sp>
        <p:nvSpPr>
          <p:cNvPr id="7" name="Snapshots for the availability chart"/>
          <p:cNvSpPr>
            <a:spLocks noGrp="1"/>
          </p:cNvSpPr>
          <p:nvPr/>
        </p:nvSpPr>
        <p:spPr>
          <a:xfrm>
            <a:off x="6362700" y="2085975"/>
            <a:ext cx="49911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Snapshots for the availability chart</a:t>
            </a:r>
          </a:p>
        </p:txBody>
      </p:sp>
      <p:pic>
        <p:nvPicPr>
          <p:cNvPr id="8" name="图片 7"/>
          <p:cNvPicPr>
            <a:picLocks noChangeAspect="1"/>
          </p:cNvPicPr>
          <p:nvPr/>
        </p:nvPicPr>
        <p:blipFill>
          <a:blip r:embed="rId3"/>
          <a:stretch>
            <a:fillRect/>
          </a:stretch>
        </p:blipFill>
        <p:spPr>
          <a:xfrm>
            <a:off x="2110068" y="2543175"/>
            <a:ext cx="2409265" cy="3810000"/>
          </a:xfrm>
          <a:prstGeom prst="rect">
            <a:avLst/>
          </a:prstGeom>
        </p:spPr>
      </p:pic>
      <p:pic>
        <p:nvPicPr>
          <p:cNvPr id="9" name="图片 8"/>
          <p:cNvPicPr>
            <a:picLocks noChangeAspect="1"/>
          </p:cNvPicPr>
          <p:nvPr/>
        </p:nvPicPr>
        <p:blipFill>
          <a:blip r:embed="rId4"/>
          <a:stretch>
            <a:fillRect/>
          </a:stretch>
        </p:blipFill>
        <p:spPr>
          <a:xfrm>
            <a:off x="7464949" y="2543175"/>
            <a:ext cx="2786602" cy="3810000"/>
          </a:xfrm>
          <a:prstGeom prst="rect">
            <a:avLst/>
          </a:prstGeom>
        </p:spPr>
      </p:pic>
      <p:sp>
        <p:nvSpPr>
          <p:cNvPr id="10" name="APPENDIX   Team-provided database schema screenshots"/>
          <p:cNvSpPr>
            <a:spLocks noGrp="1"/>
          </p:cNvSpPr>
          <p:nvPr/>
        </p:nvSpPr>
        <p:spPr>
          <a:xfrm>
            <a:off x="838200" y="6429375"/>
            <a:ext cx="9525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dirty="0">
                <a:solidFill>
                  <a:srgbClr val="727580"/>
                </a:solidFill>
                <a:latin typeface="Arial" panose="020B0604020202020204"/>
                <a:ea typeface="Arial" panose="020B0604020202020204"/>
                <a:cs typeface="Arial" panose="020B0604020202020204"/>
              </a:rPr>
              <a:t>APPENDIX   Team-provided database schema screenshots</a:t>
            </a:r>
          </a:p>
        </p:txBody>
      </p:sp>
      <p:sp>
        <p:nvSpPr>
          <p:cNvPr id="13" name="Rectangle 10">
            <a:extLst>
              <a:ext uri="{FF2B5EF4-FFF2-40B4-BE49-F238E27FC236}">
                <a16:creationId xmlns:a16="http://schemas.microsoft.com/office/drawing/2014/main" id="{A04EA1AE-2807-F679-47C5-AE652B12A051}"/>
              </a:ext>
            </a:extLst>
          </p:cNvPr>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2">
            <a:extLst>
              <a:ext uri="{FF2B5EF4-FFF2-40B4-BE49-F238E27FC236}">
                <a16:creationId xmlns:a16="http://schemas.microsoft.com/office/drawing/2014/main" id="{D9E92429-825A-2CAA-9926-166C915F6786}"/>
              </a:ext>
            </a:extLst>
          </p:cNvPr>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3">
            <a:extLst>
              <a:ext uri="{FF2B5EF4-FFF2-40B4-BE49-F238E27FC236}">
                <a16:creationId xmlns:a16="http://schemas.microsoft.com/office/drawing/2014/main" id="{9AE549EF-F424-BC9E-0D5D-DE80EF919BBE}"/>
              </a:ext>
            </a:extLst>
          </p:cNvPr>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3">
            <a:extLst>
              <a:ext uri="{FF2B5EF4-FFF2-40B4-BE49-F238E27FC236}">
                <a16:creationId xmlns:a16="http://schemas.microsoft.com/office/drawing/2014/main" id="{D4950DA8-B692-7E40-38BF-740F9BFF8350}"/>
              </a:ext>
            </a:extLst>
          </p:cNvPr>
          <p:cNvSpPr/>
          <p:nvPr/>
        </p:nvSpPr>
        <p:spPr>
          <a:xfrm>
            <a:off x="5330084"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3">
            <a:extLst>
              <a:ext uri="{FF2B5EF4-FFF2-40B4-BE49-F238E27FC236}">
                <a16:creationId xmlns:a16="http://schemas.microsoft.com/office/drawing/2014/main" id="{163E14FF-0823-67BB-4A3D-988FE27DD51D}"/>
              </a:ext>
            </a:extLst>
          </p:cNvPr>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Database: collisions and fault reports"/>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collisions and fault reports</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7"/>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dirty="0">
                <a:solidFill>
                  <a:srgbClr val="727580"/>
                </a:solidFill>
                <a:latin typeface="Arial" panose="020B0604020202020204"/>
                <a:ea typeface="Arial" panose="020B0604020202020204"/>
                <a:cs typeface="Arial" panose="020B0604020202020204"/>
              </a:rPr>
              <a:t>13</a:t>
            </a:r>
            <a:endParaRPr sz="1275" b="0" dirty="0">
              <a:solidFill>
                <a:srgbClr val="727580"/>
              </a:solidFill>
              <a:latin typeface="Arial" panose="020B0604020202020204"/>
              <a:ea typeface="Arial" panose="020B0604020202020204"/>
              <a:cs typeface="Arial" panose="020B0604020202020204"/>
            </a:endParaRPr>
          </a:p>
        </p:txBody>
      </p:sp>
      <p:sp>
        <p:nvSpPr>
          <p:cNvPr id="4" name="collisions"/>
          <p:cNvSpPr>
            <a:spLocks noGrp="1"/>
          </p:cNvSpPr>
          <p:nvPr/>
        </p:nvSpPr>
        <p:spPr>
          <a:xfrm>
            <a:off x="838200" y="1685925"/>
            <a:ext cx="49530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collisions</a:t>
            </a:r>
          </a:p>
        </p:txBody>
      </p:sp>
      <p:sp>
        <p:nvSpPr>
          <p:cNvPr id="5" name="Recorded collisions and cycling involvement"/>
          <p:cNvSpPr>
            <a:spLocks noGrp="1"/>
          </p:cNvSpPr>
          <p:nvPr/>
        </p:nvSpPr>
        <p:spPr>
          <a:xfrm>
            <a:off x="838200" y="2085975"/>
            <a:ext cx="49530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Recorded collisions and cycling involvement</a:t>
            </a:r>
          </a:p>
        </p:txBody>
      </p:sp>
      <p:sp>
        <p:nvSpPr>
          <p:cNvPr id="6" name="fault_reports"/>
          <p:cNvSpPr>
            <a:spLocks noGrp="1"/>
          </p:cNvSpPr>
          <p:nvPr/>
        </p:nvSpPr>
        <p:spPr>
          <a:xfrm>
            <a:off x="6362700" y="1685925"/>
            <a:ext cx="49911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fault_reports</a:t>
            </a:r>
          </a:p>
        </p:txBody>
      </p:sp>
      <p:sp>
        <p:nvSpPr>
          <p:cNvPr id="7" name="Fields for a possible reporting feature"/>
          <p:cNvSpPr>
            <a:spLocks noGrp="1"/>
          </p:cNvSpPr>
          <p:nvPr/>
        </p:nvSpPr>
        <p:spPr>
          <a:xfrm>
            <a:off x="6362700" y="2085975"/>
            <a:ext cx="49911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Fields for a possible reporting feature</a:t>
            </a:r>
          </a:p>
        </p:txBody>
      </p:sp>
      <p:pic>
        <p:nvPicPr>
          <p:cNvPr id="8" name="图片 7"/>
          <p:cNvPicPr>
            <a:picLocks noChangeAspect="1"/>
          </p:cNvPicPr>
          <p:nvPr/>
        </p:nvPicPr>
        <p:blipFill>
          <a:blip r:embed="rId3"/>
          <a:stretch>
            <a:fillRect/>
          </a:stretch>
        </p:blipFill>
        <p:spPr>
          <a:xfrm>
            <a:off x="1833890" y="2543175"/>
            <a:ext cx="2961619" cy="3810000"/>
          </a:xfrm>
          <a:prstGeom prst="rect">
            <a:avLst/>
          </a:prstGeom>
        </p:spPr>
      </p:pic>
      <p:pic>
        <p:nvPicPr>
          <p:cNvPr id="9" name="图片 8"/>
          <p:cNvPicPr>
            <a:picLocks noChangeAspect="1"/>
          </p:cNvPicPr>
          <p:nvPr/>
        </p:nvPicPr>
        <p:blipFill>
          <a:blip r:embed="rId4"/>
          <a:stretch>
            <a:fillRect/>
          </a:stretch>
        </p:blipFill>
        <p:spPr>
          <a:xfrm>
            <a:off x="7508554" y="2543175"/>
            <a:ext cx="2699393" cy="3810000"/>
          </a:xfrm>
          <a:prstGeom prst="rect">
            <a:avLst/>
          </a:prstGeom>
        </p:spPr>
      </p:pic>
      <p:sp>
        <p:nvSpPr>
          <p:cNvPr id="10" name="APPENDIX   Collision data source and reporting workflow remain to be c"/>
          <p:cNvSpPr>
            <a:spLocks noGrp="1"/>
          </p:cNvSpPr>
          <p:nvPr/>
        </p:nvSpPr>
        <p:spPr>
          <a:xfrm>
            <a:off x="838200" y="6429375"/>
            <a:ext cx="9906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dirty="0">
                <a:solidFill>
                  <a:srgbClr val="727580"/>
                </a:solidFill>
                <a:latin typeface="Arial" panose="020B0604020202020204"/>
                <a:ea typeface="Arial" panose="020B0604020202020204"/>
                <a:cs typeface="Arial" panose="020B0604020202020204"/>
              </a:rPr>
              <a:t>APPENDIX   Collision data source and reporting workflow remain to be confirmed</a:t>
            </a:r>
          </a:p>
        </p:txBody>
      </p:sp>
      <p:sp>
        <p:nvSpPr>
          <p:cNvPr id="13" name="Rectangle 10">
            <a:extLst>
              <a:ext uri="{FF2B5EF4-FFF2-40B4-BE49-F238E27FC236}">
                <a16:creationId xmlns:a16="http://schemas.microsoft.com/office/drawing/2014/main" id="{20D53AE7-54D4-64E2-AA4A-AE6858D51D8F}"/>
              </a:ext>
            </a:extLst>
          </p:cNvPr>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22">
            <a:extLst>
              <a:ext uri="{FF2B5EF4-FFF2-40B4-BE49-F238E27FC236}">
                <a16:creationId xmlns:a16="http://schemas.microsoft.com/office/drawing/2014/main" id="{3B0FBBA6-17E3-5A3E-5A92-834FE250061C}"/>
              </a:ext>
            </a:extLst>
          </p:cNvPr>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33">
            <a:extLst>
              <a:ext uri="{FF2B5EF4-FFF2-40B4-BE49-F238E27FC236}">
                <a16:creationId xmlns:a16="http://schemas.microsoft.com/office/drawing/2014/main" id="{DD346C45-A6DA-B9D0-49A4-24D70965B499}"/>
              </a:ext>
            </a:extLst>
          </p:cNvPr>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33">
            <a:extLst>
              <a:ext uri="{FF2B5EF4-FFF2-40B4-BE49-F238E27FC236}">
                <a16:creationId xmlns:a16="http://schemas.microsoft.com/office/drawing/2014/main" id="{2A5B9D49-8D3E-12CE-1528-A929F9E3CCBF}"/>
              </a:ext>
            </a:extLst>
          </p:cNvPr>
          <p:cNvSpPr/>
          <p:nvPr/>
        </p:nvSpPr>
        <p:spPr>
          <a:xfrm>
            <a:off x="5330084"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33">
            <a:extLst>
              <a:ext uri="{FF2B5EF4-FFF2-40B4-BE49-F238E27FC236}">
                <a16:creationId xmlns:a16="http://schemas.microsoft.com/office/drawing/2014/main" id="{0065909F-E2B9-C76D-A546-AD52733EB6B8}"/>
              </a:ext>
            </a:extLst>
          </p:cNvPr>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Database query: sample station records"/>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query: sample station records</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8"/>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dirty="0">
                <a:solidFill>
                  <a:srgbClr val="727580"/>
                </a:solidFill>
                <a:latin typeface="Arial" panose="020B0604020202020204"/>
                <a:ea typeface="Arial" panose="020B0604020202020204"/>
                <a:cs typeface="Arial" panose="020B0604020202020204"/>
              </a:rPr>
              <a:t>14</a:t>
            </a:r>
            <a:endParaRPr sz="1275" b="0" dirty="0">
              <a:solidFill>
                <a:srgbClr val="727580"/>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3"/>
          <a:stretch>
            <a:fillRect/>
          </a:stretch>
        </p:blipFill>
        <p:spPr>
          <a:xfrm>
            <a:off x="2325392" y="1657350"/>
            <a:ext cx="7541216" cy="4695825"/>
          </a:xfrm>
          <a:prstGeom prst="rect">
            <a:avLst/>
          </a:prstGeom>
        </p:spPr>
      </p:pic>
      <p:sp>
        <p:nvSpPr>
          <p:cNvPr id="5" name="APPENDIX   Query sample dated 11 October 2026. Counts belong to this s"/>
          <p:cNvSpPr>
            <a:spLocks noGrp="1"/>
          </p:cNvSpPr>
          <p:nvPr/>
        </p:nvSpPr>
        <p:spPr>
          <a:xfrm>
            <a:off x="838200" y="6429375"/>
            <a:ext cx="9906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Query sample dated 11 October 2026. Counts belong to this sample.</a:t>
            </a:r>
          </a:p>
        </p:txBody>
      </p:sp>
      <p:sp>
        <p:nvSpPr>
          <p:cNvPr id="10" name="Rectangle 10">
            <a:extLst>
              <a:ext uri="{FF2B5EF4-FFF2-40B4-BE49-F238E27FC236}">
                <a16:creationId xmlns:a16="http://schemas.microsoft.com/office/drawing/2014/main" id="{A213ABDB-3909-DA41-768B-5F831D29B84B}"/>
              </a:ext>
            </a:extLst>
          </p:cNvPr>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22">
            <a:extLst>
              <a:ext uri="{FF2B5EF4-FFF2-40B4-BE49-F238E27FC236}">
                <a16:creationId xmlns:a16="http://schemas.microsoft.com/office/drawing/2014/main" id="{EF0ED93F-E625-37DF-DFF9-C6A1D1D3BC3E}"/>
              </a:ext>
            </a:extLst>
          </p:cNvPr>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33">
            <a:extLst>
              <a:ext uri="{FF2B5EF4-FFF2-40B4-BE49-F238E27FC236}">
                <a16:creationId xmlns:a16="http://schemas.microsoft.com/office/drawing/2014/main" id="{D68B83DA-34E9-14A9-584F-3BD5891118C6}"/>
              </a:ext>
            </a:extLst>
          </p:cNvPr>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33">
            <a:extLst>
              <a:ext uri="{FF2B5EF4-FFF2-40B4-BE49-F238E27FC236}">
                <a16:creationId xmlns:a16="http://schemas.microsoft.com/office/drawing/2014/main" id="{ACEE5CDF-F232-4203-01AF-C8F289934F6F}"/>
              </a:ext>
            </a:extLst>
          </p:cNvPr>
          <p:cNvSpPr/>
          <p:nvPr/>
        </p:nvSpPr>
        <p:spPr>
          <a:xfrm>
            <a:off x="5958950"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33">
            <a:extLst>
              <a:ext uri="{FF2B5EF4-FFF2-40B4-BE49-F238E27FC236}">
                <a16:creationId xmlns:a16="http://schemas.microsoft.com/office/drawing/2014/main" id="{72D5C43C-A39C-767C-2631-FA66F7346534}"/>
              </a:ext>
            </a:extLst>
          </p:cNvPr>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Who will do what, and when?"/>
          <p:cNvSpPr>
            <a:spLocks noGrp="1"/>
          </p:cNvSpPr>
          <p:nvPr/>
        </p:nvSpPr>
        <p:spPr>
          <a:xfrm>
            <a:off x="838200" y="654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endParaRPr sz="3300" b="1">
              <a:solidFill>
                <a:srgbClr val="04091D"/>
              </a:solidFill>
              <a:latin typeface="Arial" panose="020B0604020202020204"/>
              <a:ea typeface="Arial" panose="020B0604020202020204"/>
              <a:cs typeface="Arial" panose="020B0604020202020204"/>
            </a:endParaRPr>
          </a:p>
        </p:txBody>
      </p:sp>
      <p:sp>
        <p:nvSpPr>
          <p:cNvPr id="3" name="05"/>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15</a:t>
            </a:r>
            <a:endParaRPr sz="1275" b="0" dirty="0">
              <a:solidFill>
                <a:srgbClr val="727580"/>
              </a:solidFill>
              <a:latin typeface="Arial" panose="020B0604020202020204"/>
              <a:ea typeface="Arial" panose="020B0604020202020204"/>
              <a:cs typeface="Arial" panose="020B0604020202020204"/>
            </a:endParaRPr>
          </a:p>
        </p:txBody>
      </p:sp>
      <p:sp>
        <p:nvSpPr>
          <p:cNvPr id="3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dirty="0">
                <a:solidFill>
                  <a:srgbClr val="04091D"/>
                </a:solidFill>
                <a:latin typeface="Arial" panose="020B0604020202020204"/>
                <a:ea typeface="Arial" panose="020B0604020202020204"/>
                <a:cs typeface="Arial" panose="020B0604020202020204"/>
                <a:sym typeface="+mn-ea"/>
              </a:rPr>
              <a:t>5. </a:t>
            </a:r>
            <a:r>
              <a:rPr sz="3300" dirty="0">
                <a:sym typeface="+mn-ea"/>
              </a:rPr>
              <a:t>What makes Mind the Dock different?</a:t>
            </a:r>
          </a:p>
          <a:p>
            <a:pPr>
              <a:spcAft>
                <a:spcPts val="700"/>
              </a:spcAft>
              <a:defRPr sz="2700" b="1">
                <a:solidFill>
                  <a:srgbClr val="091430"/>
                </a:solidFill>
                <a:latin typeface="Aptos"/>
              </a:defRPr>
            </a:pPr>
            <a:endParaRPr lang="en-US" sz="3300" dirty="0">
              <a:sym typeface="+mn-ea"/>
            </a:endParaRPr>
          </a:p>
        </p:txBody>
      </p:sp>
      <p:sp>
        <p:nvSpPr>
          <p:cNvPr id="33" name="矩形 32"/>
          <p:cNvSpPr>
            <a:spLocks noGrp="1"/>
          </p:cNvSpPr>
          <p:nvPr/>
        </p:nvSpPr>
        <p:spPr>
          <a:xfrm>
            <a:off x="584835" y="1148715"/>
            <a:ext cx="11128375" cy="76200"/>
          </a:xfrm>
          <a:prstGeom prst="rect">
            <a:avLst/>
          </a:prstGeom>
          <a:solidFill>
            <a:srgbClr val="0BE4F7"/>
          </a:solidFill>
          <a:ln w="0">
            <a:noFill/>
          </a:ln>
        </p:spPr>
      </p:sp>
      <p:sp>
        <p:nvSpPr>
          <p:cNvPr id="35"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7"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3"/>
          <p:cNvSpPr/>
          <p:nvPr/>
        </p:nvSpPr>
        <p:spPr>
          <a:xfrm>
            <a:off x="6327176"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0" name="组合 49"/>
          <p:cNvGrpSpPr/>
          <p:nvPr/>
        </p:nvGrpSpPr>
        <p:grpSpPr>
          <a:xfrm>
            <a:off x="795655" y="1600200"/>
            <a:ext cx="10533380" cy="932180"/>
            <a:chOff x="1253" y="2520"/>
            <a:chExt cx="16588" cy="1468"/>
          </a:xfrm>
        </p:grpSpPr>
        <p:sp>
          <p:nvSpPr>
            <p:cNvPr id="2" name="Rounded Rectangle 5"/>
            <p:cNvSpPr/>
            <p:nvPr>
              <p:custDataLst>
                <p:tags r:id="rId9"/>
              </p:custDataLst>
            </p:nvPr>
          </p:nvSpPr>
          <p:spPr>
            <a:xfrm>
              <a:off x="1253" y="2520"/>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6"/>
            <p:cNvSpPr txBox="1"/>
            <p:nvPr>
              <p:custDataLst>
                <p:tags r:id="rId10"/>
              </p:custDataLst>
            </p:nvPr>
          </p:nvSpPr>
          <p:spPr>
            <a:xfrm>
              <a:off x="1483" y="2913"/>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1   Temporal exploration</a:t>
              </a:r>
            </a:p>
          </p:txBody>
        </p:sp>
        <p:sp>
          <p:nvSpPr>
            <p:cNvPr id="34" name="TextBox 7"/>
            <p:cNvSpPr txBox="1"/>
            <p:nvPr>
              <p:custDataLst>
                <p:tags r:id="rId11"/>
              </p:custDataLst>
            </p:nvPr>
          </p:nvSpPr>
          <p:spPr>
            <a:xfrm>
              <a:off x="7387" y="2750"/>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Daily Flow visualises how station conditions change, rather than showing only the latest counts.</a:t>
              </a:r>
            </a:p>
          </p:txBody>
        </p:sp>
      </p:grpSp>
      <p:grpSp>
        <p:nvGrpSpPr>
          <p:cNvPr id="49" name="组合 48"/>
          <p:cNvGrpSpPr/>
          <p:nvPr/>
        </p:nvGrpSpPr>
        <p:grpSpPr>
          <a:xfrm>
            <a:off x="795655" y="2758440"/>
            <a:ext cx="10533380" cy="932180"/>
            <a:chOff x="1253" y="4205"/>
            <a:chExt cx="16588" cy="1468"/>
          </a:xfrm>
        </p:grpSpPr>
        <p:sp>
          <p:nvSpPr>
            <p:cNvPr id="40" name="Rounded Rectangle 8"/>
            <p:cNvSpPr/>
            <p:nvPr>
              <p:custDataLst>
                <p:tags r:id="rId6"/>
              </p:custDataLst>
            </p:nvPr>
          </p:nvSpPr>
          <p:spPr>
            <a:xfrm>
              <a:off x="1253" y="4205"/>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9"/>
            <p:cNvSpPr txBox="1"/>
            <p:nvPr>
              <p:custDataLst>
                <p:tags r:id="rId7"/>
              </p:custDataLst>
            </p:nvPr>
          </p:nvSpPr>
          <p:spPr>
            <a:xfrm>
              <a:off x="1483" y="4598"/>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2   Two-sided availability</a:t>
              </a:r>
            </a:p>
          </p:txBody>
        </p:sp>
        <p:sp>
          <p:nvSpPr>
            <p:cNvPr id="42" name="TextBox 10"/>
            <p:cNvSpPr txBox="1"/>
            <p:nvPr>
              <p:custDataLst>
                <p:tags r:id="rId8"/>
              </p:custDataLst>
            </p:nvPr>
          </p:nvSpPr>
          <p:spPr>
            <a:xfrm>
              <a:off x="7387" y="4435"/>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“Find a bike” and “Return a bike” solve different problems with context-aware legends.</a:t>
              </a:r>
            </a:p>
          </p:txBody>
        </p:sp>
      </p:grpSp>
      <p:grpSp>
        <p:nvGrpSpPr>
          <p:cNvPr id="51" name="组合 50"/>
          <p:cNvGrpSpPr/>
          <p:nvPr/>
        </p:nvGrpSpPr>
        <p:grpSpPr>
          <a:xfrm>
            <a:off x="795655" y="3916680"/>
            <a:ext cx="10533380" cy="932180"/>
            <a:chOff x="1253" y="6179"/>
            <a:chExt cx="16588" cy="1468"/>
          </a:xfrm>
        </p:grpSpPr>
        <p:sp>
          <p:nvSpPr>
            <p:cNvPr id="43" name="Rounded Rectangle 11"/>
            <p:cNvSpPr/>
            <p:nvPr>
              <p:custDataLst>
                <p:tags r:id="rId3"/>
              </p:custDataLst>
            </p:nvPr>
          </p:nvSpPr>
          <p:spPr>
            <a:xfrm>
              <a:off x="1253" y="6179"/>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2"/>
            <p:cNvSpPr txBox="1"/>
            <p:nvPr>
              <p:custDataLst>
                <p:tags r:id="rId4"/>
              </p:custDataLst>
            </p:nvPr>
          </p:nvSpPr>
          <p:spPr>
            <a:xfrm>
              <a:off x="1483" y="6572"/>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3   Evidence-informed safety</a:t>
              </a:r>
            </a:p>
          </p:txBody>
        </p:sp>
        <p:sp>
          <p:nvSpPr>
            <p:cNvPr id="45" name="TextBox 13"/>
            <p:cNvSpPr txBox="1"/>
            <p:nvPr>
              <p:custDataLst>
                <p:tags r:id="rId5"/>
              </p:custDataLst>
            </p:nvPr>
          </p:nvSpPr>
          <p:spPr>
            <a:xfrm>
              <a:off x="7387" y="6409"/>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Historic collision filters offer environmental context, with clear uncertainty labels.</a:t>
              </a:r>
            </a:p>
          </p:txBody>
        </p:sp>
      </p:grpSp>
      <p:grpSp>
        <p:nvGrpSpPr>
          <p:cNvPr id="52" name="组合 51"/>
          <p:cNvGrpSpPr/>
          <p:nvPr/>
        </p:nvGrpSpPr>
        <p:grpSpPr>
          <a:xfrm>
            <a:off x="795655" y="5074920"/>
            <a:ext cx="10533380" cy="932180"/>
            <a:chOff x="1253" y="7991"/>
            <a:chExt cx="16588" cy="1468"/>
          </a:xfrm>
        </p:grpSpPr>
        <p:sp>
          <p:nvSpPr>
            <p:cNvPr id="48" name="Rounded Rectangle 14"/>
            <p:cNvSpPr/>
            <p:nvPr/>
          </p:nvSpPr>
          <p:spPr>
            <a:xfrm>
              <a:off x="1253" y="7991"/>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15"/>
            <p:cNvSpPr txBox="1"/>
            <p:nvPr>
              <p:custDataLst>
                <p:tags r:id="rId1"/>
              </p:custDataLst>
            </p:nvPr>
          </p:nvSpPr>
          <p:spPr>
            <a:xfrm>
              <a:off x="1483" y="8384"/>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4   Explainable station insight</a:t>
              </a:r>
            </a:p>
          </p:txBody>
        </p:sp>
        <p:sp>
          <p:nvSpPr>
            <p:cNvPr id="47" name="TextBox 16"/>
            <p:cNvSpPr txBox="1"/>
            <p:nvPr>
              <p:custDataLst>
                <p:tags r:id="rId2"/>
              </p:custDataLst>
            </p:nvPr>
          </p:nvSpPr>
          <p:spPr>
            <a:xfrm>
              <a:off x="7387" y="8222"/>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Compare now versus usual, inspect faults and show data timestamp and source.</a:t>
              </a:r>
            </a:p>
          </p:txBody>
        </p:sp>
      </p:grpSp>
      <p:sp>
        <p:nvSpPr>
          <p:cNvPr id="17" name="Rectangle 33">
            <a:extLst>
              <a:ext uri="{FF2B5EF4-FFF2-40B4-BE49-F238E27FC236}">
                <a16:creationId xmlns:a16="http://schemas.microsoft.com/office/drawing/2014/main" id="{CFD946A2-99D7-B576-64F7-DA0E6B5FA3A4}"/>
              </a:ext>
            </a:extLst>
          </p:cNvPr>
          <p:cNvSpPr/>
          <p:nvPr/>
        </p:nvSpPr>
        <p:spPr>
          <a:xfrm>
            <a:off x="7145401"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Who will do what, and when?"/>
          <p:cNvSpPr>
            <a:spLocks noGrp="1"/>
          </p:cNvSpPr>
          <p:nvPr/>
        </p:nvSpPr>
        <p:spPr>
          <a:xfrm>
            <a:off x="838200" y="654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endParaRPr sz="3300" b="1">
              <a:solidFill>
                <a:srgbClr val="04091D"/>
              </a:solidFill>
              <a:latin typeface="Arial" panose="020B0604020202020204"/>
              <a:ea typeface="Arial" panose="020B0604020202020204"/>
              <a:cs typeface="Arial" panose="020B0604020202020204"/>
            </a:endParaRPr>
          </a:p>
        </p:txBody>
      </p:sp>
      <p:sp>
        <p:nvSpPr>
          <p:cNvPr id="3" name="05"/>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16</a:t>
            </a:r>
            <a:endParaRPr sz="1275" b="0" dirty="0">
              <a:solidFill>
                <a:srgbClr val="727580"/>
              </a:solidFill>
              <a:latin typeface="Arial" panose="020B0604020202020204"/>
              <a:ea typeface="Arial" panose="020B0604020202020204"/>
              <a:cs typeface="Arial" panose="020B0604020202020204"/>
            </a:endParaRPr>
          </a:p>
        </p:txBody>
      </p:sp>
      <p:sp>
        <p:nvSpPr>
          <p:cNvPr id="4" name="Team responsibilities"/>
          <p:cNvSpPr>
            <a:spLocks noGrp="1"/>
          </p:cNvSpPr>
          <p:nvPr/>
        </p:nvSpPr>
        <p:spPr>
          <a:xfrm>
            <a:off x="838200" y="1722755"/>
            <a:ext cx="6191250" cy="381000"/>
          </a:xfrm>
          <a:prstGeom prst="rect">
            <a:avLst/>
          </a:prstGeom>
          <a:noFill/>
          <a:ln w="0">
            <a:noFill/>
          </a:ln>
        </p:spPr>
        <p:txBody>
          <a:bodyPr wrap="square" lIns="0" tIns="0" rIns="0" bIns="0" anchor="t">
            <a:noAutofit/>
          </a:bodyPr>
          <a:lstStyle>
            <a:defPPr>
              <a:defRPr sz="2175" b="1">
                <a:solidFill>
                  <a:srgbClr val="04091D"/>
                </a:solidFill>
                <a:latin typeface="Arial" panose="020B0604020202020204"/>
                <a:ea typeface="Arial" panose="020B0604020202020204"/>
                <a:cs typeface="Arial" panose="020B0604020202020204"/>
              </a:defRPr>
            </a:defPPr>
          </a:lstStyle>
          <a:p>
            <a:pPr>
              <a:lnSpc>
                <a:spcPct val="113000"/>
              </a:lnSpc>
              <a:buNone/>
              <a:defRPr sz="2175" b="1">
                <a:solidFill>
                  <a:srgbClr val="04091D"/>
                </a:solidFill>
                <a:latin typeface="Arial" panose="020B0604020202020204"/>
                <a:ea typeface="Arial" panose="020B0604020202020204"/>
                <a:cs typeface="Arial" panose="020B0604020202020204"/>
              </a:defRPr>
            </a:pPr>
            <a:r>
              <a:rPr sz="2175" b="1">
                <a:solidFill>
                  <a:srgbClr val="04091D"/>
                </a:solidFill>
                <a:latin typeface="Arial" panose="020B0604020202020204"/>
                <a:ea typeface="Arial" panose="020B0604020202020204"/>
                <a:cs typeface="Arial" panose="020B0604020202020204"/>
              </a:rPr>
              <a:t>Team responsibilities</a:t>
            </a:r>
          </a:p>
        </p:txBody>
      </p:sp>
      <p:sp>
        <p:nvSpPr>
          <p:cNvPr id="5" name="Proposed milestones"/>
          <p:cNvSpPr>
            <a:spLocks noGrp="1"/>
          </p:cNvSpPr>
          <p:nvPr/>
        </p:nvSpPr>
        <p:spPr>
          <a:xfrm>
            <a:off x="7762875" y="1722755"/>
            <a:ext cx="3590925" cy="381000"/>
          </a:xfrm>
          <a:prstGeom prst="rect">
            <a:avLst/>
          </a:prstGeom>
          <a:noFill/>
          <a:ln w="0">
            <a:noFill/>
          </a:ln>
        </p:spPr>
        <p:txBody>
          <a:bodyPr wrap="square" lIns="0" tIns="0" rIns="0" bIns="0" anchor="t">
            <a:noAutofit/>
          </a:bodyPr>
          <a:lstStyle>
            <a:defPPr>
              <a:defRPr sz="2175" b="1">
                <a:solidFill>
                  <a:srgbClr val="04091D"/>
                </a:solidFill>
                <a:latin typeface="Arial" panose="020B0604020202020204"/>
                <a:ea typeface="Arial" panose="020B0604020202020204"/>
                <a:cs typeface="Arial" panose="020B0604020202020204"/>
              </a:defRPr>
            </a:defPPr>
          </a:lstStyle>
          <a:p>
            <a:pPr>
              <a:lnSpc>
                <a:spcPct val="113000"/>
              </a:lnSpc>
              <a:buNone/>
              <a:defRPr sz="2175" b="1">
                <a:solidFill>
                  <a:srgbClr val="04091D"/>
                </a:solidFill>
                <a:latin typeface="Arial" panose="020B0604020202020204"/>
                <a:ea typeface="Arial" panose="020B0604020202020204"/>
                <a:cs typeface="Arial" panose="020B0604020202020204"/>
              </a:defRPr>
            </a:pPr>
            <a:r>
              <a:rPr sz="2175" b="1">
                <a:solidFill>
                  <a:srgbClr val="04091D"/>
                </a:solidFill>
                <a:latin typeface="Arial" panose="020B0604020202020204"/>
                <a:ea typeface="Arial" panose="020B0604020202020204"/>
                <a:cs typeface="Arial" panose="020B0604020202020204"/>
              </a:rPr>
              <a:t>Proposed milestones</a:t>
            </a:r>
          </a:p>
        </p:txBody>
      </p:sp>
      <p:sp>
        <p:nvSpPr>
          <p:cNvPr id="6" name="Yifei Gong"/>
          <p:cNvSpPr>
            <a:spLocks noGrp="1"/>
          </p:cNvSpPr>
          <p:nvPr/>
        </p:nvSpPr>
        <p:spPr>
          <a:xfrm>
            <a:off x="838200" y="23228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Yifei Gong</a:t>
            </a:r>
          </a:p>
        </p:txBody>
      </p:sp>
      <p:sp>
        <p:nvSpPr>
          <p:cNvPr id="7" name="Express API, collection, deployment"/>
          <p:cNvSpPr>
            <a:spLocks noGrp="1"/>
          </p:cNvSpPr>
          <p:nvPr/>
        </p:nvSpPr>
        <p:spPr>
          <a:xfrm>
            <a:off x="3095625" y="23323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Express API, collection, deployment</a:t>
            </a:r>
          </a:p>
        </p:txBody>
      </p:sp>
      <p:sp>
        <p:nvSpPr>
          <p:cNvPr id="8" name="Jialing Zhao"/>
          <p:cNvSpPr>
            <a:spLocks noGrp="1"/>
          </p:cNvSpPr>
          <p:nvPr/>
        </p:nvSpPr>
        <p:spPr>
          <a:xfrm>
            <a:off x="838200" y="29324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Jialing Zhao</a:t>
            </a:r>
          </a:p>
        </p:txBody>
      </p:sp>
      <p:sp>
        <p:nvSpPr>
          <p:cNvPr id="9" name="MySQL setup and Python analysis"/>
          <p:cNvSpPr>
            <a:spLocks noGrp="1"/>
          </p:cNvSpPr>
          <p:nvPr/>
        </p:nvSpPr>
        <p:spPr>
          <a:xfrm>
            <a:off x="3095625" y="29419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MySQL setup and Python analysis</a:t>
            </a:r>
          </a:p>
        </p:txBody>
      </p:sp>
      <p:sp>
        <p:nvSpPr>
          <p:cNvPr id="10" name="Zeyu Cheng"/>
          <p:cNvSpPr>
            <a:spLocks noGrp="1"/>
          </p:cNvSpPr>
          <p:nvPr/>
        </p:nvSpPr>
        <p:spPr>
          <a:xfrm>
            <a:off x="838200" y="35420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Zeyu Cheng</a:t>
            </a:r>
          </a:p>
        </p:txBody>
      </p:sp>
      <p:sp>
        <p:nvSpPr>
          <p:cNvPr id="11" name="Leaflet map, station panel and charts"/>
          <p:cNvSpPr>
            <a:spLocks noGrp="1"/>
          </p:cNvSpPr>
          <p:nvPr/>
        </p:nvSpPr>
        <p:spPr>
          <a:xfrm>
            <a:off x="3095625" y="35515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Leaflet map, station panel and charts</a:t>
            </a:r>
          </a:p>
        </p:txBody>
      </p:sp>
      <p:sp>
        <p:nvSpPr>
          <p:cNvPr id="12" name="Jiahan Xie"/>
          <p:cNvSpPr>
            <a:spLocks noGrp="1"/>
          </p:cNvSpPr>
          <p:nvPr/>
        </p:nvSpPr>
        <p:spPr>
          <a:xfrm>
            <a:off x="838200" y="41516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Jiahan Xie</a:t>
            </a:r>
          </a:p>
        </p:txBody>
      </p:sp>
      <p:sp>
        <p:nvSpPr>
          <p:cNvPr id="13" name="Wireframes, CSS and interface testing"/>
          <p:cNvSpPr>
            <a:spLocks noGrp="1"/>
          </p:cNvSpPr>
          <p:nvPr/>
        </p:nvSpPr>
        <p:spPr>
          <a:xfrm>
            <a:off x="3095625" y="4161155"/>
            <a:ext cx="427736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dirty="0">
                <a:solidFill>
                  <a:srgbClr val="3A3C52"/>
                </a:solidFill>
                <a:latin typeface="Arial" panose="020B0604020202020204"/>
                <a:ea typeface="Arial" panose="020B0604020202020204"/>
                <a:cs typeface="Arial" panose="020B0604020202020204"/>
              </a:rPr>
              <a:t>Wireframes, CSS and </a:t>
            </a:r>
            <a:r>
              <a:rPr lang="en-US" sz="1725" b="0" dirty="0">
                <a:solidFill>
                  <a:srgbClr val="3A3C52"/>
                </a:solidFill>
                <a:latin typeface="Arial" panose="020B0604020202020204"/>
                <a:ea typeface="Arial" panose="020B0604020202020204"/>
                <a:cs typeface="Arial" panose="020B0604020202020204"/>
              </a:rPr>
              <a:t>interactive </a:t>
            </a:r>
            <a:r>
              <a:rPr sz="1725" b="0" dirty="0">
                <a:solidFill>
                  <a:srgbClr val="3A3C52"/>
                </a:solidFill>
                <a:latin typeface="Arial" panose="020B0604020202020204"/>
                <a:ea typeface="Arial" panose="020B0604020202020204"/>
                <a:cs typeface="Arial" panose="020B0604020202020204"/>
              </a:rPr>
              <a:t>interface</a:t>
            </a:r>
          </a:p>
        </p:txBody>
      </p:sp>
      <p:sp>
        <p:nvSpPr>
          <p:cNvPr id="14" name="Shamima Akhtar"/>
          <p:cNvSpPr>
            <a:spLocks noGrp="1"/>
          </p:cNvSpPr>
          <p:nvPr/>
        </p:nvSpPr>
        <p:spPr>
          <a:xfrm>
            <a:off x="838200" y="47612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Shamima Akhtar</a:t>
            </a:r>
          </a:p>
        </p:txBody>
      </p:sp>
      <p:sp>
        <p:nvSpPr>
          <p:cNvPr id="15" name="Other pages, research and user tests"/>
          <p:cNvSpPr>
            <a:spLocks noGrp="1"/>
          </p:cNvSpPr>
          <p:nvPr/>
        </p:nvSpPr>
        <p:spPr>
          <a:xfrm>
            <a:off x="3095624" y="4770755"/>
            <a:ext cx="4295775"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defRPr sz="1725" b="0">
                <a:solidFill>
                  <a:srgbClr val="3A3C52"/>
                </a:solidFill>
                <a:latin typeface="Arial" panose="020B0604020202020204"/>
                <a:ea typeface="Arial" panose="020B0604020202020204"/>
                <a:cs typeface="Arial" panose="020B0604020202020204"/>
              </a:defRPr>
            </a:pPr>
            <a:r>
              <a:rPr lang="zh-CN" altLang="zh-CN" sz="1725" dirty="0">
                <a:solidFill>
                  <a:srgbClr val="3A3C52"/>
                </a:solidFill>
                <a:latin typeface="Arial" panose="020B0604020202020204"/>
              </a:rPr>
              <a:t>UX Design, Research and Testing</a:t>
            </a:r>
            <a:endParaRPr sz="1725" b="0" dirty="0">
              <a:solidFill>
                <a:srgbClr val="3A3C52"/>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7372350" y="2237105"/>
            <a:ext cx="19050" cy="3143250"/>
          </a:xfrm>
          <a:prstGeom prst="rect">
            <a:avLst/>
          </a:prstGeom>
          <a:solidFill>
            <a:srgbClr val="DDE0E5"/>
          </a:solidFill>
          <a:ln w="0">
            <a:noFill/>
          </a:ln>
        </p:spPr>
      </p:sp>
      <p:sp>
        <p:nvSpPr>
          <p:cNvPr id="17" name="18-21 Oct"/>
          <p:cNvSpPr>
            <a:spLocks noGrp="1"/>
          </p:cNvSpPr>
          <p:nvPr/>
        </p:nvSpPr>
        <p:spPr>
          <a:xfrm>
            <a:off x="7762875" y="22942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18-21 Oct</a:t>
            </a:r>
          </a:p>
        </p:txBody>
      </p:sp>
      <p:sp>
        <p:nvSpPr>
          <p:cNvPr id="18" name="Collection and database"/>
          <p:cNvSpPr>
            <a:spLocks noGrp="1"/>
          </p:cNvSpPr>
          <p:nvPr/>
        </p:nvSpPr>
        <p:spPr>
          <a:xfrm>
            <a:off x="7762875" y="25704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Collection and database</a:t>
            </a:r>
          </a:p>
        </p:txBody>
      </p:sp>
      <p:sp>
        <p:nvSpPr>
          <p:cNvPr id="19" name="22-28 Oct"/>
          <p:cNvSpPr>
            <a:spLocks noGrp="1"/>
          </p:cNvSpPr>
          <p:nvPr/>
        </p:nvSpPr>
        <p:spPr>
          <a:xfrm>
            <a:off x="7762875" y="29038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22-28 Oct</a:t>
            </a:r>
          </a:p>
        </p:txBody>
      </p:sp>
      <p:sp>
        <p:nvSpPr>
          <p:cNvPr id="20" name="Live map and station panel"/>
          <p:cNvSpPr>
            <a:spLocks noGrp="1"/>
          </p:cNvSpPr>
          <p:nvPr/>
        </p:nvSpPr>
        <p:spPr>
          <a:xfrm>
            <a:off x="7762875" y="31800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Live map and station panel</a:t>
            </a:r>
          </a:p>
        </p:txBody>
      </p:sp>
      <p:sp>
        <p:nvSpPr>
          <p:cNvPr id="21" name="29 Oct-3 Nov"/>
          <p:cNvSpPr>
            <a:spLocks noGrp="1"/>
          </p:cNvSpPr>
          <p:nvPr/>
        </p:nvSpPr>
        <p:spPr>
          <a:xfrm>
            <a:off x="7762875" y="35134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29 Oct-3 Nov</a:t>
            </a:r>
          </a:p>
        </p:txBody>
      </p:sp>
      <p:sp>
        <p:nvSpPr>
          <p:cNvPr id="22" name="Analysis and collision layer"/>
          <p:cNvSpPr>
            <a:spLocks noGrp="1"/>
          </p:cNvSpPr>
          <p:nvPr/>
        </p:nvSpPr>
        <p:spPr>
          <a:xfrm>
            <a:off x="7762875" y="37896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Analysis and collision layer</a:t>
            </a:r>
          </a:p>
        </p:txBody>
      </p:sp>
      <p:sp>
        <p:nvSpPr>
          <p:cNvPr id="23" name="4-12 Nov"/>
          <p:cNvSpPr>
            <a:spLocks noGrp="1"/>
          </p:cNvSpPr>
          <p:nvPr/>
        </p:nvSpPr>
        <p:spPr>
          <a:xfrm>
            <a:off x="7762875" y="41230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4-12 Nov</a:t>
            </a:r>
          </a:p>
        </p:txBody>
      </p:sp>
      <p:sp>
        <p:nvSpPr>
          <p:cNvPr id="24" name="User tests and report"/>
          <p:cNvSpPr>
            <a:spLocks noGrp="1"/>
          </p:cNvSpPr>
          <p:nvPr/>
        </p:nvSpPr>
        <p:spPr>
          <a:xfrm>
            <a:off x="7762875" y="43992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User tests and report</a:t>
            </a:r>
          </a:p>
        </p:txBody>
      </p:sp>
      <p:sp>
        <p:nvSpPr>
          <p:cNvPr id="25" name="13-15 Nov"/>
          <p:cNvSpPr>
            <a:spLocks noGrp="1"/>
          </p:cNvSpPr>
          <p:nvPr/>
        </p:nvSpPr>
        <p:spPr>
          <a:xfrm>
            <a:off x="7762875" y="47326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13-15 Nov</a:t>
            </a:r>
          </a:p>
        </p:txBody>
      </p:sp>
      <p:sp>
        <p:nvSpPr>
          <p:cNvPr id="26" name="Final checks and submission"/>
          <p:cNvSpPr>
            <a:spLocks noGrp="1"/>
          </p:cNvSpPr>
          <p:nvPr/>
        </p:nvSpPr>
        <p:spPr>
          <a:xfrm>
            <a:off x="7762875" y="50088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Final checks and submission</a:t>
            </a:r>
          </a:p>
        </p:txBody>
      </p:sp>
      <p:sp>
        <p:nvSpPr>
          <p:cNvPr id="27" name="矩形 26"/>
          <p:cNvSpPr>
            <a:spLocks noGrp="1"/>
          </p:cNvSpPr>
          <p:nvPr/>
        </p:nvSpPr>
        <p:spPr>
          <a:xfrm>
            <a:off x="838200" y="5704840"/>
            <a:ext cx="10515600" cy="28575"/>
          </a:xfrm>
          <a:prstGeom prst="rect">
            <a:avLst/>
          </a:prstGeom>
          <a:solidFill>
            <a:srgbClr val="0BE4F7"/>
          </a:solidFill>
          <a:ln w="0">
            <a:noFill/>
          </a:ln>
        </p:spPr>
      </p:sp>
      <p:sp>
        <p:nvSpPr>
          <p:cNvPr id="28" name="Everyone documents their work, commits regularly and reviews the "/>
          <p:cNvSpPr>
            <a:spLocks noGrp="1"/>
          </p:cNvSpPr>
          <p:nvPr/>
        </p:nvSpPr>
        <p:spPr>
          <a:xfrm>
            <a:off x="838200" y="5980430"/>
            <a:ext cx="10515600" cy="590550"/>
          </a:xfrm>
          <a:prstGeom prst="rect">
            <a:avLst/>
          </a:prstGeom>
          <a:noFill/>
          <a:ln w="0">
            <a:noFill/>
          </a:ln>
        </p:spPr>
        <p:txBody>
          <a:bodyPr wrap="square" lIns="0" tIns="0" rIns="0" bIns="0" anchor="t">
            <a:noAutofit/>
          </a:bodyPr>
          <a:lstStyle>
            <a:defPPr>
              <a:defRPr sz="1800" b="0">
                <a:solidFill>
                  <a:srgbClr val="3A3C52"/>
                </a:solidFill>
                <a:latin typeface="Arial" panose="020B0604020202020204"/>
                <a:ea typeface="Arial" panose="020B0604020202020204"/>
                <a:cs typeface="Arial" panose="020B0604020202020204"/>
              </a:defRPr>
            </a:defPPr>
          </a:lstStyle>
          <a:p>
            <a:pPr>
              <a:lnSpc>
                <a:spcPct val="113000"/>
              </a:lnSpc>
              <a:buNone/>
              <a:defRPr sz="1800" b="0">
                <a:solidFill>
                  <a:srgbClr val="3A3C52"/>
                </a:solidFill>
                <a:latin typeface="Arial" panose="020B0604020202020204"/>
                <a:ea typeface="Arial" panose="020B0604020202020204"/>
                <a:cs typeface="Arial" panose="020B0604020202020204"/>
              </a:defRPr>
            </a:pPr>
            <a:r>
              <a:rPr sz="1800" b="0">
                <a:solidFill>
                  <a:srgbClr val="3A3C52"/>
                </a:solidFill>
                <a:latin typeface="Arial" panose="020B0604020202020204"/>
                <a:ea typeface="Arial" panose="020B0604020202020204"/>
                <a:cs typeface="Arial" panose="020B0604020202020204"/>
              </a:rPr>
              <a:t>Everyone documents their work, commits regularly and reviews the team’s changes.</a:t>
            </a:r>
          </a:p>
        </p:txBody>
      </p:sp>
      <p:sp>
        <p:nvSpPr>
          <p:cNvPr id="3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dirty="0">
                <a:solidFill>
                  <a:srgbClr val="04091D"/>
                </a:solidFill>
                <a:latin typeface="Arial" panose="020B0604020202020204"/>
                <a:ea typeface="Arial" panose="020B0604020202020204"/>
                <a:cs typeface="Arial" panose="020B0604020202020204"/>
                <a:sym typeface="+mn-ea"/>
              </a:rPr>
              <a:t>6. </a:t>
            </a:r>
            <a:r>
              <a:rPr sz="3300" dirty="0">
                <a:solidFill>
                  <a:srgbClr val="04091D"/>
                </a:solidFill>
                <a:latin typeface="Arial" panose="020B0604020202020204"/>
                <a:ea typeface="Arial" panose="020B0604020202020204"/>
                <a:cs typeface="Arial" panose="020B0604020202020204"/>
                <a:sym typeface="+mn-ea"/>
              </a:rPr>
              <a:t>Who will do what, and when?</a:t>
            </a:r>
            <a:r>
              <a:rPr sz="3300" dirty="0">
                <a:sym typeface="+mn-ea"/>
              </a:rPr>
              <a:t> </a:t>
            </a:r>
            <a:endParaRPr lang="en-US" sz="3300" dirty="0">
              <a:sym typeface="+mn-ea"/>
            </a:endParaRPr>
          </a:p>
        </p:txBody>
      </p:sp>
      <p:sp>
        <p:nvSpPr>
          <p:cNvPr id="33" name="矩形 32"/>
          <p:cNvSpPr>
            <a:spLocks noGrp="1"/>
          </p:cNvSpPr>
          <p:nvPr/>
        </p:nvSpPr>
        <p:spPr>
          <a:xfrm>
            <a:off x="584835" y="1148715"/>
            <a:ext cx="11128375" cy="76200"/>
          </a:xfrm>
          <a:prstGeom prst="rect">
            <a:avLst/>
          </a:prstGeom>
          <a:solidFill>
            <a:srgbClr val="0BE4F7"/>
          </a:solidFill>
          <a:ln w="0">
            <a:noFill/>
          </a:ln>
        </p:spPr>
      </p:sp>
      <p:sp>
        <p:nvSpPr>
          <p:cNvPr id="35"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7"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3"/>
          <p:cNvSpPr/>
          <p:nvPr/>
        </p:nvSpPr>
        <p:spPr>
          <a:xfrm>
            <a:off x="534111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33">
            <a:extLst>
              <a:ext uri="{FF2B5EF4-FFF2-40B4-BE49-F238E27FC236}">
                <a16:creationId xmlns:a16="http://schemas.microsoft.com/office/drawing/2014/main" id="{EB993E97-E901-2A3D-1804-B2042A13D156}"/>
              </a:ext>
            </a:extLst>
          </p:cNvPr>
          <p:cNvSpPr/>
          <p:nvPr/>
        </p:nvSpPr>
        <p:spPr>
          <a:xfrm>
            <a:off x="597039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CECBD60D-0D0D-7ACE-B107-537D27AAD4C7}"/>
              </a:ext>
            </a:extLst>
          </p:cNvPr>
          <p:cNvSpPr/>
          <p:nvPr/>
        </p:nvSpPr>
        <p:spPr>
          <a:xfrm>
            <a:off x="8471599"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A8283-C537-72DA-D002-A26074F6742E}"/>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D518CE3C-D310-690C-A689-9CD5C4E936DC}"/>
              </a:ext>
            </a:extLst>
          </p:cNvPr>
          <p:cNvPicPr>
            <a:picLocks noChangeAspect="1"/>
          </p:cNvPicPr>
          <p:nvPr/>
        </p:nvPicPr>
        <p:blipFill>
          <a:blip r:embed="rId3"/>
          <a:srcRect t="44" b="44"/>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5CC0244-1E11-AE68-E886-6519DC9B876E}"/>
              </a:ext>
            </a:extLst>
          </p:cNvPr>
          <p:cNvSpPr>
            <a:spLocks noGrp="1"/>
          </p:cNvSpPr>
          <p:nvPr/>
        </p:nvSpPr>
        <p:spPr>
          <a:xfrm>
            <a:off x="0" y="0"/>
            <a:ext cx="12192000" cy="6858000"/>
          </a:xfrm>
          <a:prstGeom prst="rect">
            <a:avLst/>
          </a:prstGeom>
          <a:gradFill>
            <a:gsLst>
              <a:gs pos="0">
                <a:srgbClr val="04091D"/>
              </a:gs>
              <a:gs pos="48000">
                <a:srgbClr val="04091D">
                  <a:alpha val="94000"/>
                </a:srgbClr>
              </a:gs>
              <a:gs pos="100000">
                <a:srgbClr val="04091D">
                  <a:alpha val="15000"/>
                </a:srgbClr>
              </a:gs>
            </a:gsLst>
            <a:lin ang="0"/>
          </a:gradFill>
          <a:ln w="0">
            <a:noFill/>
          </a:ln>
        </p:spPr>
      </p:sp>
      <p:sp>
        <p:nvSpPr>
          <p:cNvPr id="3" name="CASA0017  /  GROUP PROJECT PITCH">
            <a:extLst>
              <a:ext uri="{FF2B5EF4-FFF2-40B4-BE49-F238E27FC236}">
                <a16:creationId xmlns:a16="http://schemas.microsoft.com/office/drawing/2014/main" id="{BE016290-36A1-1C65-6B22-F43EF91E2BFC}"/>
              </a:ext>
            </a:extLst>
          </p:cNvPr>
          <p:cNvSpPr>
            <a:spLocks noGrp="1"/>
          </p:cNvSpPr>
          <p:nvPr/>
        </p:nvSpPr>
        <p:spPr>
          <a:xfrm>
            <a:off x="838200" y="866775"/>
            <a:ext cx="8572500" cy="333375"/>
          </a:xfrm>
          <a:prstGeom prst="rect">
            <a:avLst/>
          </a:prstGeom>
          <a:noFill/>
          <a:ln w="0">
            <a:noFill/>
          </a:ln>
        </p:spPr>
        <p:txBody>
          <a:bodyPr wrap="square" lIns="0" tIns="0" rIns="0" bIns="0" anchor="t">
            <a:noAutofit/>
          </a:bodyPr>
          <a:lstStyle>
            <a:defPPr>
              <a:defRPr sz="1725" b="1">
                <a:solidFill>
                  <a:srgbClr val="0BE4F7"/>
                </a:solidFill>
                <a:latin typeface="Arial" panose="020B0604020202020204"/>
                <a:ea typeface="Arial" panose="020B0604020202020204"/>
                <a:cs typeface="Arial" panose="020B0604020202020204"/>
              </a:defRPr>
            </a:defPPr>
          </a:lstStyle>
          <a:p>
            <a:pPr>
              <a:lnSpc>
                <a:spcPct val="113000"/>
              </a:lnSpc>
              <a:buNone/>
              <a:defRPr sz="1725" b="1">
                <a:solidFill>
                  <a:srgbClr val="0BE4F7"/>
                </a:solidFill>
                <a:latin typeface="Arial" panose="020B0604020202020204"/>
                <a:ea typeface="Arial" panose="020B0604020202020204"/>
                <a:cs typeface="Arial" panose="020B0604020202020204"/>
              </a:defRPr>
            </a:pPr>
            <a:r>
              <a:rPr sz="1725" b="1">
                <a:solidFill>
                  <a:srgbClr val="0BE4F7"/>
                </a:solidFill>
                <a:latin typeface="Arial" panose="020B0604020202020204"/>
                <a:ea typeface="Arial" panose="020B0604020202020204"/>
                <a:cs typeface="Arial" panose="020B0604020202020204"/>
              </a:rPr>
              <a:t>CASA0017  /  GROUP PROJECT PITCH</a:t>
            </a:r>
          </a:p>
        </p:txBody>
      </p:sp>
      <p:sp>
        <p:nvSpPr>
          <p:cNvPr id="4" name="Mind the Dock">
            <a:extLst>
              <a:ext uri="{FF2B5EF4-FFF2-40B4-BE49-F238E27FC236}">
                <a16:creationId xmlns:a16="http://schemas.microsoft.com/office/drawing/2014/main" id="{82168F40-FB37-866C-4768-21D32EE10F1F}"/>
              </a:ext>
            </a:extLst>
          </p:cNvPr>
          <p:cNvSpPr>
            <a:spLocks noGrp="1"/>
          </p:cNvSpPr>
          <p:nvPr/>
        </p:nvSpPr>
        <p:spPr>
          <a:xfrm>
            <a:off x="838200" y="1571625"/>
            <a:ext cx="10191750" cy="952500"/>
          </a:xfrm>
          <a:prstGeom prst="rect">
            <a:avLst/>
          </a:prstGeom>
          <a:noFill/>
          <a:ln w="0">
            <a:noFill/>
          </a:ln>
        </p:spPr>
        <p:txBody>
          <a:bodyPr wrap="square" lIns="0" tIns="0" rIns="0" bIns="0" anchor="t">
            <a:noAutofit/>
          </a:bodyPr>
          <a:lstStyle>
            <a:defPPr>
              <a:defRPr sz="6000" b="1">
                <a:solidFill>
                  <a:srgbClr val="FFFFFF"/>
                </a:solidFill>
                <a:latin typeface="Arial" panose="020B0604020202020204"/>
                <a:ea typeface="Arial" panose="020B0604020202020204"/>
                <a:cs typeface="Arial" panose="020B0604020202020204"/>
              </a:defRPr>
            </a:defPPr>
          </a:lstStyle>
          <a:p>
            <a:pPr>
              <a:lnSpc>
                <a:spcPct val="113000"/>
              </a:lnSpc>
              <a:buNone/>
              <a:defRPr sz="6000" b="1">
                <a:solidFill>
                  <a:srgbClr val="FFFFFF"/>
                </a:solidFill>
                <a:latin typeface="Arial" panose="020B0604020202020204"/>
                <a:ea typeface="Arial" panose="020B0604020202020204"/>
                <a:cs typeface="Arial" panose="020B0604020202020204"/>
              </a:defRPr>
            </a:pPr>
            <a:r>
              <a:rPr lang="en-US" sz="11500" b="1" dirty="0">
                <a:solidFill>
                  <a:srgbClr val="FFFFFF"/>
                </a:solidFill>
                <a:latin typeface="Arial" panose="020B0604020202020204"/>
                <a:ea typeface="Arial" panose="020B0604020202020204"/>
                <a:cs typeface="Arial" panose="020B0604020202020204"/>
              </a:rPr>
              <a:t>THANKS</a:t>
            </a:r>
            <a:endParaRPr sz="11500" b="1" dirty="0">
              <a:solidFill>
                <a:srgbClr val="FFFFFF"/>
              </a:solidFill>
              <a:latin typeface="Arial" panose="020B0604020202020204"/>
              <a:ea typeface="Arial" panose="020B0604020202020204"/>
              <a:cs typeface="Arial" panose="020B0604020202020204"/>
            </a:endParaRPr>
          </a:p>
        </p:txBody>
      </p:sp>
      <p:sp>
        <p:nvSpPr>
          <p:cNvPr id="6" name="404 Group Not Found">
            <a:extLst>
              <a:ext uri="{FF2B5EF4-FFF2-40B4-BE49-F238E27FC236}">
                <a16:creationId xmlns:a16="http://schemas.microsoft.com/office/drawing/2014/main" id="{DD02A532-6029-DD2C-C068-CF35019B4D0B}"/>
              </a:ext>
            </a:extLst>
          </p:cNvPr>
          <p:cNvSpPr>
            <a:spLocks noGrp="1"/>
          </p:cNvSpPr>
          <p:nvPr/>
        </p:nvSpPr>
        <p:spPr>
          <a:xfrm>
            <a:off x="838200" y="3900170"/>
            <a:ext cx="8096250" cy="476250"/>
          </a:xfrm>
          <a:prstGeom prst="rect">
            <a:avLst/>
          </a:prstGeom>
          <a:noFill/>
          <a:ln w="0">
            <a:noFill/>
          </a:ln>
        </p:spPr>
        <p:txBody>
          <a:bodyPr wrap="square" lIns="0" tIns="0" rIns="0" bIns="0" anchor="t">
            <a:noAutofit/>
          </a:bodyPr>
          <a:lstStyle>
            <a:defPPr>
              <a:defRPr sz="2400" b="1">
                <a:solidFill>
                  <a:srgbClr val="0BE4F7"/>
                </a:solidFill>
                <a:latin typeface="Arial" panose="020B0604020202020204"/>
                <a:ea typeface="Arial" panose="020B0604020202020204"/>
                <a:cs typeface="Arial" panose="020B0604020202020204"/>
              </a:defRPr>
            </a:defPPr>
          </a:lstStyle>
          <a:p>
            <a:pPr>
              <a:lnSpc>
                <a:spcPct val="113000"/>
              </a:lnSpc>
              <a:buNone/>
              <a:defRPr sz="2400" b="1">
                <a:solidFill>
                  <a:srgbClr val="0BE4F7"/>
                </a:solidFill>
                <a:latin typeface="Arial" panose="020B0604020202020204"/>
                <a:ea typeface="Arial" panose="020B0604020202020204"/>
                <a:cs typeface="Arial" panose="020B0604020202020204"/>
              </a:defRPr>
            </a:pPr>
            <a:r>
              <a:rPr sz="2800" b="1">
                <a:solidFill>
                  <a:srgbClr val="0BE4F7"/>
                </a:solidFill>
                <a:latin typeface="Arial" panose="020B0604020202020204"/>
                <a:ea typeface="Arial" panose="020B0604020202020204"/>
                <a:cs typeface="Arial" panose="020B0604020202020204"/>
              </a:rPr>
              <a:t>404 Group Not Found</a:t>
            </a:r>
          </a:p>
        </p:txBody>
      </p:sp>
      <p:sp>
        <p:nvSpPr>
          <p:cNvPr id="7" name="Yifei Gong, Jiahan Xie, Zeyu Cheng, Jialing Zhao and Shamima Akht">
            <a:extLst>
              <a:ext uri="{FF2B5EF4-FFF2-40B4-BE49-F238E27FC236}">
                <a16:creationId xmlns:a16="http://schemas.microsoft.com/office/drawing/2014/main" id="{34241EEF-FACD-785C-2AC3-814F416729DC}"/>
              </a:ext>
            </a:extLst>
          </p:cNvPr>
          <p:cNvSpPr>
            <a:spLocks noGrp="1"/>
          </p:cNvSpPr>
          <p:nvPr/>
        </p:nvSpPr>
        <p:spPr>
          <a:xfrm>
            <a:off x="838200" y="4524375"/>
            <a:ext cx="8572500" cy="857250"/>
          </a:xfrm>
          <a:prstGeom prst="rect">
            <a:avLst/>
          </a:prstGeom>
          <a:noFill/>
          <a:ln w="0">
            <a:noFill/>
          </a:ln>
        </p:spPr>
        <p:txBody>
          <a:bodyPr wrap="square" lIns="0" tIns="0" rIns="0" bIns="0" anchor="t">
            <a:noAutofit/>
          </a:bodyPr>
          <a:lstStyle>
            <a:defPPr>
              <a:defRPr sz="1950" b="0">
                <a:solidFill>
                  <a:srgbClr val="FFFFFF"/>
                </a:solidFill>
                <a:latin typeface="Arial" panose="020B0604020202020204"/>
                <a:ea typeface="Arial" panose="020B0604020202020204"/>
                <a:cs typeface="Arial" panose="020B0604020202020204"/>
              </a:defRPr>
            </a:defPPr>
          </a:lstStyle>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Yifei Gong, Jiahan Xie, Zeyu Cheng,</a:t>
            </a:r>
          </a:p>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Jialing Zhao and Shamima Akhtar</a:t>
            </a:r>
          </a:p>
        </p:txBody>
      </p:sp>
      <p:sp>
        <p:nvSpPr>
          <p:cNvPr id="8" name="UCL CASA Connected Environments MSc">
            <a:extLst>
              <a:ext uri="{FF2B5EF4-FFF2-40B4-BE49-F238E27FC236}">
                <a16:creationId xmlns:a16="http://schemas.microsoft.com/office/drawing/2014/main" id="{4FBCEB00-2392-3C4D-1C04-1DFD85DBD737}"/>
              </a:ext>
            </a:extLst>
          </p:cNvPr>
          <p:cNvSpPr>
            <a:spLocks noGrp="1"/>
          </p:cNvSpPr>
          <p:nvPr/>
        </p:nvSpPr>
        <p:spPr>
          <a:xfrm>
            <a:off x="838200" y="5753100"/>
            <a:ext cx="7620000" cy="304800"/>
          </a:xfrm>
          <a:prstGeom prst="rect">
            <a:avLst/>
          </a:prstGeom>
          <a:noFill/>
          <a:ln w="0">
            <a:noFill/>
          </a:ln>
        </p:spPr>
        <p:txBody>
          <a:bodyPr wrap="square" lIns="0" tIns="0" rIns="0" bIns="0" anchor="t">
            <a:noAutofit/>
          </a:bodyPr>
          <a:lstStyle>
            <a:defPPr>
              <a:defRPr sz="1500" b="0">
                <a:solidFill>
                  <a:srgbClr val="D2D6DF"/>
                </a:solidFill>
                <a:latin typeface="Arial" panose="020B0604020202020204"/>
                <a:ea typeface="Arial" panose="020B0604020202020204"/>
                <a:cs typeface="Arial" panose="020B0604020202020204"/>
              </a:defRPr>
            </a:defPPr>
          </a:lstStyle>
          <a:p>
            <a:pPr>
              <a:lnSpc>
                <a:spcPct val="113000"/>
              </a:lnSpc>
              <a:buNone/>
              <a:defRPr sz="1500" b="0">
                <a:solidFill>
                  <a:srgbClr val="D2D6DF"/>
                </a:solidFill>
                <a:latin typeface="Arial" panose="020B0604020202020204"/>
                <a:ea typeface="Arial" panose="020B0604020202020204"/>
                <a:cs typeface="Arial" panose="020B0604020202020204"/>
              </a:defRPr>
            </a:pPr>
            <a:r>
              <a:rPr sz="1600" b="0" dirty="0">
                <a:solidFill>
                  <a:srgbClr val="D2D6DF"/>
                </a:solidFill>
                <a:latin typeface="Arial" panose="020B0604020202020204"/>
                <a:ea typeface="Arial" panose="020B0604020202020204"/>
                <a:cs typeface="Arial" panose="020B0604020202020204"/>
              </a:rPr>
              <a:t>UCL CASA Connected Environments</a:t>
            </a:r>
            <a:r>
              <a:rPr lang="zh-CN" altLang="en-US" sz="1600" b="0" dirty="0">
                <a:solidFill>
                  <a:srgbClr val="D2D6DF"/>
                </a:solidFill>
                <a:latin typeface="Arial" panose="020B0604020202020204"/>
                <a:ea typeface="Arial" panose="020B0604020202020204"/>
                <a:cs typeface="Arial" panose="020B0604020202020204"/>
              </a:rPr>
              <a:t> </a:t>
            </a:r>
            <a:r>
              <a:rPr lang="en-US" sz="1600" b="0" dirty="0">
                <a:solidFill>
                  <a:srgbClr val="D2D6DF"/>
                </a:solidFill>
                <a:latin typeface="Arial" panose="020B0604020202020204"/>
                <a:ea typeface="Arial" panose="020B0604020202020204"/>
                <a:cs typeface="Arial" panose="020B0604020202020204"/>
              </a:rPr>
              <a:t>MSc</a:t>
            </a:r>
            <a:endParaRPr sz="1600" b="0" dirty="0">
              <a:solidFill>
                <a:srgbClr val="D2D6DF"/>
              </a:solidFill>
              <a:latin typeface="Arial" panose="020B0604020202020204"/>
              <a:ea typeface="Arial" panose="020B0604020202020204"/>
              <a:cs typeface="Arial" panose="020B0604020202020204"/>
            </a:endParaRPr>
          </a:p>
        </p:txBody>
      </p:sp>
    </p:spTree>
    <p:extLst>
      <p:ext uri="{BB962C8B-B14F-4D97-AF65-F5344CB8AC3E}">
        <p14:creationId xmlns:p14="http://schemas.microsoft.com/office/powerpoint/2010/main" val="31734809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50063507,50063596,5006359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9.xml><?xml version="1.0" encoding="utf-8"?>
<p:tagLst xmlns:a="http://schemas.openxmlformats.org/drawingml/2006/main" xmlns:r="http://schemas.openxmlformats.org/officeDocument/2006/relationships" xmlns:p="http://schemas.openxmlformats.org/presentationml/2006/main">
  <p:tag name="KSO_DOCER_RESOURCE_TRACE_INFO" val="{&quot;id&quot;:&quot;50063596&quot;,&quot;origin&quot;:0,&quot;type&quot;:&quot;icons&quot;,&quot;user&quot;:&quot;681059035&quot;}"/>
</p:tagLst>
</file>

<file path=ppt/tags/tag20.xml><?xml version="1.0" encoding="utf-8"?>
<p:tagLst xmlns:a="http://schemas.openxmlformats.org/drawingml/2006/main" xmlns:r="http://schemas.openxmlformats.org/officeDocument/2006/relationships" xmlns:p="http://schemas.openxmlformats.org/presentationml/2006/main">
  <p:tag name="KSO_DOCER_RESOURCE_TRACE_INFO" val="{&quot;id&quot;:&quot;50063598&quot;,&quot;origin&quot;:0,&quot;type&quot;:&quot;icons&quot;,&quot;user&quot;:&quot;681059035&quot;}"/>
</p:tagLst>
</file>

<file path=ppt/tags/tag21.xml><?xml version="1.0" encoding="utf-8"?>
<p:tagLst xmlns:a="http://schemas.openxmlformats.org/drawingml/2006/main" xmlns:r="http://schemas.openxmlformats.org/officeDocument/2006/relationships" xmlns:p="http://schemas.openxmlformats.org/presentationml/2006/main">
  <p:tag name="KSO_DOCER_RESOURCE_TRACE_INFO" val="{&quot;id&quot;:&quot;50063507&quot;,&quot;origin&quot;:0,&quot;type&quot;:&quot;icons&quot;,&quot;user&quot;:&quot;681059035&quot;}"/>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600</TotalTime>
  <Words>1791</Words>
  <Application>Microsoft Office PowerPoint</Application>
  <PresentationFormat>宽屏</PresentationFormat>
  <Paragraphs>186</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Jiahan Xie</cp:lastModifiedBy>
  <cp:revision>16</cp:revision>
  <dcterms:created xsi:type="dcterms:W3CDTF">2026-10-16T23:49:00Z</dcterms:created>
  <dcterms:modified xsi:type="dcterms:W3CDTF">2026-10-21T17:43:13Z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E6BEE5470B17400B9FB2054A125CCDF7_12</vt:lpwstr>
  </property>
</Properties>
</file>