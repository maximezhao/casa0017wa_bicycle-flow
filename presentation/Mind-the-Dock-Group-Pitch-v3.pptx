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3.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64" r:id="rId3"/>
    <p:sldId id="267" r:id="rId4"/>
    <p:sldId id="257" r:id="rId5"/>
    <p:sldId id="258" r:id="rId6"/>
    <p:sldId id="259" r:id="rId7"/>
    <p:sldId id="272" r:id="rId8"/>
    <p:sldId id="273" r:id="rId9"/>
    <p:sldId id="274" r:id="rId10"/>
    <p:sldId id="275" r:id="rId11"/>
    <p:sldId id="276" r:id="rId12"/>
    <p:sldId id="278" r:id="rId13"/>
    <p:sldId id="260" r:id="rId14"/>
    <p:sldId id="261" r:id="rId15"/>
    <p:sldId id="262" r:id="rId16"/>
    <p:sldId id="263" r:id="rId17"/>
  </p:sldIdLst>
  <p:sldSz cx="12192000" cy="6858000"/>
  <p:notesSz cx="6858000" cy="9144000"/>
  <p:custDataLst>
    <p:tags r:id="rId19"/>
  </p:custDataLst>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7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20 seconds.</a:t>
            </a:r>
          </a:p>
          <a:p>
            <a:r>
              <a:t>We are 404 Group Not Found. Our project, Mind the Dock, helps people check Santander Cycles stations before they leave. We combine live availability with an availability history and historical cycling collision information. Today we will explain the problem, the data, the proposed website and our delivery plan.</a:t>
            </a:r>
          </a:p>
          <a:p>
            <a:endParaRPr/>
          </a:p>
          <a:p>
            <a:r>
              <a:t>Sources: project title and members supplied in the group proposal. Cover photograph reused from the user-supplied 模板1.pptx, ppt/media/image1.png. That template credits Hippopx for its photographs.</a:t>
            </a:r>
          </a:p>
          <a:p>
            <a:r>
              <a:t>Pending: insert the confirmed presentation 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60 seconds.</a:t>
            </a:r>
          </a:p>
          <a:p>
            <a:r>
              <a:t>Our main question is where and when Santander Cycles are hardest to find or return. Users can walk to an empty station or reach a full station at the end of a journey. We want to reduce that uncertainty by showing both bikes and return spaces.</a:t>
            </a:r>
          </a:p>
          <a:p>
            <a:r>
              <a:t>The historical component will let us compare stations and hours during our collection period. We also plan to show historical cycling collisions around stations. We will describe these as recorded collisions, because collision counts alone cannot establish the risk per cycling trip. Easier access to information supports our aim of making everyday cycling more convenient.</a:t>
            </a:r>
          </a:p>
          <a:p>
            <a:endParaRPr/>
          </a:p>
          <a:p>
            <a:r>
              <a:t>Source: research question, user motivation and intended functionality from the supplied group proposal. Bicycle photo reused from 模板1.pptx, ppt/media/image4.png. No observed results or measured behaviour change are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60 seconds.</a:t>
            </a:r>
          </a:p>
          <a:p>
            <a:r>
              <a:t>Our main question is where and when Santander Cycles are hardest to find or return. Users can walk to an empty station or reach a full station at the end of a journey. We want to reduce that uncertainty by showing both bikes and return spaces.</a:t>
            </a:r>
          </a:p>
          <a:p>
            <a:r>
              <a:t>The historical component will let us compare stations and hours during our collection period. We also plan to show historical cycling collisions around stations. We will describe these as recorded collisions, because collision counts alone cannot establish the risk per cycling trip. Easier access to information supports our aim of making everyday cycling more convenient.</a:t>
            </a:r>
          </a:p>
          <a:p>
            <a:endParaRPr/>
          </a:p>
          <a:p>
            <a:r>
              <a:t>Source: research question, user motivation and intended functionality from the supplied group proposal. Bicycle photo reused from 模板1.pptx, ppt/media/image4.png. No observed results or measured behaviour change are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60 seconds.</a:t>
            </a:r>
          </a:p>
          <a:p>
            <a:r>
              <a:t>Our main question is where and when Santander Cycles are hardest to find or return. Users can walk to an empty station or reach a full station at the end of a journey. We want to reduce that uncertainty by showing both bikes and return spaces.</a:t>
            </a:r>
          </a:p>
          <a:p>
            <a:r>
              <a:t>The historical component will let us compare stations and hours during our collection period. We also plan to show historical cycling collisions around stations. We will describe these as recorded collisions, because collision counts alone cannot establish the risk per cycling trip. Easier access to information supports our aim of making everyday cycling more convenient.</a:t>
            </a:r>
          </a:p>
          <a:p>
            <a:endParaRPr/>
          </a:p>
          <a:p>
            <a:r>
              <a:t>Source: research question, user motivation and intended functionality from the supplied group proposal. Bicycle photo reused from 模板1.pptx, ppt/media/image4.png. No observed results or measured behaviour change are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65 seconds.</a:t>
            </a:r>
          </a:p>
          <a:p>
            <a:r>
              <a:t>The first source is the TfL BikePoint API. It provides station locations and counts for bikes and empty docks. Where available, we will also show standard bikes and e-bikes.</a:t>
            </a:r>
          </a:p>
          <a:p>
            <a:r>
              <a:t>The second dataset is our own availability history. A Node.js task will aim to save a snapshot every five minutes. Once we have enough observations, a station panel can show a 24-hour chart, and Python can compare the proportion of valid observations with no bikes or no return spaces. Missing observations will stay missing.</a:t>
            </a:r>
          </a:p>
          <a:p>
            <a:r>
              <a:t>The third source will contain recorded cycling collisions. We still need to select and confirm the dataset and year range. Python will clean the records and aggregate spatial patterns before loading them into MySQL. The browser will request data from our Express API.</a:t>
            </a:r>
          </a:p>
          <a:p>
            <a:endParaRPr/>
          </a:p>
          <a:p>
            <a:r>
              <a:t>Sources: supplied group proposal; TfL BikePoint endpoint https://api.tfl.gov.uk/BikePoint and official schema https://api.tfl.gov.uk/swagger/docs/v1, inspected on 15 October 2026 in the planning conversation. The five-minute interval is a proposed collection setting.</a:t>
            </a:r>
          </a:p>
          <a:p>
            <a:r>
              <a:t>Pending: confirm collision source, licence, year range and field definitions. Confirm the final polling interval against the API subscription. 24-hour history requires actual collection and is not an existing project result.</a:t>
            </a:r>
          </a:p>
          <a:p>
            <a:endParaRPr/>
          </a:p>
          <a:p>
            <a:r>
              <a:t>Update, 17 October 2026: the team supplied screenshots of london_bike_pulse, including bike_stations, availability_history, collisions and fault_reports, plus a sample station query. The appendix preserves all supplied screenshots. A schema screenshot establishes the fields shown, not that every collection job or website feature works. Collision source and year range remain to be confirmed. The fault_reports table suggests a possible reporting feature whose interface and workflow still need confirmation.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85 seconds.</a:t>
            </a:r>
          </a:p>
          <a:p>
            <a:r>
              <a:t>The proposed website keeps the same three-page journey. Home introduces the question and findings, the live map supports exploration, and About and Contact explains the sources and team.</a:t>
            </a:r>
          </a:p>
          <a:p>
            <a:r>
              <a:t>The team supplied this London map as a reference for the desired map coverage and layout. Its red dots do not establish live bike availability or collision locations. We will build our own map with Leaflet and an OpenStreetMap basemap. In borrow mode, station colours will reflect bikes. In return mode, they will reflect empty docks. Clicking a station will open details for standard bikes, e-bikes and the availability history once enough observations exist. Users will also be able to filter the historical collision layer, subject to the final dataset fields.</a:t>
            </a:r>
          </a:p>
          <a:p>
            <a:r>
              <a:t>The reference map replaces the previous blank image area. It is not a completed interface or a final wireframe.</a:t>
            </a:r>
          </a:p>
          <a:p>
            <a:endParaRPr/>
          </a:p>
          <a:p>
            <a:r>
              <a:t>Source: user-supplied codex-clipboard-fe4fabff-2b76-457b-ab56-06735a161047.png, received 17 October 2026. Visible source watermark: pt.londonmap360.com. Original watermark and image content remain intact. Planned interactions come from the supplied group proposal.</a:t>
            </a:r>
          </a:p>
          <a:p>
            <a:r>
              <a:t>Pending: confirm final wireframes, marker thresholds, collision dataset and year range, and the team contact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85 seconds.</a:t>
            </a:r>
          </a:p>
          <a:p>
            <a:r>
              <a:t>The proposed website keeps the same three-page journey. Home introduces the question and findings, the live map supports exploration, and About and Contact explains the sources and team.</a:t>
            </a:r>
          </a:p>
          <a:p>
            <a:r>
              <a:t>The team supplied this London map as a reference for the desired map coverage and layout. Its red dots do not establish live bike availability or collision locations. We will build our own map with Leaflet and an OpenStreetMap basemap. In borrow mode, station colours will reflect bikes. In return mode, they will reflect empty docks. Clicking a station will open details for standard bikes, e-bikes and the availability history once enough observations exist. Users will also be able to filter the historical collision layer, subject to the final dataset fields.</a:t>
            </a:r>
          </a:p>
          <a:p>
            <a:r>
              <a:t>The reference map replaces the previous blank image area. It is not a completed interface or a final wireframe.</a:t>
            </a:r>
          </a:p>
          <a:p>
            <a:endParaRPr/>
          </a:p>
          <a:p>
            <a:r>
              <a:t>Source: user-supplied codex-clipboard-fe4fabff-2b76-457b-ab56-06735a161047.png, received 17 October 2026. Visible source watermark: pt.londonmap360.com. Original watermark and image content remain intact. Planned interactions come from the supplied group proposal.</a:t>
            </a:r>
          </a:p>
          <a:p>
            <a:r>
              <a:t>Pending: confirm final wireframes, marker thresholds, collision dataset and year range, and the team contact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85 seconds.</a:t>
            </a:r>
          </a:p>
          <a:p>
            <a:r>
              <a:t>The proposed website keeps the same three-page journey. Home introduces the question and findings, the live map supports exploration, and About and Contact explains the sources and team.</a:t>
            </a:r>
          </a:p>
          <a:p>
            <a:r>
              <a:t>The team supplied this London map as a reference for the desired map coverage and layout. Its red dots do not establish live bike availability or collision locations. We will build our own map with Leaflet and an OpenStreetMap basemap. In borrow mode, station colours will reflect bikes. In return mode, they will reflect empty docks. Clicking a station will open details for standard bikes, e-bikes and the availability history once enough observations exist. Users will also be able to filter the historical collision layer, subject to the final dataset fields.</a:t>
            </a:r>
          </a:p>
          <a:p>
            <a:r>
              <a:t>The reference map replaces the previous blank image area. It is not a completed interface or a final wireframe.</a:t>
            </a:r>
          </a:p>
          <a:p>
            <a:endParaRPr/>
          </a:p>
          <a:p>
            <a:r>
              <a:t>Source: user-supplied codex-clipboard-fe4fabff-2b76-457b-ab56-06735a161047.png, received 17 October 2026. Visible source watermark: pt.londonmap360.com. Original watermark and image content remain intact. Planned interactions come from the supplied group proposal.</a:t>
            </a:r>
          </a:p>
          <a:p>
            <a:r>
              <a:t>Pending: confirm final wireframes, marker thresholds, collision dataset and year range, and the team contact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85 seconds.</a:t>
            </a:r>
          </a:p>
          <a:p>
            <a:r>
              <a:t>The proposed website keeps the same three-page journey. Home introduces the question and findings, the live map supports exploration, and About and Contact explains the sources and team.</a:t>
            </a:r>
          </a:p>
          <a:p>
            <a:r>
              <a:t>The team supplied this London map as a reference for the desired map coverage and layout. Its red dots do not establish live bike availability or collision locations. We will build our own map with Leaflet and an OpenStreetMap basemap. In borrow mode, station colours will reflect bikes. In return mode, they will reflect empty docks. Clicking a station will open details for standard bikes, e-bikes and the availability history once enough observations exist. Users will also be able to filter the historical collision layer, subject to the final dataset fields.</a:t>
            </a:r>
          </a:p>
          <a:p>
            <a:r>
              <a:t>The reference map replaces the previous blank image area. It is not a completed interface or a final wireframe.</a:t>
            </a:r>
          </a:p>
          <a:p>
            <a:endParaRPr/>
          </a:p>
          <a:p>
            <a:r>
              <a:t>Source: user-supplied codex-clipboard-fe4fabff-2b76-457b-ab56-06735a161047.png, received 17 October 2026. Visible source watermark: pt.londonmap360.com. Original watermark and image content remain intact. Planned interactions come from the supplied group proposal.</a:t>
            </a:r>
          </a:p>
          <a:p>
            <a:r>
              <a:t>Pending: confirm final wireframes, marker thresholds, collision dataset and year range, and the team contact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85 seconds.</a:t>
            </a:r>
          </a:p>
          <a:p>
            <a:r>
              <a:t>The proposed website keeps the same three-page journey. Home introduces the question and findings, the live map supports exploration, and About and Contact explains the sources and team.</a:t>
            </a:r>
          </a:p>
          <a:p>
            <a:r>
              <a:t>The team supplied this London map as a reference for the desired map coverage and layout. Its red dots do not establish live bike availability or collision locations. We will build our own map with Leaflet and an OpenStreetMap basemap. In borrow mode, station colours will reflect bikes. In return mode, they will reflect empty docks. Clicking a station will open details for standard bikes, e-bikes and the availability history once enough observations exist. Users will also be able to filter the historical collision layer, subject to the final dataset fields.</a:t>
            </a:r>
          </a:p>
          <a:p>
            <a:r>
              <a:t>The reference map replaces the previous blank image area. It is not a completed interface or a final wireframe.</a:t>
            </a:r>
          </a:p>
          <a:p>
            <a:endParaRPr/>
          </a:p>
          <a:p>
            <a:r>
              <a:t>Source: user-supplied codex-clipboard-fe4fabff-2b76-457b-ab56-06735a161047.png, received 17 October 2026. Visible source watermark: pt.londonmap360.com. Original watermark and image content remain intact. Planned interactions come from the supplied group proposal.</a:t>
            </a:r>
          </a:p>
          <a:p>
            <a:r>
              <a:t>Pending: confirm final wireframes, marker thresholds, collision dataset and year range, and the team contact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85 seconds.</a:t>
            </a:r>
          </a:p>
          <a:p>
            <a:r>
              <a:t>The proposed website keeps the same three-page journey. Home introduces the question and findings, the live map supports exploration, and About and Contact explains the sources and team.</a:t>
            </a:r>
          </a:p>
          <a:p>
            <a:r>
              <a:t>The team supplied this London map as a reference for the desired map coverage and layout. Its red dots do not establish live bike availability or collision locations. We will build our own map with Leaflet and an OpenStreetMap basemap. In borrow mode, station colours will reflect bikes. In return mode, they will reflect empty docks. Clicking a station will open details for standard bikes, e-bikes and the availability history once enough observations exist. Users will also be able to filter the historical collision layer, subject to the final dataset fields.</a:t>
            </a:r>
          </a:p>
          <a:p>
            <a:r>
              <a:t>The reference map replaces the previous blank image area. It is not a completed interface or a final wireframe.</a:t>
            </a:r>
          </a:p>
          <a:p>
            <a:endParaRPr/>
          </a:p>
          <a:p>
            <a:r>
              <a:t>Source: user-supplied codex-clipboard-fe4fabff-2b76-457b-ab56-06735a161047.png, received 17 October 2026. Visible source watermark: pt.londonmap360.com. Original watermark and image content remain intact. Planned interactions come from the supplied group proposal.</a:t>
            </a:r>
          </a:p>
          <a:p>
            <a:r>
              <a:t>Pending: confirm final wireframes, marker thresholds, collision dataset and year range, and the team contact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70 seconds.</a:t>
            </a:r>
          </a:p>
          <a:p>
            <a:r>
              <a:t>Our roles follow the proposal. Yifei leads the backend API and deployment. Jialing leads the database and Python analysis. Zeyu builds the map, station panel and charts. Jiahan leads interaction design, CSS and interface testing. Shamima builds the supporting pages and supports research and user testing. Everyone will contribute to the report and review the project.</a:t>
            </a:r>
          </a:p>
          <a:p>
            <a:r>
              <a:t>Our proposed schedule gives early priority to the collection pipeline, because history cannot be recovered by starting it at the end. We then build the live map, add the historical analysis and collisions, and test the website with a small user group. The final period focuses on the report and submission by 15 November.</a:t>
            </a:r>
          </a:p>
          <a:p>
            <a:r>
              <a:t>Our main challenges are API failures, incomplete history and integrating work from five people. We will keep data timestamps and collection logs, show missing history clearly and use branches with review. We also cannot describe individual bike age or condition because the source does not provide those details.</a:t>
            </a:r>
          </a:p>
          <a:p>
            <a:endParaRPr/>
          </a:p>
          <a:p>
            <a:r>
              <a:t>Sources: named responsibilities from the supplied group proposal. Deadline of 15 November confirmed by the user. Milestone dates are proposed planning assumptions, not completed work.</a:t>
            </a:r>
          </a:p>
          <a:p>
            <a:r>
              <a:t>Pending: agree who presents each slide and confirm the actual presentation date. Team email remains to be filled on slide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70 seconds.</a:t>
            </a:r>
          </a:p>
          <a:p>
            <a:r>
              <a:t>Our roles follow the proposal. Yifei leads the backend API and deployment. Jialing leads the database and Python analysis. Zeyu builds the map, station panel and charts. Jiahan leads interaction design, CSS and interface testing. Shamima builds the supporting pages and supports research and user testing. Everyone will contribute to the report and review the project.</a:t>
            </a:r>
          </a:p>
          <a:p>
            <a:r>
              <a:t>Our proposed schedule gives early priority to the collection pipeline, because history cannot be recovered by starting it at the end. We then build the live map, add the historical analysis and collisions, and test the website with a small user group. The final period focuses on the report and submission by 15 November.</a:t>
            </a:r>
          </a:p>
          <a:p>
            <a:r>
              <a:t>Our main challenges are API failures, incomplete history and integrating work from five people. We will keep data timestamps and collection logs, show missing history clearly and use branches with review. We also cannot describe individual bike age or condition because the source does not provide those details.</a:t>
            </a:r>
          </a:p>
          <a:p>
            <a:endParaRPr/>
          </a:p>
          <a:p>
            <a:r>
              <a:t>Sources: named responsibilities from the supplied group proposal. Deadline of 15 November confirmed by the user. Milestone dates are proposed planning assumptions, not completed work.</a:t>
            </a:r>
          </a:p>
          <a:p>
            <a:r>
              <a:t>Pending: agree who presents each slide and confirm the actual presentation date. Team email remains to be filled on slide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for questions.</a:t>
            </a:r>
          </a:p>
          <a:p>
            <a:r>
              <a:t>The database name visible in the supplied screenshot is london_bike_pulse. bike_stations holds station_id, station_name, latitude, longitude, total_docks, current_bikes, standard_bikes, electric_bikes, empty_docks, unavailable_docks, is_locked, api_modified_at and last_updated. availability_history holds history_id, station_id, bikes, standard_bikes, electric_bikes, empty_docks, total_docks, unavailable_docks, is_locked and captured_at.</a:t>
            </a:r>
          </a:p>
          <a:p>
            <a:r>
              <a:t>The repeated station_id supports the intended logical link between current state and history. The screenshots do not show database types, declared foreign keys, indexes, row counts or the running collection schedule. Those details require confirmation. api_modified_at and local update/collection times should retain their different meanings.</a:t>
            </a:r>
          </a:p>
          <a:p>
            <a:endParaRPr/>
          </a:p>
          <a:p>
            <a:r>
              <a:t>Sources: user-supplied codex-clipboard-59faf56f-c1b6-41bc-8732-9b98fd0acdc8.jpg and codex-clipboard-6adf05a7-e3f9-4946-ad38-8e9cbea84e93.jpg, received 17 October 2026. Both original images are embedded in full without cropping field rows. This appendix need not be presented during the timed pitch.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for questions.</a:t>
            </a:r>
          </a:p>
          <a:p>
            <a:r>
              <a:t>collisions includes collision_id, collision_date, latitude, longitude, location_name, borough, severity, cyclist_involved and casualty_count. The location fields support spatial comparison around stations. No station_id is visible in this table. A time-of-day field is not visible, so the team should check the underlying type of collision_date and the source data before promising hour-based collision filters. The screenshot alone does not establish the dataset source, years, record population or severity definitions.</a:t>
            </a:r>
          </a:p>
          <a:p>
            <a:r>
              <a:t>fault_reports includes report_id, station_id, bike_number, fault_target, fault_type, description, report_status, reported_at and resolved_at. It shows a data structure for reports, but a working form, moderation process and resolution workflow are not demonstrated. Treat reporting as a possible extension until scope is confirmed. A user-entered bike number would not be a TfL individual-bike condition feed.</a:t>
            </a:r>
          </a:p>
          <a:p>
            <a:endParaRPr/>
          </a:p>
          <a:p>
            <a:r>
              <a:t>Sources: user-supplied codex-clipboard-350b251f-5599-4baa-ac11-0435b873205c.jpg and codex-clipboard-02db3e4e-4b0a-4759-88d9-e7d85966b5a3.jpg, received 17 October 2026. Both images are embedded in full without cropping field rows. This appendix need not be presented during the timed pitch.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for questions.</a:t>
            </a:r>
          </a:p>
          <a:p>
            <a:r>
              <a:t>The supplied query output shows station IDs, names, coordinates, available_bikes and recorded_at. For example, the displayed sample includes River Street, Clerkenwell; Park Street, Bankside; and Queen Street 1, Bank. The visible recorded_at date is 2026/10/11. These counts describe the supplied output and should not be described as current availability. No total station count, collection reliability or production readiness can be inferred from this partial query output.</a:t>
            </a:r>
          </a:p>
          <a:p>
            <a:r>
              <a:t>The query column labels available_bikes and recorded_at differ from current_bikes and last_updated in the supplied bike_stations schema. They may be SQL aliases or come from a different query or schema version. Confirm the query before mapping these names to the API contract.</a:t>
            </a:r>
          </a:p>
          <a:p>
            <a:endParaRPr/>
          </a:p>
          <a:p>
            <a:r>
              <a:t>Source: user-supplied codex-clipboard-5268c16c-0585-4283-95d0-9b7e31be5c73.png, received 17 October 2026. The full original screenshot and all its visible rows remain embedded. This appendix need not be presented during the timed pitch.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idx="10"/>
          </p:nvPr>
        </p:nvSpPr>
        <p:spPr/>
        <p:txBody>
          <a:bodyPr/>
          <a:lstStyle/>
          <a:p>
            <a:fld id="{DAE435F8-AC12-D146-942B-6348F2F55CFC}" type="datetimeFigureOut">
              <a:rPr lang="zh-CN" altLang="en-US"/>
              <a:t>2026/10/21</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DAE435F8-AC12-D146-942B-6348F2F55CFC}" type="datetimeFigureOut">
              <a:rPr lang="zh-CN" altLang="en-US"/>
              <a:t>2026/10/21</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DAE435F8-AC12-D146-942B-6348F2F55CFC}" type="datetimeFigureOut">
              <a:rPr lang="zh-CN" altLang="en-US"/>
              <a:t>2026/10/21</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DAE435F8-AC12-D146-942B-6348F2F55CFC}" type="datetimeFigureOut">
              <a:rPr lang="zh-CN" altLang="en-US"/>
              <a:t>2026/10/21</a:t>
            </a:fld>
            <a:endParaRPr/>
          </a:p>
        </p:txBody>
      </p:sp>
      <p:sp>
        <p:nvSpPr>
          <p:cNvPr id="6" name="Footer Placeholder 5"/>
          <p:cNvSpPr>
            <a:spLocks noGrp="1"/>
          </p:cNvSpPr>
          <p:nvPr>
            <p:ph type="ftr" idx="11"/>
          </p:nvPr>
        </p:nvSpPr>
        <p:spPr/>
        <p:txBody>
          <a:bodyPr/>
          <a:lstStyle/>
          <a:p>
            <a:endParaRPr/>
          </a:p>
        </p:txBody>
      </p:sp>
      <p:sp>
        <p:nvSpPr>
          <p:cNvPr id="7" name="Slide Number Placeholder 6"/>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DAE435F8-AC12-D146-942B-6348F2F55CFC}" type="datetimeFigureOut">
              <a:rPr lang="zh-CN" altLang="en-US"/>
              <a:t>2026/10/21</a:t>
            </a:fld>
            <a:endParaRPr/>
          </a:p>
        </p:txBody>
      </p:sp>
      <p:sp>
        <p:nvSpPr>
          <p:cNvPr id="8" name="Footer Placeholder 7"/>
          <p:cNvSpPr>
            <a:spLocks noGrp="1"/>
          </p:cNvSpPr>
          <p:nvPr>
            <p:ph type="ftr" idx="11"/>
          </p:nvPr>
        </p:nvSpPr>
        <p:spPr/>
        <p:txBody>
          <a:bodyPr/>
          <a:lstStyle/>
          <a:p>
            <a:endParaRPr/>
          </a:p>
        </p:txBody>
      </p:sp>
      <p:sp>
        <p:nvSpPr>
          <p:cNvPr id="9" name="Slide Number Placeholder 8"/>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DAE435F8-AC12-D146-942B-6348F2F55CFC}" type="datetimeFigureOut">
              <a:rPr lang="zh-CN" altLang="en-US"/>
              <a:t>2026/10/21</a:t>
            </a:fld>
            <a:endParaRPr/>
          </a:p>
        </p:txBody>
      </p:sp>
      <p:sp>
        <p:nvSpPr>
          <p:cNvPr id="4" name="Footer Placeholder 3"/>
          <p:cNvSpPr>
            <a:spLocks noGrp="1"/>
          </p:cNvSpPr>
          <p:nvPr>
            <p:ph type="ftr" idx="11"/>
          </p:nvPr>
        </p:nvSpPr>
        <p:spPr/>
        <p:txBody>
          <a:bodyPr/>
          <a:lstStyle/>
          <a:p>
            <a:endParaRPr/>
          </a:p>
        </p:txBody>
      </p:sp>
      <p:sp>
        <p:nvSpPr>
          <p:cNvPr id="5" name="Slide Number Placeholder 4"/>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fld id="{DAE435F8-AC12-D146-942B-6348F2F55CFC}" type="datetimeFigureOut">
              <a:rPr lang="zh-CN" altLang="en-US"/>
              <a:t>2026/10/21</a:t>
            </a:fld>
            <a:endParaRPr/>
          </a:p>
        </p:txBody>
      </p:sp>
      <p:sp>
        <p:nvSpPr>
          <p:cNvPr id="3" name="Footer Placeholder 2"/>
          <p:cNvSpPr>
            <a:spLocks noGrp="1"/>
          </p:cNvSpPr>
          <p:nvPr>
            <p:ph type="ftr" idx="11"/>
          </p:nvPr>
        </p:nvSpPr>
        <p:spPr/>
        <p:txBody>
          <a:bodyPr/>
          <a:lstStyle/>
          <a:p>
            <a:endParaRPr/>
          </a:p>
        </p:txBody>
      </p:sp>
      <p:sp>
        <p:nvSpPr>
          <p:cNvPr id="4" name="Slide Number Placeholder 3"/>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DAE435F8-AC12-D146-942B-6348F2F55CFC}" type="datetimeFigureOut">
              <a:rPr lang="zh-CN" altLang="en-US"/>
              <a:t>2026/10/21</a:t>
            </a:fld>
            <a:endParaRPr/>
          </a:p>
        </p:txBody>
      </p:sp>
      <p:sp>
        <p:nvSpPr>
          <p:cNvPr id="6" name="Footer Placeholder 5"/>
          <p:cNvSpPr>
            <a:spLocks noGrp="1"/>
          </p:cNvSpPr>
          <p:nvPr>
            <p:ph type="ftr" idx="11"/>
          </p:nvPr>
        </p:nvSpPr>
        <p:spPr/>
        <p:txBody>
          <a:bodyPr/>
          <a:lstStyle/>
          <a:p>
            <a:endParaRPr/>
          </a:p>
        </p:txBody>
      </p:sp>
      <p:sp>
        <p:nvSpPr>
          <p:cNvPr id="7" name="Slide Number Placeholder 6"/>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DAE435F8-AC12-D146-942B-6348F2F55CFC}" type="datetimeFigureOut">
              <a:rPr lang="zh-CN" altLang="en-US"/>
              <a:t>2026/10/21</a:t>
            </a:fld>
            <a:endParaRPr/>
          </a:p>
        </p:txBody>
      </p:sp>
      <p:sp>
        <p:nvSpPr>
          <p:cNvPr id="6" name="Footer Placeholder 5"/>
          <p:cNvSpPr>
            <a:spLocks noGrp="1"/>
          </p:cNvSpPr>
          <p:nvPr>
            <p:ph type="ftr" idx="11"/>
          </p:nvPr>
        </p:nvSpPr>
        <p:spPr/>
        <p:txBody>
          <a:bodyPr/>
          <a:lstStyle/>
          <a:p>
            <a:endParaRPr/>
          </a:p>
        </p:txBody>
      </p:sp>
      <p:sp>
        <p:nvSpPr>
          <p:cNvPr id="7" name="Slide Number Placeholder 6"/>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DAE435F8-AC12-D146-942B-6348F2F55CFC}" type="datetimeFigureOut">
              <a:rPr lang="zh-CN" altLang="en-US"/>
              <a:t>2026/10/21</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DAE435F8-AC12-D146-942B-6348F2F55CFC}" type="datetimeFigureOut">
              <a:rPr lang="zh-CN" altLang="en-US"/>
              <a:t>2026/10/21</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DAE435F8-AC12-D146-942B-6348F2F55CFC}" type="datetimeFigureOut">
              <a:rPr lang="zh-CN" altLang="en-US"/>
              <a:t>2026/10/21</a:t>
            </a:fld>
            <a:endParaRPr/>
          </a:p>
        </p:txBody>
      </p:sp>
      <p:sp>
        <p:nvSpPr>
          <p:cNvPr id="5" name="Footer Placeholder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525703E4-8CA5-3D4F-9EFE-7E546FCDE93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notesSlide" Target="../notesSlides/notesSlide2.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slideLayout" Target="../slideLayouts/slideLayout2.xml"/><Relationship Id="rId17" Type="http://schemas.openxmlformats.org/officeDocument/2006/relationships/hyperlink" Target="https://www.london.gov.uk/sites/default/files/mayors-transport-strategy-2018.pdf?utm_source=chatgpt.com" TargetMode="External"/><Relationship Id="rId2" Type="http://schemas.openxmlformats.org/officeDocument/2006/relationships/tags" Target="../tags/tag3.xml"/><Relationship Id="rId16" Type="http://schemas.openxmlformats.org/officeDocument/2006/relationships/hyperlink" Target="https://discovery.ucl.ac.uk/id/eprint/10215127/?utm_source=chatgpt.com" TargetMode="Externa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hyperlink" Target="https://discovery.ucl.ac.uk/id/eprint/10161120/?utm_source=chatgpt.com" TargetMode="Externa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5.xml"/><Relationship Id="rId7"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10" Type="http://schemas.openxmlformats.org/officeDocument/2006/relationships/image" Target="../media/image4.png"/><Relationship Id="rId4" Type="http://schemas.openxmlformats.org/officeDocument/2006/relationships/tags" Target="../tags/tag16.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21.xml"/><Relationship Id="rId7" Type="http://schemas.openxmlformats.org/officeDocument/2006/relationships/image" Target="../media/image6.sv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5.jpeg"/><Relationship Id="rId5" Type="http://schemas.openxmlformats.org/officeDocument/2006/relationships/notesSlide" Target="../notesSlides/notesSlide4.xml"/><Relationship Id="rId4" Type="http://schemas.openxmlformats.org/officeDocument/2006/relationships/slideLayout" Target="../slideLayouts/slideLayout2.xml"/><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24.xml"/><Relationship Id="rId7"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notesSlide" Target="../notesSlides/notesSlide12.xm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5" Type="http://schemas.openxmlformats.org/officeDocument/2006/relationships/tags" Target="../tags/tag32.xml"/><Relationship Id="rId10" Type="http://schemas.openxmlformats.org/officeDocument/2006/relationships/tags" Target="../tags/tag37.xml"/><Relationship Id="rId4" Type="http://schemas.openxmlformats.org/officeDocument/2006/relationships/tags" Target="../tags/tag31.xml"/><Relationship Id="rId9" Type="http://schemas.openxmlformats.org/officeDocument/2006/relationships/tags" Target="../tags/tag3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a:srcRect t="44" b="44"/>
          <a:stretch>
            <a:fillRect/>
          </a:stretch>
        </p:blipFill>
        <p:spPr>
          <a:xfrm>
            <a:off x="0" y="0"/>
            <a:ext cx="12192000" cy="6858000"/>
          </a:xfrm>
          <a:prstGeom prst="rect">
            <a:avLst/>
          </a:prstGeom>
        </p:spPr>
      </p:pic>
      <p:sp>
        <p:nvSpPr>
          <p:cNvPr id="2" name="矩形 1"/>
          <p:cNvSpPr>
            <a:spLocks noGrp="1"/>
          </p:cNvSpPr>
          <p:nvPr/>
        </p:nvSpPr>
        <p:spPr>
          <a:xfrm>
            <a:off x="0" y="0"/>
            <a:ext cx="12192000" cy="6858000"/>
          </a:xfrm>
          <a:prstGeom prst="rect">
            <a:avLst/>
          </a:prstGeom>
          <a:gradFill>
            <a:gsLst>
              <a:gs pos="0">
                <a:srgbClr val="04091D"/>
              </a:gs>
              <a:gs pos="48000">
                <a:srgbClr val="04091D">
                  <a:alpha val="94000"/>
                </a:srgbClr>
              </a:gs>
              <a:gs pos="100000">
                <a:srgbClr val="04091D">
                  <a:alpha val="15000"/>
                </a:srgbClr>
              </a:gs>
            </a:gsLst>
            <a:lin ang="0"/>
          </a:gradFill>
          <a:ln w="0">
            <a:noFill/>
          </a:ln>
        </p:spPr>
      </p:sp>
      <p:sp>
        <p:nvSpPr>
          <p:cNvPr id="3" name="CASA0017  /  GROUP PROJECT PITCH"/>
          <p:cNvSpPr>
            <a:spLocks noGrp="1"/>
          </p:cNvSpPr>
          <p:nvPr/>
        </p:nvSpPr>
        <p:spPr>
          <a:xfrm>
            <a:off x="838200" y="866775"/>
            <a:ext cx="8572500" cy="333375"/>
          </a:xfrm>
          <a:prstGeom prst="rect">
            <a:avLst/>
          </a:prstGeom>
          <a:noFill/>
          <a:ln w="0">
            <a:noFill/>
          </a:ln>
        </p:spPr>
        <p:txBody>
          <a:bodyPr wrap="square" lIns="0" tIns="0" rIns="0" bIns="0" anchor="t">
            <a:noAutofit/>
          </a:bodyPr>
          <a:lstStyle>
            <a:defPPr>
              <a:defRPr sz="1725" b="1">
                <a:solidFill>
                  <a:srgbClr val="0BE4F7"/>
                </a:solidFill>
                <a:latin typeface="Arial" panose="020B0604020202020204"/>
                <a:ea typeface="Arial" panose="020B0604020202020204"/>
                <a:cs typeface="Arial" panose="020B0604020202020204"/>
              </a:defRPr>
            </a:defPPr>
          </a:lstStyle>
          <a:p>
            <a:pPr>
              <a:lnSpc>
                <a:spcPct val="113000"/>
              </a:lnSpc>
              <a:buNone/>
              <a:defRPr sz="1725" b="1">
                <a:solidFill>
                  <a:srgbClr val="0BE4F7"/>
                </a:solidFill>
                <a:latin typeface="Arial" panose="020B0604020202020204"/>
                <a:ea typeface="Arial" panose="020B0604020202020204"/>
                <a:cs typeface="Arial" panose="020B0604020202020204"/>
              </a:defRPr>
            </a:pPr>
            <a:r>
              <a:rPr sz="1725" b="1">
                <a:solidFill>
                  <a:srgbClr val="0BE4F7"/>
                </a:solidFill>
                <a:latin typeface="Arial" panose="020B0604020202020204"/>
                <a:ea typeface="Arial" panose="020B0604020202020204"/>
                <a:cs typeface="Arial" panose="020B0604020202020204"/>
              </a:rPr>
              <a:t>CASA0017  /  GROUP PROJECT PITCH</a:t>
            </a:r>
          </a:p>
        </p:txBody>
      </p:sp>
      <p:sp>
        <p:nvSpPr>
          <p:cNvPr id="4" name="Mind the Dock"/>
          <p:cNvSpPr>
            <a:spLocks noGrp="1"/>
          </p:cNvSpPr>
          <p:nvPr/>
        </p:nvSpPr>
        <p:spPr>
          <a:xfrm>
            <a:off x="838200" y="1571625"/>
            <a:ext cx="10191750" cy="952500"/>
          </a:xfrm>
          <a:prstGeom prst="rect">
            <a:avLst/>
          </a:prstGeom>
          <a:noFill/>
          <a:ln w="0">
            <a:noFill/>
          </a:ln>
        </p:spPr>
        <p:txBody>
          <a:bodyPr wrap="square" lIns="0" tIns="0" rIns="0" bIns="0" anchor="t">
            <a:noAutofit/>
          </a:bodyPr>
          <a:lstStyle>
            <a:defPPr>
              <a:defRPr sz="6000" b="1">
                <a:solidFill>
                  <a:srgbClr val="FFFFFF"/>
                </a:solidFill>
                <a:latin typeface="Arial" panose="020B0604020202020204"/>
                <a:ea typeface="Arial" panose="020B0604020202020204"/>
                <a:cs typeface="Arial" panose="020B0604020202020204"/>
              </a:defRPr>
            </a:defPPr>
          </a:lstStyle>
          <a:p>
            <a:pPr>
              <a:lnSpc>
                <a:spcPct val="113000"/>
              </a:lnSpc>
              <a:buNone/>
              <a:defRPr sz="6000" b="1">
                <a:solidFill>
                  <a:srgbClr val="FFFFFF"/>
                </a:solidFill>
                <a:latin typeface="Arial" panose="020B0604020202020204"/>
                <a:ea typeface="Arial" panose="020B0604020202020204"/>
                <a:cs typeface="Arial" panose="020B0604020202020204"/>
              </a:defRPr>
            </a:pPr>
            <a:r>
              <a:rPr sz="7200" b="1" dirty="0">
                <a:solidFill>
                  <a:srgbClr val="FFFFFF"/>
                </a:solidFill>
                <a:latin typeface="Arial" panose="020B0604020202020204"/>
                <a:ea typeface="Arial" panose="020B0604020202020204"/>
                <a:cs typeface="Arial" panose="020B0604020202020204"/>
              </a:rPr>
              <a:t>Mind the Dock</a:t>
            </a:r>
          </a:p>
        </p:txBody>
      </p:sp>
      <p:sp>
        <p:nvSpPr>
          <p:cNvPr id="5" name="A Live Map of London's Cycle Hire"/>
          <p:cNvSpPr>
            <a:spLocks noGrp="1"/>
          </p:cNvSpPr>
          <p:nvPr/>
        </p:nvSpPr>
        <p:spPr>
          <a:xfrm>
            <a:off x="838200" y="2809875"/>
            <a:ext cx="9810750" cy="619125"/>
          </a:xfrm>
          <a:prstGeom prst="rect">
            <a:avLst/>
          </a:prstGeom>
          <a:noFill/>
          <a:ln w="0">
            <a:noFill/>
          </a:ln>
        </p:spPr>
        <p:txBody>
          <a:bodyPr wrap="square" lIns="0" tIns="0" rIns="0" bIns="0" anchor="t">
            <a:noAutofit/>
          </a:bodyPr>
          <a:lstStyle>
            <a:defPPr>
              <a:defRPr sz="2775" b="0">
                <a:solidFill>
                  <a:srgbClr val="FFFFFF"/>
                </a:solidFill>
                <a:latin typeface="Arial" panose="020B0604020202020204"/>
                <a:ea typeface="Arial" panose="020B0604020202020204"/>
                <a:cs typeface="Arial" panose="020B0604020202020204"/>
              </a:defRPr>
            </a:defPPr>
          </a:lstStyle>
          <a:p>
            <a:pPr>
              <a:lnSpc>
                <a:spcPct val="113000"/>
              </a:lnSpc>
              <a:buNone/>
              <a:defRPr sz="2775" b="0">
                <a:solidFill>
                  <a:srgbClr val="FFFFFF"/>
                </a:solidFill>
                <a:latin typeface="Arial" panose="020B0604020202020204"/>
                <a:ea typeface="Arial" panose="020B0604020202020204"/>
                <a:cs typeface="Arial" panose="020B0604020202020204"/>
              </a:defRPr>
            </a:pPr>
            <a:r>
              <a:rPr sz="3200" b="0">
                <a:solidFill>
                  <a:srgbClr val="FFFFFF"/>
                </a:solidFill>
                <a:latin typeface="Arial" panose="020B0604020202020204"/>
                <a:ea typeface="Arial" panose="020B0604020202020204"/>
                <a:cs typeface="Arial" panose="020B0604020202020204"/>
              </a:rPr>
              <a:t>A Live Map of London's Cycle Hire</a:t>
            </a:r>
          </a:p>
        </p:txBody>
      </p:sp>
      <p:sp>
        <p:nvSpPr>
          <p:cNvPr id="6" name="404 Group Not Found"/>
          <p:cNvSpPr>
            <a:spLocks noGrp="1"/>
          </p:cNvSpPr>
          <p:nvPr/>
        </p:nvSpPr>
        <p:spPr>
          <a:xfrm>
            <a:off x="838200" y="3900170"/>
            <a:ext cx="8096250" cy="476250"/>
          </a:xfrm>
          <a:prstGeom prst="rect">
            <a:avLst/>
          </a:prstGeom>
          <a:noFill/>
          <a:ln w="0">
            <a:noFill/>
          </a:ln>
        </p:spPr>
        <p:txBody>
          <a:bodyPr wrap="square" lIns="0" tIns="0" rIns="0" bIns="0" anchor="t">
            <a:noAutofit/>
          </a:bodyPr>
          <a:lstStyle>
            <a:defPPr>
              <a:defRPr sz="2400" b="1">
                <a:solidFill>
                  <a:srgbClr val="0BE4F7"/>
                </a:solidFill>
                <a:latin typeface="Arial" panose="020B0604020202020204"/>
                <a:ea typeface="Arial" panose="020B0604020202020204"/>
                <a:cs typeface="Arial" panose="020B0604020202020204"/>
              </a:defRPr>
            </a:defPPr>
          </a:lstStyle>
          <a:p>
            <a:pPr>
              <a:lnSpc>
                <a:spcPct val="113000"/>
              </a:lnSpc>
              <a:buNone/>
              <a:defRPr sz="2400" b="1">
                <a:solidFill>
                  <a:srgbClr val="0BE4F7"/>
                </a:solidFill>
                <a:latin typeface="Arial" panose="020B0604020202020204"/>
                <a:ea typeface="Arial" panose="020B0604020202020204"/>
                <a:cs typeface="Arial" panose="020B0604020202020204"/>
              </a:defRPr>
            </a:pPr>
            <a:r>
              <a:rPr sz="2800" b="1">
                <a:solidFill>
                  <a:srgbClr val="0BE4F7"/>
                </a:solidFill>
                <a:latin typeface="Arial" panose="020B0604020202020204"/>
                <a:ea typeface="Arial" panose="020B0604020202020204"/>
                <a:cs typeface="Arial" panose="020B0604020202020204"/>
              </a:rPr>
              <a:t>404 Group Not Found</a:t>
            </a:r>
          </a:p>
        </p:txBody>
      </p:sp>
      <p:sp>
        <p:nvSpPr>
          <p:cNvPr id="7" name="Yifei Gong, Jiahan Xie, Zeyu Cheng, Jialing Zhao and Shamima Akht"/>
          <p:cNvSpPr>
            <a:spLocks noGrp="1"/>
          </p:cNvSpPr>
          <p:nvPr/>
        </p:nvSpPr>
        <p:spPr>
          <a:xfrm>
            <a:off x="838200" y="4524375"/>
            <a:ext cx="8572500" cy="857250"/>
          </a:xfrm>
          <a:prstGeom prst="rect">
            <a:avLst/>
          </a:prstGeom>
          <a:noFill/>
          <a:ln w="0">
            <a:noFill/>
          </a:ln>
        </p:spPr>
        <p:txBody>
          <a:bodyPr wrap="square" lIns="0" tIns="0" rIns="0" bIns="0" anchor="t">
            <a:noAutofit/>
          </a:bodyPr>
          <a:lstStyle>
            <a:defPPr>
              <a:defRPr sz="1950" b="0">
                <a:solidFill>
                  <a:srgbClr val="FFFFFF"/>
                </a:solidFill>
                <a:latin typeface="Arial" panose="020B0604020202020204"/>
                <a:ea typeface="Arial" panose="020B0604020202020204"/>
                <a:cs typeface="Arial" panose="020B0604020202020204"/>
              </a:defRPr>
            </a:defPPr>
          </a:lstStyle>
          <a:p>
            <a:pPr>
              <a:lnSpc>
                <a:spcPct val="113000"/>
              </a:lnSpc>
              <a:buNone/>
              <a:defRPr sz="1950" b="0">
                <a:solidFill>
                  <a:srgbClr val="FFFFFF"/>
                </a:solidFill>
                <a:latin typeface="Arial" panose="020B0604020202020204"/>
                <a:ea typeface="Arial" panose="020B0604020202020204"/>
                <a:cs typeface="Arial" panose="020B0604020202020204"/>
              </a:defRPr>
            </a:pPr>
            <a:r>
              <a:rPr sz="2000" b="0">
                <a:solidFill>
                  <a:srgbClr val="FFFFFF"/>
                </a:solidFill>
                <a:latin typeface="Arial" panose="020B0604020202020204"/>
                <a:ea typeface="Arial" panose="020B0604020202020204"/>
                <a:cs typeface="Arial" panose="020B0604020202020204"/>
              </a:rPr>
              <a:t>Yifei Gong, Jiahan Xie, Zeyu Cheng,</a:t>
            </a:r>
          </a:p>
          <a:p>
            <a:pPr>
              <a:lnSpc>
                <a:spcPct val="113000"/>
              </a:lnSpc>
              <a:buNone/>
              <a:defRPr sz="1950" b="0">
                <a:solidFill>
                  <a:srgbClr val="FFFFFF"/>
                </a:solidFill>
                <a:latin typeface="Arial" panose="020B0604020202020204"/>
                <a:ea typeface="Arial" panose="020B0604020202020204"/>
                <a:cs typeface="Arial" panose="020B0604020202020204"/>
              </a:defRPr>
            </a:pPr>
            <a:r>
              <a:rPr sz="2000" b="0">
                <a:solidFill>
                  <a:srgbClr val="FFFFFF"/>
                </a:solidFill>
                <a:latin typeface="Arial" panose="020B0604020202020204"/>
                <a:ea typeface="Arial" panose="020B0604020202020204"/>
                <a:cs typeface="Arial" panose="020B0604020202020204"/>
              </a:rPr>
              <a:t>Jialing Zhao and Shamima Akhtar</a:t>
            </a:r>
          </a:p>
        </p:txBody>
      </p:sp>
      <p:sp>
        <p:nvSpPr>
          <p:cNvPr id="8" name="UCL CASA Connected Environments MSc"/>
          <p:cNvSpPr>
            <a:spLocks noGrp="1"/>
          </p:cNvSpPr>
          <p:nvPr/>
        </p:nvSpPr>
        <p:spPr>
          <a:xfrm>
            <a:off x="838200" y="5753100"/>
            <a:ext cx="7620000" cy="304800"/>
          </a:xfrm>
          <a:prstGeom prst="rect">
            <a:avLst/>
          </a:prstGeom>
          <a:noFill/>
          <a:ln w="0">
            <a:noFill/>
          </a:ln>
        </p:spPr>
        <p:txBody>
          <a:bodyPr wrap="square" lIns="0" tIns="0" rIns="0" bIns="0" anchor="t">
            <a:noAutofit/>
          </a:bodyPr>
          <a:lstStyle>
            <a:defPPr>
              <a:defRPr sz="1500" b="0">
                <a:solidFill>
                  <a:srgbClr val="D2D6DF"/>
                </a:solidFill>
                <a:latin typeface="Arial" panose="020B0604020202020204"/>
                <a:ea typeface="Arial" panose="020B0604020202020204"/>
                <a:cs typeface="Arial" panose="020B0604020202020204"/>
              </a:defRPr>
            </a:defPPr>
          </a:lstStyle>
          <a:p>
            <a:pPr>
              <a:lnSpc>
                <a:spcPct val="113000"/>
              </a:lnSpc>
              <a:buNone/>
              <a:defRPr sz="1500" b="0">
                <a:solidFill>
                  <a:srgbClr val="D2D6DF"/>
                </a:solidFill>
                <a:latin typeface="Arial" panose="020B0604020202020204"/>
                <a:ea typeface="Arial" panose="020B0604020202020204"/>
                <a:cs typeface="Arial" panose="020B0604020202020204"/>
              </a:defRPr>
            </a:pPr>
            <a:r>
              <a:rPr sz="1600" b="0">
                <a:solidFill>
                  <a:srgbClr val="D2D6DF"/>
                </a:solidFill>
                <a:latin typeface="Arial" panose="020B0604020202020204"/>
                <a:ea typeface="Arial" panose="020B0604020202020204"/>
                <a:cs typeface="Arial" panose="020B0604020202020204"/>
              </a:rPr>
              <a:t>UCL CASA Connected Environments MSc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r>
              <a:rPr lang="en-US" sz="3300" b="1">
                <a:solidFill>
                  <a:srgbClr val="04091D"/>
                </a:solidFill>
                <a:latin typeface="Arial" panose="020B0604020202020204"/>
                <a:ea typeface="Arial" panose="020B0604020202020204"/>
                <a:cs typeface="Arial" panose="020B0604020202020204"/>
              </a:rPr>
              <a:t>1. Background and Research</a:t>
            </a:r>
          </a:p>
        </p:txBody>
      </p:sp>
      <p:sp>
        <p:nvSpPr>
          <p:cNvPr id="2" name="矩形 1"/>
          <p:cNvSpPr>
            <a:spLocks noGrp="1"/>
          </p:cNvSpPr>
          <p:nvPr/>
        </p:nvSpPr>
        <p:spPr>
          <a:xfrm>
            <a:off x="584835" y="1148715"/>
            <a:ext cx="11128375" cy="76200"/>
          </a:xfrm>
          <a:prstGeom prst="rect">
            <a:avLst/>
          </a:prstGeom>
          <a:solidFill>
            <a:srgbClr val="0BE4F7"/>
          </a:solidFill>
          <a:ln w="0">
            <a:noFill/>
          </a:ln>
        </p:spPr>
      </p:sp>
      <p:sp>
        <p:nvSpPr>
          <p:cNvPr id="3" name="02"/>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02</a:t>
            </a:r>
          </a:p>
        </p:txBody>
      </p:sp>
      <p:sp>
        <p:nvSpPr>
          <p:cNvPr id="1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93192" y="6702552"/>
            <a:ext cx="1078121"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3065" y="6467475"/>
            <a:ext cx="5109210" cy="213995"/>
          </a:xfrm>
          <a:prstGeom prst="rect">
            <a:avLst/>
          </a:prstGeom>
          <a:noFill/>
        </p:spPr>
        <p:txBody>
          <a:bodyPr wrap="square">
            <a:spAutoFit/>
          </a:bodyPr>
          <a:lstStyle/>
          <a:p>
            <a:r>
              <a:rPr sz="800">
                <a:solidFill>
                  <a:srgbClr val="69778C"/>
                </a:solidFill>
                <a:latin typeface="Aptos"/>
              </a:rPr>
              <a:t>MIND THE DOCK   •   UCL CASA0017   •   404 GROUP NOT FOUND</a:t>
            </a:r>
          </a:p>
        </p:txBody>
      </p:sp>
      <p:sp>
        <p:nvSpPr>
          <p:cNvPr id="12" name="An empty station delays a journey. A full station makes returning"/>
          <p:cNvSpPr>
            <a:spLocks noGrp="1"/>
          </p:cNvSpPr>
          <p:nvPr/>
        </p:nvSpPr>
        <p:spPr>
          <a:xfrm>
            <a:off x="760095" y="1381125"/>
            <a:ext cx="4044950"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indent="0">
              <a:lnSpc>
                <a:spcPct val="150000"/>
              </a:lnSpc>
              <a:buFont typeface="Arial" panose="020B0604020202020204" pitchFamily="34" charset="0"/>
            </a:pPr>
            <a:r>
              <a:rPr sz="1900" b="1">
                <a:solidFill>
                  <a:srgbClr val="091430"/>
                </a:solidFill>
                <a:latin typeface="Aptos"/>
              </a:rPr>
              <a:t>LONDON POLICY</a:t>
            </a:r>
          </a:p>
          <a:p>
            <a:pPr indent="0">
              <a:lnSpc>
                <a:spcPct val="100000"/>
              </a:lnSpc>
              <a:buFont typeface="Arial" panose="020B0604020202020204" pitchFamily="34" charset="0"/>
            </a:pPr>
            <a:endParaRPr sz="1900">
              <a:solidFill>
                <a:srgbClr val="091430"/>
              </a:solidFill>
              <a:latin typeface="Aptos"/>
            </a:endParaRPr>
          </a:p>
        </p:txBody>
      </p:sp>
      <p:sp>
        <p:nvSpPr>
          <p:cNvPr id="16" name="Our map will help users check a station before leaving and compar"/>
          <p:cNvSpPr>
            <a:spLocks noGrp="1"/>
          </p:cNvSpPr>
          <p:nvPr/>
        </p:nvSpPr>
        <p:spPr>
          <a:xfrm>
            <a:off x="5278120" y="1469390"/>
            <a:ext cx="5821680"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indent="0">
              <a:lnSpc>
                <a:spcPct val="100000"/>
              </a:lnSpc>
              <a:buFont typeface="Arial" panose="020B0604020202020204" pitchFamily="34" charset="0"/>
            </a:pPr>
            <a:r>
              <a:rPr sz="1900" b="1">
                <a:solidFill>
                  <a:srgbClr val="091430"/>
                </a:solidFill>
                <a:latin typeface="Aptos"/>
              </a:rPr>
              <a:t>UCL </a:t>
            </a:r>
            <a:r>
              <a:rPr lang="en-US" sz="1900" b="1">
                <a:solidFill>
                  <a:srgbClr val="091430"/>
                </a:solidFill>
                <a:latin typeface="Aptos"/>
              </a:rPr>
              <a:t>Research</a:t>
            </a:r>
            <a:endParaRPr lang="en-US" altLang="zh-CN" sz="1900">
              <a:solidFill>
                <a:srgbClr val="091430"/>
              </a:solidFill>
              <a:latin typeface="Aptos"/>
            </a:endParaRPr>
          </a:p>
        </p:txBody>
      </p:sp>
      <p:pic>
        <p:nvPicPr>
          <p:cNvPr id="22" name="图片 21"/>
          <p:cNvPicPr>
            <a:picLocks noChangeAspect="1"/>
          </p:cNvPicPr>
          <p:nvPr/>
        </p:nvPicPr>
        <p:blipFill>
          <a:blip r:embed="rId14"/>
          <a:srcRect b="51316"/>
          <a:stretch>
            <a:fillRect/>
          </a:stretch>
        </p:blipFill>
        <p:spPr>
          <a:xfrm>
            <a:off x="584835" y="3956050"/>
            <a:ext cx="1999615" cy="1951355"/>
          </a:xfrm>
          <a:prstGeom prst="rect">
            <a:avLst/>
          </a:prstGeom>
        </p:spPr>
      </p:pic>
      <p:pic>
        <p:nvPicPr>
          <p:cNvPr id="23" name="图片 22"/>
          <p:cNvPicPr>
            <a:picLocks noChangeAspect="1"/>
          </p:cNvPicPr>
          <p:nvPr/>
        </p:nvPicPr>
        <p:blipFill>
          <a:blip r:embed="rId14"/>
          <a:srcRect t="51315" b="1"/>
          <a:stretch>
            <a:fillRect/>
          </a:stretch>
        </p:blipFill>
        <p:spPr>
          <a:xfrm>
            <a:off x="2748280" y="4300855"/>
            <a:ext cx="2056765" cy="2007870"/>
          </a:xfrm>
          <a:prstGeom prst="rect">
            <a:avLst/>
          </a:prstGeom>
        </p:spPr>
      </p:pic>
      <p:sp>
        <p:nvSpPr>
          <p:cNvPr id="29" name="Rounded Rectangle 5"/>
          <p:cNvSpPr/>
          <p:nvPr>
            <p:custDataLst>
              <p:tags r:id="rId1"/>
            </p:custDataLst>
          </p:nvPr>
        </p:nvSpPr>
        <p:spPr>
          <a:xfrm>
            <a:off x="5162550" y="1917700"/>
            <a:ext cx="6551295" cy="2183130"/>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6"/>
          <p:cNvSpPr txBox="1"/>
          <p:nvPr>
            <p:custDataLst>
              <p:tags r:id="rId2"/>
            </p:custDataLst>
          </p:nvPr>
        </p:nvSpPr>
        <p:spPr>
          <a:xfrm>
            <a:off x="5213858" y="2143760"/>
            <a:ext cx="2468880" cy="250825"/>
          </a:xfrm>
          <a:prstGeom prst="rect">
            <a:avLst/>
          </a:prstGeom>
          <a:noFill/>
        </p:spPr>
        <p:txBody>
          <a:bodyPr wrap="square" lIns="54864" tIns="36576">
            <a:spAutoFit/>
          </a:bodyPr>
          <a:lstStyle/>
          <a:p>
            <a:pPr>
              <a:spcAft>
                <a:spcPts val="700"/>
              </a:spcAft>
              <a:defRPr sz="1100" b="1">
                <a:solidFill>
                  <a:srgbClr val="16955D"/>
                </a:solidFill>
                <a:latin typeface="Aptos"/>
              </a:defRPr>
            </a:pPr>
            <a:r>
              <a:t>2016  ·  MASTER’S THESIS</a:t>
            </a:r>
          </a:p>
        </p:txBody>
      </p:sp>
      <p:sp>
        <p:nvSpPr>
          <p:cNvPr id="31" name="TextBox 7"/>
          <p:cNvSpPr txBox="1"/>
          <p:nvPr>
            <p:custDataLst>
              <p:tags r:id="rId3"/>
            </p:custDataLst>
          </p:nvPr>
        </p:nvSpPr>
        <p:spPr>
          <a:xfrm>
            <a:off x="5278120" y="2571115"/>
            <a:ext cx="1710690" cy="635635"/>
          </a:xfrm>
          <a:prstGeom prst="rect">
            <a:avLst/>
          </a:prstGeom>
          <a:noFill/>
        </p:spPr>
        <p:txBody>
          <a:bodyPr wrap="square" lIns="54864" tIns="36576">
            <a:spAutoFit/>
          </a:bodyPr>
          <a:lstStyle/>
          <a:p>
            <a:pPr>
              <a:spcAft>
                <a:spcPts val="700"/>
              </a:spcAft>
              <a:defRPr sz="1800" b="1">
                <a:solidFill>
                  <a:srgbClr val="091430"/>
                </a:solidFill>
                <a:latin typeface="Aptos"/>
              </a:defRPr>
            </a:pPr>
            <a:r>
              <a:t>Nilufer Sari Aslam</a:t>
            </a:r>
          </a:p>
        </p:txBody>
      </p:sp>
      <p:sp>
        <p:nvSpPr>
          <p:cNvPr id="32" name="TextBox 8"/>
          <p:cNvSpPr txBox="1"/>
          <p:nvPr>
            <p:custDataLst>
              <p:tags r:id="rId4"/>
            </p:custDataLst>
          </p:nvPr>
        </p:nvSpPr>
        <p:spPr>
          <a:xfrm>
            <a:off x="7099300" y="2059305"/>
            <a:ext cx="4034790" cy="604520"/>
          </a:xfrm>
          <a:prstGeom prst="rect">
            <a:avLst/>
          </a:prstGeom>
          <a:noFill/>
        </p:spPr>
        <p:txBody>
          <a:bodyPr wrap="square" lIns="54864" tIns="36576">
            <a:spAutoFit/>
          </a:bodyPr>
          <a:lstStyle/>
          <a:p>
            <a:pPr>
              <a:spcAft>
                <a:spcPts val="700"/>
              </a:spcAft>
              <a:defRPr sz="1700" b="1">
                <a:solidFill>
                  <a:srgbClr val="091430"/>
                </a:solidFill>
                <a:latin typeface="Aptos"/>
              </a:defRPr>
            </a:pPr>
            <a:r>
              <a:t>Demand dynamics and inter-modal connectivity in London bike sharing</a:t>
            </a:r>
          </a:p>
        </p:txBody>
      </p:sp>
      <p:sp>
        <p:nvSpPr>
          <p:cNvPr id="33" name="TextBox 9"/>
          <p:cNvSpPr txBox="1"/>
          <p:nvPr>
            <p:custDataLst>
              <p:tags r:id="rId5"/>
            </p:custDataLst>
          </p:nvPr>
        </p:nvSpPr>
        <p:spPr>
          <a:xfrm>
            <a:off x="7099300" y="2774315"/>
            <a:ext cx="4355465" cy="512445"/>
          </a:xfrm>
          <a:prstGeom prst="rect">
            <a:avLst/>
          </a:prstGeom>
          <a:noFill/>
        </p:spPr>
        <p:txBody>
          <a:bodyPr wrap="square" lIns="54864" tIns="36576">
            <a:spAutoFit/>
          </a:bodyPr>
          <a:lstStyle/>
          <a:p>
            <a:pPr>
              <a:spcAft>
                <a:spcPts val="700"/>
              </a:spcAft>
              <a:defRPr sz="1400" b="0">
                <a:solidFill>
                  <a:srgbClr val="091430"/>
                </a:solidFill>
                <a:latin typeface="Aptos"/>
              </a:defRPr>
            </a:pPr>
            <a:r>
              <a:t>Fluctuating demand and station imbalance motivate our Find / Return modes.</a:t>
            </a:r>
          </a:p>
        </p:txBody>
      </p:sp>
      <p:sp>
        <p:nvSpPr>
          <p:cNvPr id="34" name="Rounded Rectangle 10"/>
          <p:cNvSpPr/>
          <p:nvPr>
            <p:custDataLst>
              <p:tags r:id="rId6"/>
            </p:custDataLst>
          </p:nvPr>
        </p:nvSpPr>
        <p:spPr>
          <a:xfrm>
            <a:off x="5161915" y="4270375"/>
            <a:ext cx="6551295" cy="2016760"/>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11"/>
          <p:cNvSpPr txBox="1"/>
          <p:nvPr>
            <p:custDataLst>
              <p:tags r:id="rId7"/>
            </p:custDataLst>
          </p:nvPr>
        </p:nvSpPr>
        <p:spPr>
          <a:xfrm>
            <a:off x="5277485" y="4457700"/>
            <a:ext cx="1821180" cy="250825"/>
          </a:xfrm>
          <a:prstGeom prst="rect">
            <a:avLst/>
          </a:prstGeom>
          <a:noFill/>
        </p:spPr>
        <p:txBody>
          <a:bodyPr wrap="square" lIns="54864" tIns="36576">
            <a:spAutoFit/>
          </a:bodyPr>
          <a:lstStyle/>
          <a:p>
            <a:pPr>
              <a:spcAft>
                <a:spcPts val="700"/>
              </a:spcAft>
              <a:defRPr sz="1100" b="1">
                <a:solidFill>
                  <a:srgbClr val="16955D"/>
                </a:solidFill>
                <a:latin typeface="Aptos"/>
              </a:defRPr>
            </a:pPr>
            <a:r>
              <a:t>2022  ·  PHD THESIS</a:t>
            </a:r>
          </a:p>
        </p:txBody>
      </p:sp>
      <p:sp>
        <p:nvSpPr>
          <p:cNvPr id="36" name="TextBox 12"/>
          <p:cNvSpPr txBox="1"/>
          <p:nvPr>
            <p:custDataLst>
              <p:tags r:id="rId8"/>
            </p:custDataLst>
          </p:nvPr>
        </p:nvSpPr>
        <p:spPr>
          <a:xfrm>
            <a:off x="5277485" y="4959985"/>
            <a:ext cx="2091690" cy="358775"/>
          </a:xfrm>
          <a:prstGeom prst="rect">
            <a:avLst/>
          </a:prstGeom>
          <a:noFill/>
        </p:spPr>
        <p:txBody>
          <a:bodyPr wrap="square" lIns="54864" tIns="36576">
            <a:spAutoFit/>
          </a:bodyPr>
          <a:lstStyle/>
          <a:p>
            <a:pPr>
              <a:spcAft>
                <a:spcPts val="700"/>
              </a:spcAft>
              <a:defRPr sz="1800" b="1">
                <a:solidFill>
                  <a:srgbClr val="091430"/>
                </a:solidFill>
                <a:latin typeface="Aptos"/>
              </a:defRPr>
            </a:pPr>
            <a:r>
              <a:t>James Todd</a:t>
            </a:r>
          </a:p>
        </p:txBody>
      </p:sp>
      <p:sp>
        <p:nvSpPr>
          <p:cNvPr id="37" name="TextBox 13"/>
          <p:cNvSpPr txBox="1"/>
          <p:nvPr>
            <p:custDataLst>
              <p:tags r:id="rId9"/>
            </p:custDataLst>
          </p:nvPr>
        </p:nvSpPr>
        <p:spPr>
          <a:xfrm>
            <a:off x="6882130" y="4377690"/>
            <a:ext cx="4982210" cy="604520"/>
          </a:xfrm>
          <a:prstGeom prst="rect">
            <a:avLst/>
          </a:prstGeom>
          <a:noFill/>
        </p:spPr>
        <p:txBody>
          <a:bodyPr wrap="square" lIns="54864" tIns="36576">
            <a:spAutoFit/>
          </a:bodyPr>
          <a:lstStyle/>
          <a:p>
            <a:pPr>
              <a:spcAft>
                <a:spcPts val="700"/>
              </a:spcAft>
              <a:defRPr sz="1700" b="1">
                <a:solidFill>
                  <a:srgbClr val="091430"/>
                </a:solidFill>
                <a:latin typeface="Aptos"/>
              </a:defRPr>
            </a:pPr>
            <a:r>
              <a:t>Bicycle Sharing Systems: Fast and Slow Urban Mobility Dynamics</a:t>
            </a:r>
          </a:p>
        </p:txBody>
      </p:sp>
      <p:sp>
        <p:nvSpPr>
          <p:cNvPr id="38" name="TextBox 14"/>
          <p:cNvSpPr txBox="1"/>
          <p:nvPr>
            <p:custDataLst>
              <p:tags r:id="rId10"/>
            </p:custDataLst>
          </p:nvPr>
        </p:nvSpPr>
        <p:spPr>
          <a:xfrm>
            <a:off x="6882130" y="5048250"/>
            <a:ext cx="4618355" cy="512445"/>
          </a:xfrm>
          <a:prstGeom prst="rect">
            <a:avLst/>
          </a:prstGeom>
          <a:noFill/>
        </p:spPr>
        <p:txBody>
          <a:bodyPr wrap="square" lIns="54864" tIns="36576">
            <a:spAutoFit/>
          </a:bodyPr>
          <a:lstStyle/>
          <a:p>
            <a:pPr>
              <a:spcAft>
                <a:spcPts val="700"/>
              </a:spcAft>
              <a:defRPr sz="1400" b="0">
                <a:solidFill>
                  <a:srgbClr val="091430"/>
                </a:solidFill>
                <a:latin typeface="Aptos"/>
              </a:defRPr>
            </a:pPr>
            <a:r>
              <a:t>Bike sharing varies across time scales: motivation for our Daily Flow replay.</a:t>
            </a:r>
          </a:p>
        </p:txBody>
      </p:sp>
      <p:sp>
        <p:nvSpPr>
          <p:cNvPr id="39" name="文本框 38"/>
          <p:cNvSpPr txBox="1"/>
          <p:nvPr/>
        </p:nvSpPr>
        <p:spPr>
          <a:xfrm>
            <a:off x="5277485" y="5607685"/>
            <a:ext cx="6324600" cy="583565"/>
          </a:xfrm>
          <a:prstGeom prst="rect">
            <a:avLst/>
          </a:prstGeom>
        </p:spPr>
        <p:txBody>
          <a:bodyPr wrap="square">
            <a:spAutoFit/>
          </a:bodyPr>
          <a:lstStyle/>
          <a:p>
            <a:r>
              <a:rPr lang="en-US" altLang="zh-CN" sz="1600">
                <a:hlinkClick r:id="rId15"/>
              </a:rPr>
              <a:t>Bicycle Sharing Systems: Fast and Slow Urban Mobility Dynamics - UCL Discovery</a:t>
            </a:r>
          </a:p>
        </p:txBody>
      </p:sp>
      <p:sp>
        <p:nvSpPr>
          <p:cNvPr id="46" name="文本框 45"/>
          <p:cNvSpPr txBox="1"/>
          <p:nvPr/>
        </p:nvSpPr>
        <p:spPr>
          <a:xfrm>
            <a:off x="5331460" y="3440430"/>
            <a:ext cx="6270625" cy="583565"/>
          </a:xfrm>
          <a:prstGeom prst="rect">
            <a:avLst/>
          </a:prstGeom>
        </p:spPr>
        <p:txBody>
          <a:bodyPr wrap="square">
            <a:spAutoFit/>
          </a:bodyPr>
          <a:lstStyle/>
          <a:p>
            <a:r>
              <a:rPr lang="en-US" altLang="zh-CN" sz="1600">
                <a:hlinkClick r:id="rId16"/>
              </a:rPr>
              <a:t>Analysis of Demand Dynamics and Inter-modal Connectivity in London Bicycle Sharing System - UCL Discovery</a:t>
            </a:r>
          </a:p>
        </p:txBody>
      </p:sp>
      <p:sp>
        <p:nvSpPr>
          <p:cNvPr id="47" name="Rounded Rectangle 5"/>
          <p:cNvSpPr/>
          <p:nvPr>
            <p:custDataLst>
              <p:tags r:id="rId11"/>
            </p:custDataLst>
          </p:nvPr>
        </p:nvSpPr>
        <p:spPr>
          <a:xfrm>
            <a:off x="650875" y="1917700"/>
            <a:ext cx="4154170" cy="1614805"/>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indent="0">
              <a:lnSpc>
                <a:spcPct val="100000"/>
              </a:lnSpc>
              <a:buFont typeface="Arial" panose="020B0604020202020204" pitchFamily="34" charset="0"/>
            </a:pPr>
            <a:endParaRPr/>
          </a:p>
        </p:txBody>
      </p:sp>
      <p:sp>
        <p:nvSpPr>
          <p:cNvPr id="48" name="文本框 47"/>
          <p:cNvSpPr txBox="1"/>
          <p:nvPr/>
        </p:nvSpPr>
        <p:spPr>
          <a:xfrm>
            <a:off x="838200" y="3006408"/>
            <a:ext cx="5080000" cy="337185"/>
          </a:xfrm>
          <a:prstGeom prst="rect">
            <a:avLst/>
          </a:prstGeom>
        </p:spPr>
        <p:txBody>
          <a:bodyPr>
            <a:spAutoFit/>
          </a:bodyPr>
          <a:lstStyle/>
          <a:p>
            <a:r>
              <a:rPr lang="en-US" altLang="zh-CN" sz="1600">
                <a:hlinkClick r:id="rId17"/>
              </a:rPr>
              <a:t>Mayor's Transport Strategy</a:t>
            </a:r>
          </a:p>
        </p:txBody>
      </p:sp>
      <p:sp>
        <p:nvSpPr>
          <p:cNvPr id="49" name="文本框 48"/>
          <p:cNvSpPr txBox="1"/>
          <p:nvPr/>
        </p:nvSpPr>
        <p:spPr>
          <a:xfrm>
            <a:off x="838200" y="2143760"/>
            <a:ext cx="4055745" cy="645160"/>
          </a:xfrm>
          <a:prstGeom prst="rect">
            <a:avLst/>
          </a:prstGeom>
          <a:noFill/>
        </p:spPr>
        <p:txBody>
          <a:bodyPr wrap="square" rtlCol="0" anchor="t">
            <a:spAutoFit/>
          </a:bodyPr>
          <a:lstStyle/>
          <a:p>
            <a:pPr indent="0">
              <a:lnSpc>
                <a:spcPct val="100000"/>
              </a:lnSpc>
              <a:buFont typeface="Arial" panose="020B0604020202020204" pitchFamily="34" charset="0"/>
            </a:pPr>
            <a:r>
              <a:rPr>
                <a:solidFill>
                  <a:srgbClr val="091430"/>
                </a:solidFill>
                <a:latin typeface="Aptos"/>
                <a:sym typeface="+mn-ea"/>
              </a:rPr>
              <a:t>TfL aims for 80% of trips by active or public transport modes by 2041.</a:t>
            </a:r>
            <a:endParaRPr lang="zh-CN" altLang="en-US">
              <a:solidFill>
                <a:srgbClr val="091430"/>
              </a:solidFill>
              <a:latin typeface="Aptos"/>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sz="3300">
                <a:sym typeface="+mn-ea"/>
              </a:rPr>
              <a:t>Storyboard: from uncertainty to informed choice</a:t>
            </a:r>
            <a:endParaRPr lang="en-US" sz="3300" b="1">
              <a:solidFill>
                <a:srgbClr val="04091D"/>
              </a:solidFill>
              <a:latin typeface="Arial" panose="020B0604020202020204"/>
              <a:ea typeface="Arial" panose="020B0604020202020204"/>
              <a:cs typeface="Arial" panose="020B0604020202020204"/>
            </a:endParaRPr>
          </a:p>
        </p:txBody>
      </p:sp>
      <p:sp>
        <p:nvSpPr>
          <p:cNvPr id="2" name="矩形 1"/>
          <p:cNvSpPr>
            <a:spLocks noGrp="1"/>
          </p:cNvSpPr>
          <p:nvPr/>
        </p:nvSpPr>
        <p:spPr>
          <a:xfrm>
            <a:off x="584835" y="1148715"/>
            <a:ext cx="11128375" cy="76200"/>
          </a:xfrm>
          <a:prstGeom prst="rect">
            <a:avLst/>
          </a:prstGeom>
          <a:solidFill>
            <a:srgbClr val="0BE4F7"/>
          </a:solidFill>
          <a:ln w="0">
            <a:noFill/>
          </a:ln>
        </p:spPr>
      </p:sp>
      <p:sp>
        <p:nvSpPr>
          <p:cNvPr id="3" name="02"/>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3</a:t>
            </a:r>
          </a:p>
        </p:txBody>
      </p:sp>
      <p:sp>
        <p:nvSpPr>
          <p:cNvPr id="1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93192" y="6702552"/>
            <a:ext cx="1078121"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3065" y="6467475"/>
            <a:ext cx="5109210" cy="213995"/>
          </a:xfrm>
          <a:prstGeom prst="rect">
            <a:avLst/>
          </a:prstGeom>
          <a:noFill/>
        </p:spPr>
        <p:txBody>
          <a:bodyPr wrap="square">
            <a:spAutoFit/>
          </a:bodyPr>
          <a:lstStyle/>
          <a:p>
            <a:r>
              <a:rPr sz="800">
                <a:solidFill>
                  <a:srgbClr val="69778C"/>
                </a:solidFill>
                <a:latin typeface="Aptos"/>
              </a:rPr>
              <a:t>MIND THE DOCK   •   UCL CASA0017   •   404 GROUP NOT FOUND</a:t>
            </a:r>
          </a:p>
        </p:txBody>
      </p:sp>
      <p:pic>
        <p:nvPicPr>
          <p:cNvPr id="6" name="Picture 5" descr="Storyboard_1(3).png"/>
          <p:cNvPicPr>
            <a:picLocks noChangeAspect="1"/>
          </p:cNvPicPr>
          <p:nvPr>
            <p:custDataLst>
              <p:tags r:id="rId1"/>
            </p:custDataLst>
          </p:nvPr>
        </p:nvPicPr>
        <p:blipFill>
          <a:blip r:embed="rId9"/>
          <a:stretch>
            <a:fillRect/>
          </a:stretch>
        </p:blipFill>
        <p:spPr>
          <a:xfrm>
            <a:off x="770001" y="1861312"/>
            <a:ext cx="4773168" cy="3182112"/>
          </a:xfrm>
          <a:prstGeom prst="rect">
            <a:avLst/>
          </a:prstGeom>
        </p:spPr>
      </p:pic>
      <p:pic>
        <p:nvPicPr>
          <p:cNvPr id="7" name="Picture 6" descr="Storyboard_2(2).png"/>
          <p:cNvPicPr>
            <a:picLocks noChangeAspect="1"/>
          </p:cNvPicPr>
          <p:nvPr>
            <p:custDataLst>
              <p:tags r:id="rId2"/>
            </p:custDataLst>
          </p:nvPr>
        </p:nvPicPr>
        <p:blipFill>
          <a:blip r:embed="rId10"/>
          <a:stretch>
            <a:fillRect/>
          </a:stretch>
        </p:blipFill>
        <p:spPr>
          <a:xfrm>
            <a:off x="6244590" y="1927860"/>
            <a:ext cx="5175250" cy="3009265"/>
          </a:xfrm>
          <a:prstGeom prst="rect">
            <a:avLst/>
          </a:prstGeom>
        </p:spPr>
      </p:pic>
      <p:sp>
        <p:nvSpPr>
          <p:cNvPr id="8" name="TextBox 7"/>
          <p:cNvSpPr txBox="1"/>
          <p:nvPr>
            <p:custDataLst>
              <p:tags r:id="rId3"/>
            </p:custDataLst>
          </p:nvPr>
        </p:nvSpPr>
        <p:spPr>
          <a:xfrm>
            <a:off x="715645" y="5141468"/>
            <a:ext cx="4992624" cy="358775"/>
          </a:xfrm>
          <a:prstGeom prst="rect">
            <a:avLst/>
          </a:prstGeom>
          <a:noFill/>
        </p:spPr>
        <p:txBody>
          <a:bodyPr wrap="square" lIns="54864" tIns="36576">
            <a:spAutoFit/>
          </a:bodyPr>
          <a:lstStyle/>
          <a:p>
            <a:pPr>
              <a:spcAft>
                <a:spcPts val="700"/>
              </a:spcAft>
              <a:defRPr sz="1600" b="1">
                <a:solidFill>
                  <a:srgbClr val="091430"/>
                </a:solidFill>
                <a:latin typeface="Aptos"/>
              </a:defRPr>
            </a:pPr>
            <a:r>
              <a:rPr sz="1800"/>
              <a:t>Scenario A: finding a bike after a lecture</a:t>
            </a:r>
          </a:p>
        </p:txBody>
      </p:sp>
      <p:sp>
        <p:nvSpPr>
          <p:cNvPr id="4" name="TextBox 8"/>
          <p:cNvSpPr txBox="1"/>
          <p:nvPr>
            <p:custDataLst>
              <p:tags r:id="rId4"/>
            </p:custDataLst>
          </p:nvPr>
        </p:nvSpPr>
        <p:spPr>
          <a:xfrm>
            <a:off x="6245225" y="5141595"/>
            <a:ext cx="5375275" cy="358775"/>
          </a:xfrm>
          <a:prstGeom prst="rect">
            <a:avLst/>
          </a:prstGeom>
          <a:noFill/>
        </p:spPr>
        <p:txBody>
          <a:bodyPr wrap="square" lIns="54864" tIns="36576">
            <a:spAutoFit/>
          </a:bodyPr>
          <a:lstStyle/>
          <a:p>
            <a:pPr>
              <a:spcAft>
                <a:spcPts val="700"/>
              </a:spcAft>
              <a:defRPr sz="1600" b="1">
                <a:solidFill>
                  <a:srgbClr val="091430"/>
                </a:solidFill>
                <a:latin typeface="Aptos"/>
              </a:defRPr>
            </a:pPr>
            <a:r>
              <a:rPr sz="1800"/>
              <a:t>Scenario B: avoiding an unreliable return dock</a:t>
            </a:r>
          </a:p>
        </p:txBody>
      </p:sp>
      <p:sp>
        <p:nvSpPr>
          <p:cNvPr id="10" name="TextBox 9"/>
          <p:cNvSpPr txBox="1"/>
          <p:nvPr>
            <p:custDataLst>
              <p:tags r:id="rId5"/>
            </p:custDataLst>
          </p:nvPr>
        </p:nvSpPr>
        <p:spPr>
          <a:xfrm>
            <a:off x="715645" y="5543804"/>
            <a:ext cx="5010912" cy="297180"/>
          </a:xfrm>
          <a:prstGeom prst="rect">
            <a:avLst/>
          </a:prstGeom>
          <a:noFill/>
        </p:spPr>
        <p:txBody>
          <a:bodyPr wrap="square" lIns="54864" tIns="36576">
            <a:spAutoFit/>
          </a:bodyPr>
          <a:lstStyle/>
          <a:p>
            <a:pPr>
              <a:spcAft>
                <a:spcPts val="700"/>
              </a:spcAft>
              <a:defRPr sz="1300" b="0">
                <a:solidFill>
                  <a:srgbClr val="091430"/>
                </a:solidFill>
                <a:latin typeface="Aptos"/>
              </a:defRPr>
            </a:pPr>
            <a:r>
              <a:rPr sz="1400"/>
              <a:t>Discover → inspect station → check safety → borrow → return</a:t>
            </a:r>
          </a:p>
        </p:txBody>
      </p:sp>
      <p:sp>
        <p:nvSpPr>
          <p:cNvPr id="5" name="TextBox 10"/>
          <p:cNvSpPr txBox="1"/>
          <p:nvPr>
            <p:custDataLst>
              <p:tags r:id="rId6"/>
            </p:custDataLst>
          </p:nvPr>
        </p:nvSpPr>
        <p:spPr>
          <a:xfrm>
            <a:off x="6296660" y="5543550"/>
            <a:ext cx="5467985" cy="297180"/>
          </a:xfrm>
          <a:prstGeom prst="rect">
            <a:avLst/>
          </a:prstGeom>
          <a:noFill/>
        </p:spPr>
        <p:txBody>
          <a:bodyPr wrap="square" lIns="54864" tIns="36576">
            <a:spAutoFit/>
          </a:bodyPr>
          <a:lstStyle/>
          <a:p>
            <a:pPr>
              <a:spcAft>
                <a:spcPts val="700"/>
              </a:spcAft>
              <a:defRPr sz="1300" b="0">
                <a:solidFill>
                  <a:srgbClr val="091430"/>
                </a:solidFill>
                <a:latin typeface="Aptos"/>
              </a:defRPr>
            </a:pPr>
            <a:r>
              <a:rPr sz="1400"/>
              <a:t>Review availability → compare stations → choose return option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02"/>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4</a:t>
            </a:r>
          </a:p>
        </p:txBody>
      </p:sp>
      <p:sp>
        <p:nvSpPr>
          <p:cNvPr id="5" name="An empty station delays a journey. A full station makes returning"/>
          <p:cNvSpPr>
            <a:spLocks noGrp="1"/>
          </p:cNvSpPr>
          <p:nvPr/>
        </p:nvSpPr>
        <p:spPr>
          <a:xfrm>
            <a:off x="584835" y="2078355"/>
            <a:ext cx="6345555"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00000"/>
              </a:lnSpc>
              <a:buNone/>
              <a:defRPr sz="2100" b="0">
                <a:solidFill>
                  <a:srgbClr val="3A3C52"/>
                </a:solidFill>
                <a:latin typeface="Arial" panose="020B0604020202020204"/>
                <a:ea typeface="Arial" panose="020B0604020202020204"/>
                <a:cs typeface="Arial" panose="020B0604020202020204"/>
              </a:defRPr>
            </a:pPr>
            <a:r>
              <a:rPr lang="en-US" altLang="zh-CN" sz="2100" b="0">
                <a:solidFill>
                  <a:srgbClr val="3A3C52"/>
                </a:solidFill>
                <a:latin typeface="Arial" panose="020B0604020202020204"/>
                <a:ea typeface="Arial" panose="020B0604020202020204"/>
                <a:cs typeface="Arial" panose="020B0604020202020204"/>
              </a:rPr>
              <a:t>Help users quickly locate available bikes and empty docking spaces nearby, reducing unnecessary walking and waiting.</a:t>
            </a:r>
          </a:p>
        </p:txBody>
      </p:sp>
      <p:sp>
        <p:nvSpPr>
          <p:cNvPr id="6" name="Our map will help users check a station before leaving and compar"/>
          <p:cNvSpPr>
            <a:spLocks noGrp="1"/>
          </p:cNvSpPr>
          <p:nvPr/>
        </p:nvSpPr>
        <p:spPr>
          <a:xfrm>
            <a:off x="584835" y="3865245"/>
            <a:ext cx="6480810"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00000"/>
              </a:lnSpc>
              <a:buNone/>
              <a:defRPr sz="2100" b="0">
                <a:solidFill>
                  <a:srgbClr val="3A3C52"/>
                </a:solidFill>
                <a:latin typeface="Arial" panose="020B0604020202020204"/>
                <a:ea typeface="Arial" panose="020B0604020202020204"/>
                <a:cs typeface="Arial" panose="020B0604020202020204"/>
              </a:defRPr>
            </a:pPr>
            <a:r>
              <a:rPr lang="en-US" altLang="zh-CN" sz="2100" b="0">
                <a:solidFill>
                  <a:srgbClr val="3A3C52"/>
                </a:solidFill>
                <a:latin typeface="Arial" panose="020B0604020202020204"/>
                <a:ea typeface="Arial" panose="020B0604020202020204"/>
                <a:cs typeface="Arial" panose="020B0604020202020204"/>
              </a:rPr>
              <a:t>Combine live availability with historical trends to help users plan journeys and make informed decisions.</a:t>
            </a:r>
          </a:p>
        </p:txBody>
      </p:sp>
      <p:pic>
        <p:nvPicPr>
          <p:cNvPr id="10" name="图片 9"/>
          <p:cNvPicPr/>
          <p:nvPr/>
        </p:nvPicPr>
        <p:blipFill>
          <a:blip r:embed="rId6"/>
          <a:stretch>
            <a:fillRect/>
          </a:stretch>
        </p:blipFill>
        <p:spPr>
          <a:xfrm>
            <a:off x="7291070" y="2412365"/>
            <a:ext cx="4422140" cy="3313430"/>
          </a:xfrm>
          <a:prstGeom prst="rect">
            <a:avLst/>
          </a:prstGeom>
        </p:spPr>
      </p:pic>
      <p:sp>
        <p:nvSpPr>
          <p:cNvPr id="1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r>
              <a:rPr lang="en-US">
                <a:solidFill>
                  <a:srgbClr val="04091D"/>
                </a:solidFill>
                <a:latin typeface="Arial" panose="020B0604020202020204"/>
                <a:ea typeface="Arial" panose="020B0604020202020204"/>
                <a:cs typeface="Arial" panose="020B0604020202020204"/>
                <a:sym typeface="+mn-ea"/>
              </a:rPr>
              <a:t>2. </a:t>
            </a:r>
            <a:r>
              <a:rPr>
                <a:solidFill>
                  <a:srgbClr val="04091D"/>
                </a:solidFill>
                <a:latin typeface="Arial" panose="020B0604020202020204"/>
                <a:ea typeface="Arial" panose="020B0604020202020204"/>
                <a:cs typeface="Arial" panose="020B0604020202020204"/>
                <a:sym typeface="+mn-ea"/>
              </a:rPr>
              <a:t>What problem are we trying to solve?</a:t>
            </a:r>
            <a:endParaRPr lang="en-US" sz="3300" b="1">
              <a:solidFill>
                <a:srgbClr val="04091D"/>
              </a:solidFill>
              <a:latin typeface="Arial" panose="020B0604020202020204"/>
              <a:ea typeface="Arial" panose="020B0604020202020204"/>
              <a:cs typeface="Arial" panose="020B0604020202020204"/>
            </a:endParaRPr>
          </a:p>
        </p:txBody>
      </p:sp>
      <p:sp>
        <p:nvSpPr>
          <p:cNvPr id="15" name="矩形 14"/>
          <p:cNvSpPr>
            <a:spLocks noGrp="1"/>
          </p:cNvSpPr>
          <p:nvPr/>
        </p:nvSpPr>
        <p:spPr>
          <a:xfrm>
            <a:off x="584835" y="1148715"/>
            <a:ext cx="11128375" cy="76200"/>
          </a:xfrm>
          <a:prstGeom prst="rect">
            <a:avLst/>
          </a:prstGeom>
          <a:solidFill>
            <a:srgbClr val="0BE4F7"/>
          </a:solidFill>
          <a:ln w="0">
            <a:noFill/>
          </a:ln>
        </p:spPr>
      </p:sp>
      <p:sp>
        <p:nvSpPr>
          <p:cNvPr id="17" name="TextBox 14"/>
          <p:cNvSpPr txBox="1"/>
          <p:nvPr/>
        </p:nvSpPr>
        <p:spPr>
          <a:xfrm>
            <a:off x="393065" y="6467475"/>
            <a:ext cx="5109210" cy="213995"/>
          </a:xfrm>
          <a:prstGeom prst="rect">
            <a:avLst/>
          </a:prstGeom>
          <a:noFill/>
        </p:spPr>
        <p:txBody>
          <a:bodyPr wrap="square">
            <a:spAutoFit/>
          </a:bodyPr>
          <a:lstStyle/>
          <a:p>
            <a:r>
              <a:rPr sz="800">
                <a:solidFill>
                  <a:srgbClr val="69778C"/>
                </a:solidFill>
                <a:latin typeface="Aptos"/>
              </a:rPr>
              <a:t>MIND THE DOCK   •   UCL CASA0017   •   404 GROUP NOT FOUND</a:t>
            </a:r>
          </a:p>
        </p:txBody>
      </p:sp>
      <p:sp>
        <p:nvSpPr>
          <p:cNvPr id="23" name="Rectangle 2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93192" y="6702552"/>
            <a:ext cx="2695302"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ur map will help users check a station before leaving and compar"/>
          <p:cNvSpPr>
            <a:spLocks noGrp="1"/>
          </p:cNvSpPr>
          <p:nvPr/>
        </p:nvSpPr>
        <p:spPr>
          <a:xfrm>
            <a:off x="584835" y="5329555"/>
            <a:ext cx="6345555"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00000"/>
              </a:lnSpc>
              <a:buNone/>
              <a:defRPr sz="2100" b="0">
                <a:solidFill>
                  <a:srgbClr val="3A3C52"/>
                </a:solidFill>
                <a:latin typeface="Arial" panose="020B0604020202020204"/>
                <a:ea typeface="Arial" panose="020B0604020202020204"/>
                <a:cs typeface="Arial" panose="020B0604020202020204"/>
              </a:defRPr>
            </a:pPr>
            <a:r>
              <a:rPr lang="en-US" altLang="zh-CN" sz="2100" b="0">
                <a:solidFill>
                  <a:srgbClr val="3A3C52"/>
                </a:solidFill>
                <a:latin typeface="Arial" panose="020B0604020202020204"/>
                <a:ea typeface="Arial" panose="020B0604020202020204"/>
                <a:cs typeface="Arial" panose="020B0604020202020204"/>
              </a:rPr>
              <a:t>Visualise historical cycling collisions to help users understand potential safety concerns around docking stations.</a:t>
            </a:r>
          </a:p>
        </p:txBody>
      </p:sp>
      <p:grpSp>
        <p:nvGrpSpPr>
          <p:cNvPr id="30" name="组合 29"/>
          <p:cNvGrpSpPr/>
          <p:nvPr/>
        </p:nvGrpSpPr>
        <p:grpSpPr>
          <a:xfrm>
            <a:off x="584835" y="1505585"/>
            <a:ext cx="2313940" cy="523240"/>
            <a:chOff x="827" y="3198"/>
            <a:chExt cx="3644" cy="824"/>
          </a:xfrm>
        </p:grpSpPr>
        <p:pic>
          <p:nvPicPr>
            <p:cNvPr id="21" name="图片 20" descr="455e8ecee1c5b47b0c6a1e2198fbb8fe"/>
            <p:cNvPicPr>
              <a:picLocks noChangeAspect="1"/>
            </p:cNvPicPr>
            <p:nvPr>
              <p:custDataLst>
                <p:tags r:id="rId3"/>
              </p:custDataLst>
            </p:nvPr>
          </p:nvPicPr>
          <p:blipFill>
            <a:blip>
              <a:extLst>
                <a:ext uri="{96DAC541-7B7A-43D3-8B79-37D633B846F1}">
                  <asvg:svgBlip xmlns:asvg="http://schemas.microsoft.com/office/drawing/2016/SVG/main" r:embed="rId7"/>
                </a:ext>
              </a:extLst>
            </a:blip>
            <a:stretch>
              <a:fillRect/>
            </a:stretch>
          </p:blipFill>
          <p:spPr>
            <a:xfrm>
              <a:off x="827" y="3198"/>
              <a:ext cx="599" cy="599"/>
            </a:xfrm>
            <a:prstGeom prst="rect">
              <a:avLst/>
            </a:prstGeom>
          </p:spPr>
        </p:pic>
        <p:sp>
          <p:nvSpPr>
            <p:cNvPr id="22" name="An empty station delays a journey. A full station makes returning"/>
            <p:cNvSpPr>
              <a:spLocks noGrp="1"/>
            </p:cNvSpPr>
            <p:nvPr/>
          </p:nvSpPr>
          <p:spPr>
            <a:xfrm>
              <a:off x="1715" y="3198"/>
              <a:ext cx="2756" cy="825"/>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13000"/>
                </a:lnSpc>
                <a:buNone/>
                <a:defRPr sz="2100" b="0">
                  <a:solidFill>
                    <a:srgbClr val="3A3C52"/>
                  </a:solidFill>
                  <a:latin typeface="Arial" panose="020B0604020202020204"/>
                  <a:ea typeface="Arial" panose="020B0604020202020204"/>
                  <a:cs typeface="Arial" panose="020B0604020202020204"/>
                </a:defRPr>
              </a:pPr>
              <a:r>
                <a:rPr lang="en-US" altLang="zh-CN" sz="2100" b="1">
                  <a:solidFill>
                    <a:srgbClr val="C00000"/>
                  </a:solidFill>
                  <a:latin typeface="Arial" panose="020B0604020202020204"/>
                  <a:ea typeface="Arial" panose="020B0604020202020204"/>
                  <a:cs typeface="Arial" panose="020B0604020202020204"/>
                </a:rPr>
                <a:t>Convenive</a:t>
              </a:r>
            </a:p>
          </p:txBody>
        </p:sp>
      </p:grpSp>
      <p:grpSp>
        <p:nvGrpSpPr>
          <p:cNvPr id="31" name="组合 30"/>
          <p:cNvGrpSpPr/>
          <p:nvPr/>
        </p:nvGrpSpPr>
        <p:grpSpPr>
          <a:xfrm>
            <a:off x="584835" y="3261995"/>
            <a:ext cx="2382520" cy="602615"/>
            <a:chOff x="719" y="5627"/>
            <a:chExt cx="3752" cy="949"/>
          </a:xfrm>
        </p:grpSpPr>
        <p:sp>
          <p:nvSpPr>
            <p:cNvPr id="26" name="An empty station delays a journey. A full station makes returning"/>
            <p:cNvSpPr>
              <a:spLocks noGrp="1"/>
            </p:cNvSpPr>
            <p:nvPr/>
          </p:nvSpPr>
          <p:spPr>
            <a:xfrm>
              <a:off x="1715" y="5752"/>
              <a:ext cx="2756" cy="825"/>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13000"/>
                </a:lnSpc>
                <a:buNone/>
                <a:defRPr sz="2100" b="0">
                  <a:solidFill>
                    <a:srgbClr val="3A3C52"/>
                  </a:solidFill>
                  <a:latin typeface="Arial" panose="020B0604020202020204"/>
                  <a:ea typeface="Arial" panose="020B0604020202020204"/>
                  <a:cs typeface="Arial" panose="020B0604020202020204"/>
                </a:defRPr>
              </a:pPr>
              <a:r>
                <a:rPr lang="en-US" altLang="zh-CN" sz="2100" b="1">
                  <a:solidFill>
                    <a:srgbClr val="C00000"/>
                  </a:solidFill>
                  <a:latin typeface="Arial" panose="020B0604020202020204"/>
                  <a:ea typeface="Arial" panose="020B0604020202020204"/>
                  <a:cs typeface="Arial" panose="020B0604020202020204"/>
                </a:rPr>
                <a:t>Reliability</a:t>
              </a:r>
            </a:p>
          </p:txBody>
        </p:sp>
        <p:pic>
          <p:nvPicPr>
            <p:cNvPr id="28" name="图片 27" descr="ee9130eebf15813ac451b1eddbeec86b"/>
            <p:cNvPicPr>
              <a:picLocks noChangeAspect="1"/>
            </p:cNvPicPr>
            <p:nvPr>
              <p:custDataLst>
                <p:tags r:id="rId2"/>
              </p:custDataLst>
            </p:nvPr>
          </p:nvPicPr>
          <p:blipFill>
            <a:blip>
              <a:extLst>
                <a:ext uri="{96DAC541-7B7A-43D3-8B79-37D633B846F1}">
                  <asvg:svgBlip xmlns:asvg="http://schemas.microsoft.com/office/drawing/2016/SVG/main" r:embed="rId8"/>
                </a:ext>
              </a:extLst>
            </a:blip>
            <a:stretch>
              <a:fillRect/>
            </a:stretch>
          </p:blipFill>
          <p:spPr>
            <a:xfrm>
              <a:off x="719" y="5627"/>
              <a:ext cx="707" cy="707"/>
            </a:xfrm>
            <a:prstGeom prst="rect">
              <a:avLst/>
            </a:prstGeom>
          </p:spPr>
        </p:pic>
      </p:grpSp>
      <p:grpSp>
        <p:nvGrpSpPr>
          <p:cNvPr id="32" name="组合 31"/>
          <p:cNvGrpSpPr/>
          <p:nvPr/>
        </p:nvGrpSpPr>
        <p:grpSpPr>
          <a:xfrm>
            <a:off x="584835" y="4827270"/>
            <a:ext cx="3942080" cy="523240"/>
            <a:chOff x="827" y="7779"/>
            <a:chExt cx="6208" cy="824"/>
          </a:xfrm>
        </p:grpSpPr>
        <p:pic>
          <p:nvPicPr>
            <p:cNvPr id="27" name="图片 26" descr="8a8264e2d8d15c3003cee52a7a3de0bd"/>
            <p:cNvPicPr>
              <a:picLocks noChangeAspect="1"/>
            </p:cNvPicPr>
            <p:nvPr>
              <p:custDataLst>
                <p:tags r:id="rId1"/>
              </p:custDataLst>
            </p:nvPr>
          </p:nvPicPr>
          <p:blipFill>
            <a:blip>
              <a:extLst>
                <a:ext uri="{96DAC541-7B7A-43D3-8B79-37D633B846F1}">
                  <asvg:svgBlip xmlns:asvg="http://schemas.microsoft.com/office/drawing/2016/SVG/main" r:embed="rId9"/>
                </a:ext>
              </a:extLst>
            </a:blip>
            <a:stretch>
              <a:fillRect/>
            </a:stretch>
          </p:blipFill>
          <p:spPr>
            <a:xfrm>
              <a:off x="827" y="7779"/>
              <a:ext cx="559" cy="559"/>
            </a:xfrm>
            <a:prstGeom prst="rect">
              <a:avLst/>
            </a:prstGeom>
          </p:spPr>
        </p:pic>
        <p:sp>
          <p:nvSpPr>
            <p:cNvPr id="29" name="An empty station delays a journey. A full station makes returning"/>
            <p:cNvSpPr>
              <a:spLocks noGrp="1"/>
            </p:cNvSpPr>
            <p:nvPr/>
          </p:nvSpPr>
          <p:spPr>
            <a:xfrm>
              <a:off x="1715" y="7779"/>
              <a:ext cx="5321" cy="825"/>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13000"/>
                </a:lnSpc>
                <a:buNone/>
                <a:defRPr sz="2100" b="0">
                  <a:solidFill>
                    <a:srgbClr val="3A3C52"/>
                  </a:solidFill>
                  <a:latin typeface="Arial" panose="020B0604020202020204"/>
                  <a:ea typeface="Arial" panose="020B0604020202020204"/>
                  <a:cs typeface="Arial" panose="020B0604020202020204"/>
                </a:defRPr>
              </a:pPr>
              <a:r>
                <a:rPr lang="en-US" altLang="zh-CN" sz="2100" b="1">
                  <a:solidFill>
                    <a:srgbClr val="C00000"/>
                  </a:solidFill>
                  <a:latin typeface="Arial" panose="020B0604020202020204"/>
                  <a:ea typeface="Arial" panose="020B0604020202020204"/>
                  <a:cs typeface="Arial" panose="020B0604020202020204"/>
                </a:rPr>
                <a:t>Safety Awareness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4" name="表格 3"/>
          <p:cNvGraphicFramePr/>
          <p:nvPr/>
        </p:nvGraphicFramePr>
        <p:xfrm>
          <a:off x="838200" y="1554480"/>
          <a:ext cx="10515600" cy="3019424"/>
        </p:xfrm>
        <a:graphic>
          <a:graphicData uri="http://schemas.openxmlformats.org/drawingml/2006/table">
            <a:tbl>
              <a:tblPr firstRow="1"/>
              <a:tblGrid>
                <a:gridCol w="2667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754856">
                <a:tc>
                  <a:txBody>
                    <a:bodyPr/>
                    <a:lstStyle/>
                    <a:p>
                      <a:pPr>
                        <a:lnSpc>
                          <a:spcPct val="110000"/>
                        </a:lnSpc>
                        <a:buNone/>
                      </a:pPr>
                      <a:r>
                        <a:rPr sz="1950" b="1">
                          <a:solidFill>
                            <a:srgbClr val="FFFFFF"/>
                          </a:solidFill>
                          <a:latin typeface="Arial" panose="020B0604020202020204"/>
                          <a:ea typeface="Arial" panose="020B0604020202020204"/>
                          <a:cs typeface="Arial" panose="020B0604020202020204"/>
                        </a:rPr>
                        <a:t>Dataset</a:t>
                      </a:r>
                    </a:p>
                  </a:txBody>
                  <a:tcPr anchor="ctr">
                    <a:lnL w="9525">
                      <a:solidFill>
                        <a:srgbClr val="D8DBE1"/>
                      </a:solidFill>
                      <a:prstDash val="solid"/>
                    </a:lnL>
                    <a:lnR w="9525">
                      <a:solidFill>
                        <a:srgbClr val="D8DBE1"/>
                      </a:solidFill>
                      <a:prstDash val="solid"/>
                    </a:lnR>
                    <a:lnT w="9525">
                      <a:solidFill>
                        <a:srgbClr val="D8DBE1"/>
                      </a:solidFill>
                      <a:prstDash val="solid"/>
                    </a:lnT>
                    <a:lnB w="9525">
                      <a:solidFill>
                        <a:srgbClr val="D8DBE1"/>
                      </a:solidFill>
                      <a:prstDash val="solid"/>
                    </a:lnB>
                    <a:solidFill>
                      <a:srgbClr val="1D1E29"/>
                    </a:solidFill>
                  </a:tcPr>
                </a:tc>
                <a:tc>
                  <a:txBody>
                    <a:bodyPr/>
                    <a:lstStyle/>
                    <a:p>
                      <a:pPr>
                        <a:lnSpc>
                          <a:spcPct val="110000"/>
                        </a:lnSpc>
                        <a:buNone/>
                      </a:pPr>
                      <a:r>
                        <a:rPr sz="1950" b="1">
                          <a:solidFill>
                            <a:srgbClr val="FFFFFF"/>
                          </a:solidFill>
                          <a:latin typeface="Arial" panose="020B0604020202020204"/>
                          <a:ea typeface="Arial" panose="020B0604020202020204"/>
                          <a:cs typeface="Arial" panose="020B0604020202020204"/>
                        </a:rPr>
                        <a:t>What we will collect</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a:solidFill>
                        <a:srgbClr val="D8DBE1"/>
                      </a:solidFill>
                      <a:prstDash val="solid"/>
                    </a:lnT>
                    <a:lnB w="9525">
                      <a:solidFill>
                        <a:srgbClr val="D8DBE1"/>
                      </a:solidFill>
                      <a:prstDash val="solid"/>
                    </a:lnB>
                    <a:solidFill>
                      <a:srgbClr val="1D1E29"/>
                    </a:solidFill>
                  </a:tcPr>
                </a:tc>
                <a:tc>
                  <a:txBody>
                    <a:bodyPr/>
                    <a:lstStyle/>
                    <a:p>
                      <a:pPr>
                        <a:lnSpc>
                          <a:spcPct val="110000"/>
                        </a:lnSpc>
                        <a:buNone/>
                      </a:pPr>
                      <a:r>
                        <a:rPr sz="1950" b="1">
                          <a:solidFill>
                            <a:srgbClr val="FFFFFF"/>
                          </a:solidFill>
                          <a:latin typeface="Arial" panose="020B0604020202020204"/>
                          <a:ea typeface="Arial" panose="020B0604020202020204"/>
                          <a:cs typeface="Arial" panose="020B0604020202020204"/>
                        </a:rPr>
                        <a:t>What it will show</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a:solidFill>
                        <a:srgbClr val="D8DBE1"/>
                      </a:solidFill>
                      <a:prstDash val="solid"/>
                    </a:lnT>
                    <a:lnB w="9525">
                      <a:solidFill>
                        <a:srgbClr val="D8DBE1"/>
                      </a:solidFill>
                      <a:prstDash val="solid"/>
                    </a:lnB>
                    <a:solidFill>
                      <a:srgbClr val="1D1E29"/>
                    </a:solidFill>
                  </a:tcPr>
                </a:tc>
                <a:extLst>
                  <a:ext uri="{0D108BD9-81ED-4DB2-BD59-A6C34878D82A}">
                    <a16:rowId xmlns:a16="http://schemas.microsoft.com/office/drawing/2014/main" val="10000"/>
                  </a:ext>
                </a:extLst>
              </a:tr>
              <a:tr h="754856">
                <a:tc rowSpan="2">
                  <a:txBody>
                    <a:bodyPr/>
                    <a:lstStyle/>
                    <a:p>
                      <a:pPr>
                        <a:lnSpc>
                          <a:spcPct val="110000"/>
                        </a:lnSpc>
                        <a:buNone/>
                      </a:pPr>
                      <a:r>
                        <a:rPr sz="1800" b="0" dirty="0">
                          <a:solidFill>
                            <a:srgbClr val="3A3C52"/>
                          </a:solidFill>
                          <a:latin typeface="Arial" panose="020B0604020202020204"/>
                          <a:ea typeface="Arial" panose="020B0604020202020204"/>
                          <a:cs typeface="Arial" panose="020B0604020202020204"/>
                        </a:rPr>
                        <a:t>TfL </a:t>
                      </a:r>
                      <a:r>
                        <a:rPr sz="1800" b="0" dirty="0" err="1">
                          <a:solidFill>
                            <a:srgbClr val="3A3C52"/>
                          </a:solidFill>
                          <a:latin typeface="Arial" panose="020B0604020202020204"/>
                          <a:ea typeface="Arial" panose="020B0604020202020204"/>
                          <a:cs typeface="Arial" panose="020B0604020202020204"/>
                        </a:rPr>
                        <a:t>BikePoint</a:t>
                      </a:r>
                      <a:r>
                        <a:rPr sz="1800" b="0" dirty="0">
                          <a:solidFill>
                            <a:srgbClr val="3A3C52"/>
                          </a:solidFill>
                          <a:latin typeface="Arial" panose="020B0604020202020204"/>
                          <a:ea typeface="Arial" panose="020B0604020202020204"/>
                          <a:cs typeface="Arial" panose="020B0604020202020204"/>
                        </a:rPr>
                        <a:t> API</a:t>
                      </a:r>
                    </a:p>
                  </a:txBody>
                  <a:tcPr anchor="ctr">
                    <a:lnL w="9525">
                      <a:solidFill>
                        <a:srgbClr val="D8DBE1"/>
                      </a:solidFill>
                      <a:prstDash val="soli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Station locations</a:t>
                      </a:r>
                    </a:p>
                    <a:p>
                      <a:pPr>
                        <a:lnSpc>
                          <a:spcPct val="110000"/>
                        </a:lnSpc>
                        <a:buNone/>
                      </a:pPr>
                      <a:r>
                        <a:rPr sz="1800" b="0">
                          <a:solidFill>
                            <a:srgbClr val="3A3C52"/>
                          </a:solidFill>
                          <a:latin typeface="Arial" panose="020B0604020202020204"/>
                          <a:ea typeface="Arial" panose="020B0604020202020204"/>
                          <a:cs typeface="Arial" panose="020B0604020202020204"/>
                        </a:rPr>
                        <a:t>Bikes and empty docks</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Where users can borrow</a:t>
                      </a:r>
                    </a:p>
                    <a:p>
                      <a:pPr>
                        <a:lnSpc>
                          <a:spcPct val="110000"/>
                        </a:lnSpc>
                        <a:buNone/>
                      </a:pPr>
                      <a:r>
                        <a:rPr sz="1800" b="0">
                          <a:solidFill>
                            <a:srgbClr val="3A3C52"/>
                          </a:solidFill>
                          <a:latin typeface="Arial" panose="020B0604020202020204"/>
                          <a:ea typeface="Arial" panose="020B0604020202020204"/>
                          <a:cs typeface="Arial" panose="020B0604020202020204"/>
                        </a:rPr>
                        <a:t>or return a bike</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extLst>
                  <a:ext uri="{0D108BD9-81ED-4DB2-BD59-A6C34878D82A}">
                    <a16:rowId xmlns:a16="http://schemas.microsoft.com/office/drawing/2014/main" val="10001"/>
                  </a:ext>
                </a:extLst>
              </a:tr>
              <a:tr h="754856">
                <a:tc vMerge="1">
                  <a:txBody>
                    <a:bodyPr/>
                    <a:lstStyle/>
                    <a:p>
                      <a:endParaRPr lang="zh-CN"/>
                    </a:p>
                  </a:txBody>
                  <a:tcPr anchor="ctr">
                    <a:lnL w="9525">
                      <a:solidFill>
                        <a:srgbClr val="D8DBE1"/>
                      </a:solidFill>
                      <a:prstDash val="soli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0F1F4"/>
                    </a:solidFill>
                  </a:tcPr>
                </a:tc>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Repeated station observations</a:t>
                      </a:r>
                    </a:p>
                    <a:p>
                      <a:pPr>
                        <a:lnSpc>
                          <a:spcPct val="110000"/>
                        </a:lnSpc>
                        <a:buNone/>
                      </a:pPr>
                      <a:r>
                        <a:rPr sz="1800" b="0">
                          <a:solidFill>
                            <a:srgbClr val="3A3C52"/>
                          </a:solidFill>
                          <a:latin typeface="Arial" panose="020B0604020202020204"/>
                          <a:ea typeface="Arial" panose="020B0604020202020204"/>
                          <a:cs typeface="Arial" panose="020B0604020202020204"/>
                        </a:rPr>
                        <a:t>Target: every 5 minutes</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0F1F4"/>
                    </a:solidFill>
                  </a:tcPr>
                </a:tc>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24-hour availability</a:t>
                      </a:r>
                    </a:p>
                    <a:p>
                      <a:pPr>
                        <a:lnSpc>
                          <a:spcPct val="110000"/>
                        </a:lnSpc>
                        <a:buNone/>
                      </a:pPr>
                      <a:r>
                        <a:rPr sz="1800" b="0">
                          <a:solidFill>
                            <a:srgbClr val="3A3C52"/>
                          </a:solidFill>
                          <a:latin typeface="Arial" panose="020B0604020202020204"/>
                          <a:ea typeface="Arial" panose="020B0604020202020204"/>
                          <a:cs typeface="Arial" panose="020B0604020202020204"/>
                        </a:rPr>
                        <a:t>Difficult stations and times</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0F1F4"/>
                    </a:solidFill>
                  </a:tcPr>
                </a:tc>
                <a:extLst>
                  <a:ext uri="{0D108BD9-81ED-4DB2-BD59-A6C34878D82A}">
                    <a16:rowId xmlns:a16="http://schemas.microsoft.com/office/drawing/2014/main" val="10002"/>
                  </a:ext>
                </a:extLst>
              </a:tr>
              <a:tr h="754856">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Cycling collisions</a:t>
                      </a:r>
                    </a:p>
                  </a:txBody>
                  <a:tcPr anchor="ctr">
                    <a:lnL w="9525">
                      <a:solidFill>
                        <a:srgbClr val="D8DBE1"/>
                      </a:solidFill>
                      <a:prstDash val="soli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tc>
                  <a:txBody>
                    <a:bodyPr/>
                    <a:lstStyle/>
                    <a:p>
                      <a:pPr>
                        <a:lnSpc>
                          <a:spcPct val="110000"/>
                        </a:lnSpc>
                        <a:buNone/>
                      </a:pPr>
                      <a:r>
                        <a:rPr sz="1800" b="0" dirty="0">
                          <a:solidFill>
                            <a:srgbClr val="3A3C52"/>
                          </a:solidFill>
                          <a:latin typeface="Arial" panose="020B0604020202020204"/>
                          <a:ea typeface="Arial" panose="020B0604020202020204"/>
                          <a:cs typeface="Arial" panose="020B0604020202020204"/>
                        </a:rPr>
                        <a:t>Location, date and severity</a:t>
                      </a:r>
                    </a:p>
                    <a:p>
                      <a:pPr>
                        <a:lnSpc>
                          <a:spcPct val="110000"/>
                        </a:lnSpc>
                        <a:buNone/>
                      </a:pPr>
                      <a:r>
                        <a:rPr sz="1800" b="0" dirty="0">
                          <a:solidFill>
                            <a:srgbClr val="3A3C52"/>
                          </a:solidFill>
                          <a:latin typeface="Arial" panose="020B0604020202020204"/>
                          <a:ea typeface="Arial" panose="020B0604020202020204"/>
                          <a:cs typeface="Arial" panose="020B0604020202020204"/>
                        </a:rPr>
                        <a:t>Source and years: </a:t>
                      </a:r>
                      <a:r>
                        <a:rPr sz="1800" b="0" dirty="0">
                          <a:solidFill>
                            <a:srgbClr val="3A3C52"/>
                          </a:solidFill>
                          <a:highlight>
                            <a:srgbClr val="FFFF00"/>
                          </a:highlight>
                          <a:latin typeface="Arial" panose="020B0604020202020204"/>
                          <a:ea typeface="Arial" panose="020B0604020202020204"/>
                          <a:cs typeface="Arial" panose="020B0604020202020204"/>
                        </a:rPr>
                        <a:t>TO FILL</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tc>
                  <a:txBody>
                    <a:bodyPr/>
                    <a:lstStyle/>
                    <a:p>
                      <a:pPr>
                        <a:lnSpc>
                          <a:spcPct val="110000"/>
                        </a:lnSpc>
                        <a:buNone/>
                      </a:pPr>
                      <a:r>
                        <a:rPr sz="1800" b="0" dirty="0">
                          <a:solidFill>
                            <a:srgbClr val="3A3C52"/>
                          </a:solidFill>
                          <a:latin typeface="Arial" panose="020B0604020202020204"/>
                          <a:ea typeface="Arial" panose="020B0604020202020204"/>
                          <a:cs typeface="Arial" panose="020B0604020202020204"/>
                        </a:rPr>
                        <a:t>Historical collision patterns</a:t>
                      </a:r>
                    </a:p>
                    <a:p>
                      <a:pPr>
                        <a:lnSpc>
                          <a:spcPct val="110000"/>
                        </a:lnSpc>
                        <a:buNone/>
                      </a:pPr>
                      <a:r>
                        <a:rPr sz="1800" b="0" dirty="0">
                          <a:solidFill>
                            <a:srgbClr val="3A3C52"/>
                          </a:solidFill>
                          <a:latin typeface="Arial" panose="020B0604020202020204"/>
                          <a:ea typeface="Arial" panose="020B0604020202020204"/>
                          <a:cs typeface="Arial" panose="020B0604020202020204"/>
                        </a:rPr>
                        <a:t>around docking stations</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Planned architecture"/>
          <p:cNvSpPr>
            <a:spLocks noGrp="1"/>
          </p:cNvSpPr>
          <p:nvPr/>
        </p:nvSpPr>
        <p:spPr>
          <a:xfrm>
            <a:off x="838200" y="4888230"/>
            <a:ext cx="10515600" cy="36195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3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Planned architecture</a:t>
            </a:r>
          </a:p>
        </p:txBody>
      </p:sp>
      <p:sp>
        <p:nvSpPr>
          <p:cNvPr id="6" name="Node.js collects data. MySQL stores snapshots. Express serves JSO"/>
          <p:cNvSpPr>
            <a:spLocks noGrp="1"/>
          </p:cNvSpPr>
          <p:nvPr/>
        </p:nvSpPr>
        <p:spPr>
          <a:xfrm>
            <a:off x="838200" y="5354955"/>
            <a:ext cx="10515600" cy="723900"/>
          </a:xfrm>
          <a:prstGeom prst="rect">
            <a:avLst/>
          </a:prstGeom>
          <a:noFill/>
          <a:ln w="0">
            <a:noFill/>
          </a:ln>
        </p:spPr>
        <p:txBody>
          <a:bodyPr wrap="square" lIns="0" tIns="0" rIns="0" bIns="0" anchor="t">
            <a:noAutofit/>
          </a:bodyPr>
          <a:lstStyle>
            <a:defPPr>
              <a:defRPr sz="1875" b="0">
                <a:solidFill>
                  <a:srgbClr val="3A3C52"/>
                </a:solidFill>
                <a:latin typeface="Arial" panose="020B0604020202020204"/>
                <a:ea typeface="Arial" panose="020B0604020202020204"/>
                <a:cs typeface="Arial" panose="020B0604020202020204"/>
              </a:defRPr>
            </a:defPPr>
          </a:lstStyle>
          <a:p>
            <a:pPr>
              <a:lnSpc>
                <a:spcPct val="113000"/>
              </a:lnSpc>
              <a:buNone/>
              <a:defRPr sz="1875" b="0">
                <a:solidFill>
                  <a:srgbClr val="3A3C52"/>
                </a:solidFill>
                <a:latin typeface="Arial" panose="020B0604020202020204"/>
                <a:ea typeface="Arial" panose="020B0604020202020204"/>
                <a:cs typeface="Arial" panose="020B0604020202020204"/>
              </a:defRPr>
            </a:pPr>
            <a:r>
              <a:rPr sz="1875" b="0" dirty="0">
                <a:solidFill>
                  <a:srgbClr val="3A3C52"/>
                </a:solidFill>
                <a:latin typeface="Arial" panose="020B0604020202020204"/>
                <a:ea typeface="Arial" panose="020B0604020202020204"/>
                <a:cs typeface="Arial" panose="020B0604020202020204"/>
              </a:rPr>
              <a:t>Node.js collects data. MySQL stores snapshots. Express serves JSON.</a:t>
            </a:r>
          </a:p>
          <a:p>
            <a:pPr>
              <a:lnSpc>
                <a:spcPct val="113000"/>
              </a:lnSpc>
              <a:buNone/>
              <a:defRPr sz="1875" b="0">
                <a:solidFill>
                  <a:srgbClr val="3A3C52"/>
                </a:solidFill>
                <a:latin typeface="Arial" panose="020B0604020202020204"/>
                <a:ea typeface="Arial" panose="020B0604020202020204"/>
                <a:cs typeface="Arial" panose="020B0604020202020204"/>
              </a:defRPr>
            </a:pPr>
            <a:r>
              <a:rPr sz="1875" b="0" dirty="0">
                <a:solidFill>
                  <a:srgbClr val="3A3C52"/>
                </a:solidFill>
                <a:latin typeface="Arial" panose="020B0604020202020204"/>
                <a:ea typeface="Arial" panose="020B0604020202020204"/>
                <a:cs typeface="Arial" panose="020B0604020202020204"/>
              </a:rPr>
              <a:t>Python handles analysis. Leaflet and Chart.js display the results.</a:t>
            </a:r>
          </a:p>
        </p:txBody>
      </p:sp>
      <p:sp>
        <p:nvSpPr>
          <p:cNvPr id="7" name="待填写 / TO FILL: collision dataset and year range"/>
          <p:cNvSpPr>
            <a:spLocks noGrp="1"/>
          </p:cNvSpPr>
          <p:nvPr/>
        </p:nvSpPr>
        <p:spPr>
          <a:xfrm>
            <a:off x="838200" y="6193155"/>
            <a:ext cx="9715500" cy="266700"/>
          </a:xfrm>
          <a:prstGeom prst="rect">
            <a:avLst/>
          </a:prstGeom>
          <a:noFill/>
          <a:ln w="0">
            <a:noFill/>
          </a:ln>
        </p:spPr>
        <p:txBody>
          <a:bodyPr wrap="square" lIns="0" tIns="0" rIns="0" bIns="0" anchor="t">
            <a:noAutofit/>
          </a:bodyPr>
          <a:lstStyle>
            <a:defPPr>
              <a:defRPr sz="1350" b="0">
                <a:solidFill>
                  <a:srgbClr val="727580"/>
                </a:solidFill>
                <a:latin typeface="Arial" panose="020B0604020202020204"/>
                <a:ea typeface="Arial" panose="020B0604020202020204"/>
                <a:cs typeface="Arial" panose="020B0604020202020204"/>
              </a:defRPr>
            </a:defPPr>
          </a:lstStyle>
          <a:p>
            <a:pPr>
              <a:lnSpc>
                <a:spcPct val="113000"/>
              </a:lnSpc>
              <a:buNone/>
              <a:defRPr sz="1350" b="0">
                <a:solidFill>
                  <a:srgbClr val="727580"/>
                </a:solidFill>
                <a:latin typeface="Arial" panose="020B0604020202020204"/>
                <a:ea typeface="Arial" panose="020B0604020202020204"/>
                <a:cs typeface="Arial" panose="020B0604020202020204"/>
              </a:defRPr>
            </a:pPr>
            <a:r>
              <a:rPr sz="1350" b="0">
                <a:solidFill>
                  <a:srgbClr val="727580"/>
                </a:solidFill>
                <a:latin typeface="Arial" panose="020B0604020202020204"/>
                <a:ea typeface="Arial" panose="020B0604020202020204"/>
                <a:cs typeface="Arial" panose="020B0604020202020204"/>
              </a:rPr>
              <a:t>Database: london_bike_pulse. Schema and query screenshots follow in the appendix.</a:t>
            </a:r>
          </a:p>
        </p:txBody>
      </p:sp>
      <p:sp>
        <p:nvSpPr>
          <p:cNvPr id="1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02"/>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5</a:t>
            </a:r>
          </a:p>
        </p:txBody>
      </p:sp>
      <p:sp>
        <p:nvSpPr>
          <p:cNvPr id="17" name="TextBox 14"/>
          <p:cNvSpPr txBox="1"/>
          <p:nvPr/>
        </p:nvSpPr>
        <p:spPr>
          <a:xfrm>
            <a:off x="393065" y="6467475"/>
            <a:ext cx="5109210" cy="213995"/>
          </a:xfrm>
          <a:prstGeom prst="rect">
            <a:avLst/>
          </a:prstGeom>
          <a:noFill/>
        </p:spPr>
        <p:txBody>
          <a:bodyPr wrap="square">
            <a:spAutoFit/>
          </a:bodyPr>
          <a:lstStyle/>
          <a:p>
            <a:r>
              <a:rPr sz="800">
                <a:solidFill>
                  <a:srgbClr val="69778C"/>
                </a:solidFill>
                <a:latin typeface="Aptos"/>
              </a:rPr>
              <a:t>MIND THE DOCK   •   UCL CASA0017   •   404 GROUP NOT FOUND</a:t>
            </a:r>
          </a:p>
        </p:txBody>
      </p:sp>
      <p:sp>
        <p:nvSpPr>
          <p:cNvPr id="23" name="Rectangle 2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r>
              <a:rPr lang="en-US">
                <a:sym typeface="+mn-ea"/>
              </a:rPr>
              <a:t>3. </a:t>
            </a:r>
            <a:r>
              <a:rPr>
                <a:sym typeface="+mn-ea"/>
              </a:rPr>
              <a:t>What data will we use?</a:t>
            </a:r>
            <a:endParaRPr lang="en-US" sz="3300" b="1">
              <a:solidFill>
                <a:srgbClr val="04091D"/>
              </a:solidFill>
              <a:latin typeface="Arial" panose="020B0604020202020204"/>
              <a:ea typeface="Arial" panose="020B0604020202020204"/>
              <a:cs typeface="Arial" panose="020B0604020202020204"/>
            </a:endParaRPr>
          </a:p>
        </p:txBody>
      </p:sp>
      <p:sp>
        <p:nvSpPr>
          <p:cNvPr id="15" name="矩形 14"/>
          <p:cNvSpPr>
            <a:spLocks noGrp="1"/>
          </p:cNvSpPr>
          <p:nvPr/>
        </p:nvSpPr>
        <p:spPr>
          <a:xfrm>
            <a:off x="584835" y="1148715"/>
            <a:ext cx="11128375" cy="76200"/>
          </a:xfrm>
          <a:prstGeom prst="rect">
            <a:avLst/>
          </a:prstGeom>
          <a:solidFill>
            <a:srgbClr val="0BE4F7"/>
          </a:solidFill>
          <a:ln w="0">
            <a:no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6</a:t>
            </a:r>
          </a:p>
        </p:txBody>
      </p:sp>
      <p:grpSp>
        <p:nvGrpSpPr>
          <p:cNvPr id="27" name="组合 26"/>
          <p:cNvGrpSpPr/>
          <p:nvPr/>
        </p:nvGrpSpPr>
        <p:grpSpPr>
          <a:xfrm>
            <a:off x="668020" y="1404620"/>
            <a:ext cx="2762250" cy="628015"/>
            <a:chOff x="1320" y="2655"/>
            <a:chExt cx="4350" cy="989"/>
          </a:xfrm>
        </p:grpSpPr>
        <p:sp>
          <p:nvSpPr>
            <p:cNvPr id="4" name="Home"/>
            <p:cNvSpPr>
              <a:spLocks noGrp="1"/>
            </p:cNvSpPr>
            <p:nvPr/>
          </p:nvSpPr>
          <p:spPr>
            <a:xfrm>
              <a:off x="1320" y="2655"/>
              <a:ext cx="3000" cy="525"/>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0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Home</a:t>
              </a:r>
            </a:p>
          </p:txBody>
        </p:sp>
        <p:sp>
          <p:nvSpPr>
            <p:cNvPr id="7" name="Question and findings"/>
            <p:cNvSpPr>
              <a:spLocks noGrp="1"/>
            </p:cNvSpPr>
            <p:nvPr/>
          </p:nvSpPr>
          <p:spPr>
            <a:xfrm>
              <a:off x="1320" y="3210"/>
              <a:ext cx="4350" cy="435"/>
            </a:xfrm>
            <a:prstGeom prst="rect">
              <a:avLst/>
            </a:prstGeom>
            <a:noFill/>
            <a:ln w="0">
              <a:noFill/>
            </a:ln>
          </p:spPr>
          <p:txBody>
            <a:bodyPr wrap="square" lIns="0" tIns="0" rIns="0" bIns="0" anchor="t">
              <a:noAutofit/>
            </a:bodyPr>
            <a:lstStyle>
              <a:defPPr>
                <a:defRPr sz="1575" b="0">
                  <a:solidFill>
                    <a:srgbClr val="727580"/>
                  </a:solidFill>
                  <a:latin typeface="Arial" panose="020B0604020202020204"/>
                  <a:ea typeface="Arial" panose="020B0604020202020204"/>
                  <a:cs typeface="Arial" panose="020B0604020202020204"/>
                </a:defRPr>
              </a:defPPr>
            </a:lstStyle>
            <a:p>
              <a:pPr>
                <a:lnSpc>
                  <a:spcPct val="110000"/>
                </a:lnSpc>
                <a:buNone/>
                <a:defRPr sz="1575" b="0">
                  <a:solidFill>
                    <a:srgbClr val="727580"/>
                  </a:solidFill>
                  <a:latin typeface="Arial" panose="020B0604020202020204"/>
                  <a:ea typeface="Arial" panose="020B0604020202020204"/>
                  <a:cs typeface="Arial" panose="020B0604020202020204"/>
                </a:defRPr>
              </a:pPr>
              <a:r>
                <a:rPr lang="en-US" sz="1575" b="0">
                  <a:solidFill>
                    <a:srgbClr val="727580"/>
                  </a:solidFill>
                  <a:latin typeface="Arial" panose="020B0604020202020204"/>
                  <a:ea typeface="Arial" panose="020B0604020202020204"/>
                  <a:cs typeface="Arial" panose="020B0604020202020204"/>
                </a:rPr>
                <a:t>Log in and Register</a:t>
              </a:r>
            </a:p>
          </p:txBody>
        </p:sp>
      </p:grpSp>
      <p:grpSp>
        <p:nvGrpSpPr>
          <p:cNvPr id="28" name="组合 27"/>
          <p:cNvGrpSpPr/>
          <p:nvPr/>
        </p:nvGrpSpPr>
        <p:grpSpPr>
          <a:xfrm>
            <a:off x="2999105" y="1410335"/>
            <a:ext cx="3619500" cy="628015"/>
            <a:chOff x="6405" y="2655"/>
            <a:chExt cx="5700" cy="989"/>
          </a:xfrm>
        </p:grpSpPr>
        <p:sp>
          <p:nvSpPr>
            <p:cNvPr id="5" name="Live map"/>
            <p:cNvSpPr>
              <a:spLocks noGrp="1"/>
            </p:cNvSpPr>
            <p:nvPr/>
          </p:nvSpPr>
          <p:spPr>
            <a:xfrm>
              <a:off x="6405" y="2655"/>
              <a:ext cx="3750" cy="525"/>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0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Live </a:t>
              </a:r>
              <a:r>
                <a:rPr lang="en-US" sz="1875" b="1">
                  <a:solidFill>
                    <a:srgbClr val="04091D"/>
                  </a:solidFill>
                  <a:latin typeface="Arial" panose="020B0604020202020204"/>
                  <a:ea typeface="Arial" panose="020B0604020202020204"/>
                  <a:cs typeface="Arial" panose="020B0604020202020204"/>
                </a:rPr>
                <a:t>M</a:t>
              </a:r>
              <a:r>
                <a:rPr sz="1875" b="1">
                  <a:solidFill>
                    <a:srgbClr val="04091D"/>
                  </a:solidFill>
                  <a:latin typeface="Arial" panose="020B0604020202020204"/>
                  <a:ea typeface="Arial" panose="020B0604020202020204"/>
                  <a:cs typeface="Arial" panose="020B0604020202020204"/>
                </a:rPr>
                <a:t>ap</a:t>
              </a:r>
            </a:p>
          </p:txBody>
        </p:sp>
        <p:sp>
          <p:nvSpPr>
            <p:cNvPr id="8" name="Availability and historical context"/>
            <p:cNvSpPr>
              <a:spLocks noGrp="1"/>
            </p:cNvSpPr>
            <p:nvPr/>
          </p:nvSpPr>
          <p:spPr>
            <a:xfrm>
              <a:off x="6405" y="3210"/>
              <a:ext cx="5700" cy="435"/>
            </a:xfrm>
            <a:prstGeom prst="rect">
              <a:avLst/>
            </a:prstGeom>
            <a:noFill/>
            <a:ln w="0">
              <a:noFill/>
            </a:ln>
          </p:spPr>
          <p:txBody>
            <a:bodyPr wrap="square" lIns="0" tIns="0" rIns="0" bIns="0" anchor="t">
              <a:noAutofit/>
            </a:bodyPr>
            <a:lstStyle>
              <a:defPPr>
                <a:defRPr sz="1575" b="0">
                  <a:solidFill>
                    <a:srgbClr val="727580"/>
                  </a:solidFill>
                  <a:latin typeface="Arial" panose="020B0604020202020204"/>
                  <a:ea typeface="Arial" panose="020B0604020202020204"/>
                  <a:cs typeface="Arial" panose="020B0604020202020204"/>
                </a:defRPr>
              </a:defPPr>
            </a:lstStyle>
            <a:p>
              <a:pPr>
                <a:lnSpc>
                  <a:spcPct val="110000"/>
                </a:lnSpc>
                <a:buNone/>
                <a:defRPr sz="1575" b="0">
                  <a:solidFill>
                    <a:srgbClr val="727580"/>
                  </a:solidFill>
                  <a:latin typeface="Arial" panose="020B0604020202020204"/>
                  <a:ea typeface="Arial" panose="020B0604020202020204"/>
                  <a:cs typeface="Arial" panose="020B0604020202020204"/>
                </a:defRPr>
              </a:pPr>
              <a:r>
                <a:rPr sz="1575" b="0">
                  <a:solidFill>
                    <a:srgbClr val="727580"/>
                  </a:solidFill>
                  <a:latin typeface="Arial" panose="020B0604020202020204"/>
                  <a:ea typeface="Arial" panose="020B0604020202020204"/>
                  <a:cs typeface="Arial" panose="020B0604020202020204"/>
                </a:rPr>
                <a:t>Availability and historical context</a:t>
              </a:r>
            </a:p>
          </p:txBody>
        </p:sp>
      </p:grpSp>
      <p:grpSp>
        <p:nvGrpSpPr>
          <p:cNvPr id="29" name="组合 28"/>
          <p:cNvGrpSpPr/>
          <p:nvPr/>
        </p:nvGrpSpPr>
        <p:grpSpPr>
          <a:xfrm>
            <a:off x="9208770" y="1433830"/>
            <a:ext cx="3314700" cy="628015"/>
            <a:chOff x="12660" y="2655"/>
            <a:chExt cx="5220" cy="989"/>
          </a:xfrm>
        </p:grpSpPr>
        <p:sp>
          <p:nvSpPr>
            <p:cNvPr id="6" name="About / Contact"/>
            <p:cNvSpPr>
              <a:spLocks noGrp="1"/>
            </p:cNvSpPr>
            <p:nvPr/>
          </p:nvSpPr>
          <p:spPr>
            <a:xfrm>
              <a:off x="12660" y="2655"/>
              <a:ext cx="5220" cy="525"/>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0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Contact</a:t>
              </a:r>
              <a:r>
                <a:rPr lang="en-US" sz="1875" b="1">
                  <a:solidFill>
                    <a:srgbClr val="04091D"/>
                  </a:solidFill>
                  <a:latin typeface="Arial" panose="020B0604020202020204"/>
                  <a:ea typeface="Arial" panose="020B0604020202020204"/>
                  <a:cs typeface="Arial" panose="020B0604020202020204"/>
                </a:rPr>
                <a:t> Us</a:t>
              </a:r>
            </a:p>
          </p:txBody>
        </p:sp>
        <p:sp>
          <p:nvSpPr>
            <p:cNvPr id="9" name="Sources, team and email"/>
            <p:cNvSpPr>
              <a:spLocks noGrp="1"/>
            </p:cNvSpPr>
            <p:nvPr/>
          </p:nvSpPr>
          <p:spPr>
            <a:xfrm>
              <a:off x="12660" y="3210"/>
              <a:ext cx="5220" cy="435"/>
            </a:xfrm>
            <a:prstGeom prst="rect">
              <a:avLst/>
            </a:prstGeom>
            <a:noFill/>
            <a:ln w="0">
              <a:noFill/>
            </a:ln>
          </p:spPr>
          <p:txBody>
            <a:bodyPr wrap="square" lIns="0" tIns="0" rIns="0" bIns="0" anchor="t">
              <a:noAutofit/>
            </a:bodyPr>
            <a:lstStyle>
              <a:defPPr>
                <a:defRPr sz="1575" b="0">
                  <a:solidFill>
                    <a:srgbClr val="727580"/>
                  </a:solidFill>
                  <a:latin typeface="Arial" panose="020B0604020202020204"/>
                  <a:ea typeface="Arial" panose="020B0604020202020204"/>
                  <a:cs typeface="Arial" panose="020B0604020202020204"/>
                </a:defRPr>
              </a:defPPr>
            </a:lstStyle>
            <a:p>
              <a:pPr>
                <a:lnSpc>
                  <a:spcPct val="110000"/>
                </a:lnSpc>
                <a:buNone/>
                <a:defRPr sz="1575" b="0">
                  <a:solidFill>
                    <a:srgbClr val="727580"/>
                  </a:solidFill>
                  <a:latin typeface="Arial" panose="020B0604020202020204"/>
                  <a:ea typeface="Arial" panose="020B0604020202020204"/>
                  <a:cs typeface="Arial" panose="020B0604020202020204"/>
                </a:defRPr>
              </a:pPr>
              <a:r>
                <a:rPr sz="1575" b="0">
                  <a:solidFill>
                    <a:srgbClr val="727580"/>
                  </a:solidFill>
                  <a:latin typeface="Arial" panose="020B0604020202020204"/>
                  <a:ea typeface="Arial" panose="020B0604020202020204"/>
                  <a:cs typeface="Arial" panose="020B0604020202020204"/>
                </a:rPr>
                <a:t>Sources, team and email</a:t>
              </a:r>
            </a:p>
          </p:txBody>
        </p:sp>
      </p:grpSp>
      <p:pic>
        <p:nvPicPr>
          <p:cNvPr id="10" name="图片 9"/>
          <p:cNvPicPr>
            <a:picLocks noChangeAspect="1"/>
          </p:cNvPicPr>
          <p:nvPr/>
        </p:nvPicPr>
        <p:blipFill>
          <a:blip r:embed="rId9"/>
          <a:stretch>
            <a:fillRect/>
          </a:stretch>
        </p:blipFill>
        <p:spPr>
          <a:xfrm>
            <a:off x="667385" y="2248535"/>
            <a:ext cx="7218680" cy="3703320"/>
          </a:xfrm>
          <a:prstGeom prst="rect">
            <a:avLst/>
          </a:prstGeom>
        </p:spPr>
      </p:pic>
      <p:sp>
        <p:nvSpPr>
          <p:cNvPr id="11" name="Planned interactions"/>
          <p:cNvSpPr>
            <a:spLocks noGrp="1"/>
          </p:cNvSpPr>
          <p:nvPr/>
        </p:nvSpPr>
        <p:spPr>
          <a:xfrm>
            <a:off x="8314690" y="2236470"/>
            <a:ext cx="3152775" cy="361950"/>
          </a:xfrm>
          <a:prstGeom prst="rect">
            <a:avLst/>
          </a:prstGeom>
          <a:noFill/>
          <a:ln w="0">
            <a:noFill/>
          </a:ln>
        </p:spPr>
        <p:txBody>
          <a:bodyPr wrap="square" lIns="0" tIns="0" rIns="0" bIns="0" anchor="t">
            <a:noAutofit/>
          </a:bodyPr>
          <a:lstStyle>
            <a:defPPr>
              <a:defRPr sz="2025" b="1">
                <a:solidFill>
                  <a:srgbClr val="04091D"/>
                </a:solidFill>
                <a:latin typeface="Arial" panose="020B0604020202020204"/>
                <a:ea typeface="Arial" panose="020B0604020202020204"/>
                <a:cs typeface="Arial" panose="020B0604020202020204"/>
              </a:defRPr>
            </a:defPPr>
          </a:lstStyle>
          <a:p>
            <a:pPr>
              <a:lnSpc>
                <a:spcPct val="110000"/>
              </a:lnSpc>
              <a:buNone/>
              <a:defRPr sz="2025" b="1">
                <a:solidFill>
                  <a:srgbClr val="04091D"/>
                </a:solidFill>
                <a:latin typeface="Arial" panose="020B0604020202020204"/>
                <a:ea typeface="Arial" panose="020B0604020202020204"/>
                <a:cs typeface="Arial" panose="020B0604020202020204"/>
              </a:defRPr>
            </a:pPr>
            <a:r>
              <a:rPr sz="2025" b="1">
                <a:solidFill>
                  <a:srgbClr val="04091D"/>
                </a:solidFill>
                <a:latin typeface="Arial" panose="020B0604020202020204"/>
                <a:ea typeface="Arial" panose="020B0604020202020204"/>
                <a:cs typeface="Arial" panose="020B0604020202020204"/>
              </a:rPr>
              <a:t>Planned interactions</a:t>
            </a:r>
          </a:p>
        </p:txBody>
      </p:sp>
      <p:sp>
        <p:nvSpPr>
          <p:cNvPr id="12" name="Borrow / return"/>
          <p:cNvSpPr>
            <a:spLocks noGrp="1"/>
          </p:cNvSpPr>
          <p:nvPr>
            <p:custDataLst>
              <p:tags r:id="rId1"/>
            </p:custDataLst>
          </p:nvPr>
        </p:nvSpPr>
        <p:spPr>
          <a:xfrm>
            <a:off x="8314690" y="2769870"/>
            <a:ext cx="3152775" cy="285750"/>
          </a:xfrm>
          <a:prstGeom prst="rect">
            <a:avLst/>
          </a:prstGeom>
          <a:noFill/>
          <a:ln w="0">
            <a:noFill/>
          </a:ln>
        </p:spPr>
        <p:txBody>
          <a:bodyPr wrap="square" lIns="0" tIns="0" rIns="0" bIns="0" anchor="t">
            <a:noAutofit/>
          </a:bodyPr>
          <a:lstStyle>
            <a:defPPr>
              <a:defRPr sz="1800" b="1">
                <a:solidFill>
                  <a:srgbClr val="04091D"/>
                </a:solidFill>
                <a:latin typeface="Arial" panose="020B0604020202020204"/>
                <a:ea typeface="Arial" panose="020B0604020202020204"/>
                <a:cs typeface="Arial" panose="020B0604020202020204"/>
              </a:defRPr>
            </a:defPPr>
          </a:lstStyle>
          <a:p>
            <a:pPr>
              <a:lnSpc>
                <a:spcPct val="110000"/>
              </a:lnSpc>
              <a:buNone/>
              <a:defRPr sz="1800" b="1">
                <a:solidFill>
                  <a:srgbClr val="04091D"/>
                </a:solidFill>
                <a:latin typeface="Arial" panose="020B0604020202020204"/>
                <a:ea typeface="Arial" panose="020B0604020202020204"/>
                <a:cs typeface="Arial" panose="020B0604020202020204"/>
              </a:defRPr>
            </a:pPr>
            <a:r>
              <a:rPr lang="en-US" sz="1800" b="1">
                <a:solidFill>
                  <a:srgbClr val="04091D"/>
                </a:solidFill>
                <a:latin typeface="Arial" panose="020B0604020202020204"/>
                <a:ea typeface="Arial" panose="020B0604020202020204"/>
                <a:cs typeface="Arial" panose="020B0604020202020204"/>
              </a:rPr>
              <a:t>Find</a:t>
            </a:r>
            <a:r>
              <a:rPr sz="1800" b="1">
                <a:solidFill>
                  <a:srgbClr val="04091D"/>
                </a:solidFill>
                <a:latin typeface="Arial" panose="020B0604020202020204"/>
                <a:ea typeface="Arial" panose="020B0604020202020204"/>
                <a:cs typeface="Arial" panose="020B0604020202020204"/>
              </a:rPr>
              <a:t> / return</a:t>
            </a:r>
          </a:p>
        </p:txBody>
      </p:sp>
      <p:sp>
        <p:nvSpPr>
          <p:cNvPr id="13" name="Colour markers by bike count or empty docks."/>
          <p:cNvSpPr>
            <a:spLocks noGrp="1"/>
          </p:cNvSpPr>
          <p:nvPr>
            <p:custDataLst>
              <p:tags r:id="rId2"/>
            </p:custDataLst>
          </p:nvPr>
        </p:nvSpPr>
        <p:spPr>
          <a:xfrm>
            <a:off x="8314690" y="3122295"/>
            <a:ext cx="3152775" cy="619125"/>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Colour markers by bike count</a:t>
            </a:r>
          </a:p>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or empty docks.</a:t>
            </a:r>
          </a:p>
        </p:txBody>
      </p:sp>
      <p:sp>
        <p:nvSpPr>
          <p:cNvPr id="14" name="Station details"/>
          <p:cNvSpPr>
            <a:spLocks noGrp="1"/>
          </p:cNvSpPr>
          <p:nvPr>
            <p:custDataLst>
              <p:tags r:id="rId3"/>
            </p:custDataLst>
          </p:nvPr>
        </p:nvSpPr>
        <p:spPr>
          <a:xfrm>
            <a:off x="8314690" y="3912870"/>
            <a:ext cx="3152775" cy="295275"/>
          </a:xfrm>
          <a:prstGeom prst="rect">
            <a:avLst/>
          </a:prstGeom>
          <a:noFill/>
          <a:ln w="0">
            <a:noFill/>
          </a:ln>
        </p:spPr>
        <p:txBody>
          <a:bodyPr wrap="square" lIns="0" tIns="0" rIns="0" bIns="0" anchor="t">
            <a:noAutofit/>
          </a:bodyPr>
          <a:lstStyle>
            <a:defPPr>
              <a:defRPr sz="1800" b="1">
                <a:solidFill>
                  <a:srgbClr val="04091D"/>
                </a:solidFill>
                <a:latin typeface="Arial" panose="020B0604020202020204"/>
                <a:ea typeface="Arial" panose="020B0604020202020204"/>
                <a:cs typeface="Arial" panose="020B0604020202020204"/>
              </a:defRPr>
            </a:defPPr>
          </a:lstStyle>
          <a:p>
            <a:pPr>
              <a:lnSpc>
                <a:spcPct val="110000"/>
              </a:lnSpc>
              <a:buNone/>
              <a:defRPr sz="1800" b="1">
                <a:solidFill>
                  <a:srgbClr val="04091D"/>
                </a:solidFill>
                <a:latin typeface="Arial" panose="020B0604020202020204"/>
                <a:ea typeface="Arial" panose="020B0604020202020204"/>
                <a:cs typeface="Arial" panose="020B0604020202020204"/>
              </a:defRPr>
            </a:pPr>
            <a:r>
              <a:rPr sz="1800" b="1">
                <a:solidFill>
                  <a:srgbClr val="04091D"/>
                </a:solidFill>
                <a:latin typeface="Arial" panose="020B0604020202020204"/>
                <a:ea typeface="Arial" panose="020B0604020202020204"/>
                <a:cs typeface="Arial" panose="020B0604020202020204"/>
              </a:rPr>
              <a:t>Station details</a:t>
            </a:r>
          </a:p>
        </p:txBody>
      </p:sp>
      <p:sp>
        <p:nvSpPr>
          <p:cNvPr id="15" name="Click for standard bikes, e-bikes and a 24-hour history chart."/>
          <p:cNvSpPr>
            <a:spLocks noGrp="1"/>
          </p:cNvSpPr>
          <p:nvPr>
            <p:custDataLst>
              <p:tags r:id="rId4"/>
            </p:custDataLst>
          </p:nvPr>
        </p:nvSpPr>
        <p:spPr>
          <a:xfrm>
            <a:off x="8314690" y="4265295"/>
            <a:ext cx="3152775" cy="6286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Click for standard bikes, e-bikes</a:t>
            </a:r>
          </a:p>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and a 24-hour history chart.</a:t>
            </a:r>
          </a:p>
        </p:txBody>
      </p:sp>
      <p:sp>
        <p:nvSpPr>
          <p:cNvPr id="16" name="Collision filters"/>
          <p:cNvSpPr>
            <a:spLocks noGrp="1"/>
          </p:cNvSpPr>
          <p:nvPr>
            <p:custDataLst>
              <p:tags r:id="rId5"/>
            </p:custDataLst>
          </p:nvPr>
        </p:nvSpPr>
        <p:spPr>
          <a:xfrm>
            <a:off x="8314690" y="5055870"/>
            <a:ext cx="3152775" cy="295275"/>
          </a:xfrm>
          <a:prstGeom prst="rect">
            <a:avLst/>
          </a:prstGeom>
          <a:noFill/>
          <a:ln w="0">
            <a:noFill/>
          </a:ln>
        </p:spPr>
        <p:txBody>
          <a:bodyPr wrap="square" lIns="0" tIns="0" rIns="0" bIns="0" anchor="t">
            <a:noAutofit/>
          </a:bodyPr>
          <a:lstStyle>
            <a:defPPr>
              <a:defRPr sz="1800" b="1">
                <a:solidFill>
                  <a:srgbClr val="04091D"/>
                </a:solidFill>
                <a:latin typeface="Arial" panose="020B0604020202020204"/>
                <a:ea typeface="Arial" panose="020B0604020202020204"/>
                <a:cs typeface="Arial" panose="020B0604020202020204"/>
              </a:defRPr>
            </a:defPPr>
          </a:lstStyle>
          <a:p>
            <a:pPr>
              <a:lnSpc>
                <a:spcPct val="110000"/>
              </a:lnSpc>
              <a:buNone/>
              <a:defRPr sz="1800" b="1">
                <a:solidFill>
                  <a:srgbClr val="04091D"/>
                </a:solidFill>
                <a:latin typeface="Arial" panose="020B0604020202020204"/>
                <a:ea typeface="Arial" panose="020B0604020202020204"/>
                <a:cs typeface="Arial" panose="020B0604020202020204"/>
              </a:defRPr>
            </a:pPr>
            <a:r>
              <a:rPr sz="1800" b="1">
                <a:solidFill>
                  <a:srgbClr val="04091D"/>
                </a:solidFill>
                <a:latin typeface="Arial" panose="020B0604020202020204"/>
                <a:ea typeface="Arial" panose="020B0604020202020204"/>
                <a:cs typeface="Arial" panose="020B0604020202020204"/>
              </a:rPr>
              <a:t>Collision filters</a:t>
            </a:r>
          </a:p>
        </p:txBody>
      </p:sp>
      <p:sp>
        <p:nvSpPr>
          <p:cNvPr id="17" name="Explore historical records by year, severity and time."/>
          <p:cNvSpPr>
            <a:spLocks noGrp="1"/>
          </p:cNvSpPr>
          <p:nvPr>
            <p:custDataLst>
              <p:tags r:id="rId6"/>
            </p:custDataLst>
          </p:nvPr>
        </p:nvSpPr>
        <p:spPr>
          <a:xfrm>
            <a:off x="8314690" y="5408295"/>
            <a:ext cx="3152775" cy="600075"/>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Explore historical records</a:t>
            </a:r>
          </a:p>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by year, severity and time.</a:t>
            </a:r>
          </a:p>
        </p:txBody>
      </p:sp>
      <p:sp>
        <p:nvSpPr>
          <p:cNvPr id="18" name="Map layout reference supplied by the team. Interface and availability "/>
          <p:cNvSpPr>
            <a:spLocks noGrp="1"/>
          </p:cNvSpPr>
          <p:nvPr/>
        </p:nvSpPr>
        <p:spPr>
          <a:xfrm>
            <a:off x="668020" y="6031865"/>
            <a:ext cx="6395720" cy="319405"/>
          </a:xfrm>
          <a:prstGeom prst="rect">
            <a:avLst/>
          </a:prstGeom>
          <a:noFill/>
          <a:ln w="0">
            <a:noFill/>
          </a:ln>
        </p:spPr>
        <p:txBody>
          <a:bodyPr wrap="square" lIns="0" tIns="0" rIns="0" bIns="0" anchor="t">
            <a:noAutofit/>
          </a:bodyPr>
          <a:lstStyle>
            <a:defPPr>
              <a:defRPr sz="1200" b="0">
                <a:solidFill>
                  <a:srgbClr val="727580"/>
                </a:solidFill>
                <a:latin typeface="Arial" panose="020B0604020202020204"/>
                <a:ea typeface="Arial" panose="020B0604020202020204"/>
                <a:cs typeface="Arial" panose="020B0604020202020204"/>
              </a:defRPr>
            </a:defPPr>
          </a:lstStyle>
          <a:p>
            <a:pPr>
              <a:lnSpc>
                <a:spcPct val="110000"/>
              </a:lnSpc>
              <a:buNone/>
              <a:defRPr sz="1200" b="0">
                <a:solidFill>
                  <a:srgbClr val="727580"/>
                </a:solidFill>
                <a:latin typeface="Arial" panose="020B0604020202020204"/>
                <a:ea typeface="Arial" panose="020B0604020202020204"/>
                <a:cs typeface="Arial" panose="020B0604020202020204"/>
              </a:defRPr>
            </a:pPr>
            <a:r>
              <a:rPr sz="1200" b="0">
                <a:solidFill>
                  <a:srgbClr val="727580"/>
                </a:solidFill>
                <a:latin typeface="Arial" panose="020B0604020202020204"/>
                <a:ea typeface="Arial" panose="020B0604020202020204"/>
                <a:cs typeface="Arial" panose="020B0604020202020204"/>
              </a:rPr>
              <a:t>Map layout reference supplied by the team. Interface and availability colours are proposed.</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0000"/>
              </a:lnSpc>
              <a:buNone/>
              <a:defRPr sz="3300" b="1">
                <a:solidFill>
                  <a:srgbClr val="04091D"/>
                </a:solidFill>
                <a:latin typeface="Arial" panose="020B0604020202020204"/>
                <a:ea typeface="Arial" panose="020B0604020202020204"/>
                <a:cs typeface="Arial" panose="020B0604020202020204"/>
              </a:defRPr>
            </a:pPr>
            <a:r>
              <a:rPr lang="en-US">
                <a:sym typeface="+mn-ea"/>
              </a:rPr>
              <a:t>4. </a:t>
            </a:r>
            <a:r>
              <a:rPr>
                <a:sym typeface="+mn-ea"/>
              </a:rPr>
              <a:t>What will the website look like?</a:t>
            </a:r>
            <a:endParaRPr lang="en-US" sz="3300" b="1">
              <a:solidFill>
                <a:srgbClr val="04091D"/>
              </a:solidFill>
              <a:latin typeface="Arial" panose="020B0604020202020204"/>
              <a:ea typeface="Arial" panose="020B0604020202020204"/>
              <a:cs typeface="Arial" panose="020B0604020202020204"/>
            </a:endParaRP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0" name="组合 29"/>
          <p:cNvGrpSpPr/>
          <p:nvPr/>
        </p:nvGrpSpPr>
        <p:grpSpPr>
          <a:xfrm>
            <a:off x="6618605" y="1433830"/>
            <a:ext cx="1977390" cy="628015"/>
            <a:chOff x="6405" y="2655"/>
            <a:chExt cx="5700" cy="989"/>
          </a:xfrm>
        </p:grpSpPr>
        <p:sp>
          <p:nvSpPr>
            <p:cNvPr id="31" name="Live map"/>
            <p:cNvSpPr>
              <a:spLocks noGrp="1"/>
            </p:cNvSpPr>
            <p:nvPr/>
          </p:nvSpPr>
          <p:spPr>
            <a:xfrm>
              <a:off x="6405" y="2655"/>
              <a:ext cx="3750" cy="525"/>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0000"/>
                </a:lnSpc>
                <a:buNone/>
                <a:defRPr sz="1875" b="1">
                  <a:solidFill>
                    <a:srgbClr val="04091D"/>
                  </a:solidFill>
                  <a:latin typeface="Arial" panose="020B0604020202020204"/>
                  <a:ea typeface="Arial" panose="020B0604020202020204"/>
                  <a:cs typeface="Arial" panose="020B0604020202020204"/>
                </a:defRPr>
              </a:pPr>
              <a:r>
                <a:rPr lang="en-US" sz="1875" b="1">
                  <a:solidFill>
                    <a:srgbClr val="04091D"/>
                  </a:solidFill>
                  <a:latin typeface="Arial" panose="020B0604020202020204"/>
                  <a:ea typeface="Arial" panose="020B0604020202020204"/>
                  <a:cs typeface="Arial" panose="020B0604020202020204"/>
                </a:rPr>
                <a:t>Daily Flow</a:t>
              </a:r>
            </a:p>
          </p:txBody>
        </p:sp>
        <p:sp>
          <p:nvSpPr>
            <p:cNvPr id="32" name="Availability and historical context"/>
            <p:cNvSpPr>
              <a:spLocks noGrp="1"/>
            </p:cNvSpPr>
            <p:nvPr/>
          </p:nvSpPr>
          <p:spPr>
            <a:xfrm>
              <a:off x="6405" y="3210"/>
              <a:ext cx="5700" cy="435"/>
            </a:xfrm>
            <a:prstGeom prst="rect">
              <a:avLst/>
            </a:prstGeom>
            <a:noFill/>
            <a:ln w="0">
              <a:noFill/>
            </a:ln>
          </p:spPr>
          <p:txBody>
            <a:bodyPr wrap="square" lIns="0" tIns="0" rIns="0" bIns="0" anchor="t">
              <a:noAutofit/>
            </a:bodyPr>
            <a:lstStyle>
              <a:defPPr>
                <a:defRPr sz="1575" b="0">
                  <a:solidFill>
                    <a:srgbClr val="727580"/>
                  </a:solidFill>
                  <a:latin typeface="Arial" panose="020B0604020202020204"/>
                  <a:ea typeface="Arial" panose="020B0604020202020204"/>
                  <a:cs typeface="Arial" panose="020B0604020202020204"/>
                </a:defRPr>
              </a:defPPr>
            </a:lstStyle>
            <a:p>
              <a:pPr>
                <a:lnSpc>
                  <a:spcPct val="110000"/>
                </a:lnSpc>
                <a:buNone/>
                <a:defRPr sz="1575" b="0">
                  <a:solidFill>
                    <a:srgbClr val="727580"/>
                  </a:solidFill>
                  <a:latin typeface="Arial" panose="020B0604020202020204"/>
                  <a:ea typeface="Arial" panose="020B0604020202020204"/>
                  <a:cs typeface="Arial" panose="020B0604020202020204"/>
                </a:defRPr>
              </a:pPr>
              <a:r>
                <a:rPr lang="en-US" altLang="zh-CN" sz="1575" b="0">
                  <a:solidFill>
                    <a:srgbClr val="727580"/>
                  </a:solidFill>
                  <a:latin typeface="Arial" panose="020B0604020202020204"/>
                  <a:ea typeface="Arial" panose="020B0604020202020204"/>
                  <a:cs typeface="Arial" panose="020B0604020202020204"/>
                </a:rPr>
                <a:t>Visualized data</a:t>
              </a:r>
            </a:p>
          </p:txBody>
        </p:sp>
      </p:gr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3"/>
          <p:cNvSpPr/>
          <p:nvPr/>
        </p:nvSpPr>
        <p:spPr>
          <a:xfrm>
            <a:off x="8161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7</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a:t>
            </a:r>
            <a:r>
              <a:rPr sz="3300">
                <a:sym typeface="+mn-ea"/>
              </a:rPr>
              <a:t>Home</a:t>
            </a:r>
            <a:r>
              <a:rPr lang="en-US" sz="3300">
                <a:sym typeface="+mn-ea"/>
              </a:rPr>
              <a:t> -</a:t>
            </a:r>
            <a:r>
              <a:rPr sz="3300">
                <a:sym typeface="+mn-ea"/>
              </a:rPr>
              <a:t> </a:t>
            </a:r>
            <a:r>
              <a:rPr lang="en-US" sz="3300">
                <a:sym typeface="+mn-ea"/>
              </a:rPr>
              <a:t>log in</a:t>
            </a:r>
            <a:r>
              <a:rPr sz="3300">
                <a:sym typeface="+mn-ea"/>
              </a:rPr>
              <a:t> and </a:t>
            </a:r>
            <a:r>
              <a:rPr lang="en-US" sz="3300">
                <a:sym typeface="+mn-ea"/>
              </a:rPr>
              <a:t>register</a:t>
            </a: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图片 48" descr="Home Page"/>
          <p:cNvPicPr>
            <a:picLocks noChangeAspect="1"/>
          </p:cNvPicPr>
          <p:nvPr/>
        </p:nvPicPr>
        <p:blipFill>
          <a:blip r:embed="rId3"/>
          <a:stretch>
            <a:fillRect/>
          </a:stretch>
        </p:blipFill>
        <p:spPr>
          <a:xfrm>
            <a:off x="1591945" y="1449705"/>
            <a:ext cx="8502015" cy="4799330"/>
          </a:xfrm>
          <a:prstGeom prst="rect">
            <a:avLst/>
          </a:prstGeom>
        </p:spPr>
      </p:pic>
      <p:sp>
        <p:nvSpPr>
          <p:cNvPr id="50" name="Rectangle 33"/>
          <p:cNvSpPr/>
          <p:nvPr/>
        </p:nvSpPr>
        <p:spPr>
          <a:xfrm>
            <a:off x="150952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8</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Live Map -</a:t>
            </a:r>
            <a:r>
              <a:rPr sz="3300">
                <a:sym typeface="+mn-ea"/>
              </a:rPr>
              <a:t> </a:t>
            </a:r>
            <a:r>
              <a:rPr lang="en-US" sz="3300">
                <a:sym typeface="+mn-ea"/>
              </a:rPr>
              <a:t>find/return a bike</a:t>
            </a: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图片 1" descr="Live Map_1"/>
          <p:cNvPicPr>
            <a:picLocks noChangeAspect="1"/>
          </p:cNvPicPr>
          <p:nvPr/>
        </p:nvPicPr>
        <p:blipFill>
          <a:blip r:embed="rId3"/>
          <a:srcRect b="1982"/>
          <a:stretch>
            <a:fillRect/>
          </a:stretch>
        </p:blipFill>
        <p:spPr>
          <a:xfrm>
            <a:off x="1722120" y="1410970"/>
            <a:ext cx="8241030" cy="5012055"/>
          </a:xfrm>
          <a:prstGeom prst="rect">
            <a:avLst/>
          </a:prstGeom>
        </p:spPr>
      </p:pic>
      <p:sp>
        <p:nvSpPr>
          <p:cNvPr id="4" name="Rectangle 33"/>
          <p:cNvSpPr/>
          <p:nvPr/>
        </p:nvSpPr>
        <p:spPr>
          <a:xfrm>
            <a:off x="150952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9</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Live Map -</a:t>
            </a:r>
            <a:r>
              <a:rPr sz="3300">
                <a:sym typeface="+mn-ea"/>
              </a:rPr>
              <a:t> </a:t>
            </a:r>
            <a:r>
              <a:rPr lang="en-US" sz="3300">
                <a:sym typeface="+mn-ea"/>
              </a:rPr>
              <a:t>library station</a:t>
            </a: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3"/>
          <p:cNvSpPr/>
          <p:nvPr/>
        </p:nvSpPr>
        <p:spPr>
          <a:xfrm>
            <a:off x="27084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图片 4" descr="Live Map_2"/>
          <p:cNvPicPr>
            <a:picLocks noChangeAspect="1"/>
          </p:cNvPicPr>
          <p:nvPr/>
        </p:nvPicPr>
        <p:blipFill>
          <a:blip r:embed="rId3"/>
          <a:stretch>
            <a:fillRect/>
          </a:stretch>
        </p:blipFill>
        <p:spPr>
          <a:xfrm>
            <a:off x="1857375" y="1349375"/>
            <a:ext cx="8493760" cy="49993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lang="en-US" sz="1275" b="0">
                <a:solidFill>
                  <a:srgbClr val="727580"/>
                </a:solidFill>
                <a:latin typeface="Arial" panose="020B0604020202020204"/>
                <a:ea typeface="Arial" panose="020B0604020202020204"/>
                <a:cs typeface="Arial" panose="020B0604020202020204"/>
              </a:rPr>
              <a:t>10</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Daily Flow - Visualized data</a:t>
            </a:r>
            <a:endParaRPr lang="en-US" altLang="zh-CN" sz="3300" b="0">
              <a:solidFill>
                <a:srgbClr val="727580"/>
              </a:solidFill>
              <a:latin typeface="Arial" panose="020B0604020202020204"/>
              <a:ea typeface="Arial" panose="020B0604020202020204"/>
              <a:cs typeface="Arial" panose="020B0604020202020204"/>
            </a:endParaRPr>
          </a:p>
          <a:p>
            <a:pPr>
              <a:spcAft>
                <a:spcPts val="700"/>
              </a:spcAft>
              <a:defRPr sz="2700" b="1">
                <a:solidFill>
                  <a:srgbClr val="091430"/>
                </a:solidFill>
                <a:latin typeface="Aptos"/>
              </a:defRPr>
            </a:pPr>
            <a:r>
              <a:rPr sz="3300">
                <a:sym typeface="+mn-ea"/>
              </a:rPr>
              <a:t> </a:t>
            </a:r>
            <a:endParaRPr lang="en-US" sz="3300">
              <a:sym typeface="+mn-ea"/>
            </a:endParaRP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3"/>
          <p:cNvSpPr/>
          <p:nvPr/>
        </p:nvSpPr>
        <p:spPr>
          <a:xfrm>
            <a:off x="3952367"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图片 1" descr="Daily Flow"/>
          <p:cNvPicPr>
            <a:picLocks noChangeAspect="1"/>
          </p:cNvPicPr>
          <p:nvPr/>
        </p:nvPicPr>
        <p:blipFill>
          <a:blip r:embed="rId3"/>
          <a:stretch>
            <a:fillRect/>
          </a:stretch>
        </p:blipFill>
        <p:spPr>
          <a:xfrm>
            <a:off x="2091055" y="1304290"/>
            <a:ext cx="7924165" cy="5090795"/>
          </a:xfrm>
          <a:prstGeom prst="rect">
            <a:avLst/>
          </a:prstGeom>
        </p:spPr>
      </p:pic>
      <p:sp>
        <p:nvSpPr>
          <p:cNvPr id="6" name="Rectangle 33"/>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lang="en-US" sz="1275" b="0">
                <a:solidFill>
                  <a:srgbClr val="727580"/>
                </a:solidFill>
                <a:latin typeface="Arial" panose="020B0604020202020204"/>
                <a:ea typeface="Arial" panose="020B0604020202020204"/>
                <a:cs typeface="Arial" panose="020B0604020202020204"/>
              </a:rPr>
              <a:t>11</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Contact Us - Team Members</a:t>
            </a:r>
            <a:r>
              <a:rPr sz="3300">
                <a:sym typeface="+mn-ea"/>
              </a:rPr>
              <a:t> </a:t>
            </a:r>
            <a:endParaRPr lang="en-US" sz="3300">
              <a:sym typeface="+mn-ea"/>
            </a:endParaRP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3"/>
          <p:cNvSpPr/>
          <p:nvPr/>
        </p:nvSpPr>
        <p:spPr>
          <a:xfrm>
            <a:off x="4563237"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33"/>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图片 4" descr="Contact Us"/>
          <p:cNvPicPr>
            <a:picLocks noChangeAspect="1"/>
          </p:cNvPicPr>
          <p:nvPr/>
        </p:nvPicPr>
        <p:blipFill>
          <a:blip r:embed="rId3"/>
          <a:stretch>
            <a:fillRect/>
          </a:stretch>
        </p:blipFill>
        <p:spPr>
          <a:xfrm>
            <a:off x="2078990" y="1289050"/>
            <a:ext cx="8139430" cy="51009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Who will do what, and when?"/>
          <p:cNvSpPr>
            <a:spLocks noGrp="1"/>
          </p:cNvSpPr>
          <p:nvPr/>
        </p:nvSpPr>
        <p:spPr>
          <a:xfrm>
            <a:off x="838200" y="654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endParaRPr sz="3300" b="1">
              <a:solidFill>
                <a:srgbClr val="04091D"/>
              </a:solidFill>
              <a:latin typeface="Arial" panose="020B0604020202020204"/>
              <a:ea typeface="Arial" panose="020B0604020202020204"/>
              <a:cs typeface="Arial" panose="020B0604020202020204"/>
            </a:endParaRPr>
          </a:p>
        </p:txBody>
      </p:sp>
      <p:sp>
        <p:nvSpPr>
          <p:cNvPr id="3" name="05"/>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lang="en-US" sz="1275" b="0" dirty="0">
                <a:solidFill>
                  <a:srgbClr val="727580"/>
                </a:solidFill>
                <a:latin typeface="Arial" panose="020B0604020202020204"/>
                <a:ea typeface="Arial" panose="020B0604020202020204"/>
                <a:cs typeface="Arial" panose="020B0604020202020204"/>
              </a:rPr>
              <a:t>12</a:t>
            </a:r>
            <a:endParaRPr sz="1275" b="0" dirty="0">
              <a:solidFill>
                <a:srgbClr val="727580"/>
              </a:solidFill>
              <a:latin typeface="Arial" panose="020B0604020202020204"/>
              <a:ea typeface="Arial" panose="020B0604020202020204"/>
              <a:cs typeface="Arial" panose="020B0604020202020204"/>
            </a:endParaRPr>
          </a:p>
        </p:txBody>
      </p:sp>
      <p:sp>
        <p:nvSpPr>
          <p:cNvPr id="3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dirty="0">
                <a:solidFill>
                  <a:srgbClr val="04091D"/>
                </a:solidFill>
                <a:latin typeface="Arial" panose="020B0604020202020204"/>
                <a:ea typeface="Arial" panose="020B0604020202020204"/>
                <a:cs typeface="Arial" panose="020B0604020202020204"/>
                <a:sym typeface="+mn-ea"/>
              </a:rPr>
              <a:t>5. </a:t>
            </a:r>
            <a:r>
              <a:rPr sz="3300" dirty="0">
                <a:sym typeface="+mn-ea"/>
              </a:rPr>
              <a:t>What makes Mind the Dock different?</a:t>
            </a:r>
          </a:p>
          <a:p>
            <a:pPr>
              <a:spcAft>
                <a:spcPts val="700"/>
              </a:spcAft>
              <a:defRPr sz="2700" b="1">
                <a:solidFill>
                  <a:srgbClr val="091430"/>
                </a:solidFill>
                <a:latin typeface="Aptos"/>
              </a:defRPr>
            </a:pPr>
            <a:endParaRPr lang="en-US" sz="3300" dirty="0">
              <a:sym typeface="+mn-ea"/>
            </a:endParaRPr>
          </a:p>
        </p:txBody>
      </p:sp>
      <p:sp>
        <p:nvSpPr>
          <p:cNvPr id="33" name="矩形 32"/>
          <p:cNvSpPr>
            <a:spLocks noGrp="1"/>
          </p:cNvSpPr>
          <p:nvPr/>
        </p:nvSpPr>
        <p:spPr>
          <a:xfrm>
            <a:off x="584835" y="1148715"/>
            <a:ext cx="11128375" cy="76200"/>
          </a:xfrm>
          <a:prstGeom prst="rect">
            <a:avLst/>
          </a:prstGeom>
          <a:solidFill>
            <a:srgbClr val="0BE4F7"/>
          </a:solidFill>
          <a:ln w="0">
            <a:noFill/>
          </a:ln>
        </p:spPr>
      </p:sp>
      <p:sp>
        <p:nvSpPr>
          <p:cNvPr id="35"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7"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3"/>
          <p:cNvSpPr/>
          <p:nvPr/>
        </p:nvSpPr>
        <p:spPr>
          <a:xfrm>
            <a:off x="5424593"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3"/>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0" name="组合 49"/>
          <p:cNvGrpSpPr/>
          <p:nvPr/>
        </p:nvGrpSpPr>
        <p:grpSpPr>
          <a:xfrm>
            <a:off x="795655" y="1600200"/>
            <a:ext cx="10533380" cy="932180"/>
            <a:chOff x="1253" y="2520"/>
            <a:chExt cx="16588" cy="1468"/>
          </a:xfrm>
        </p:grpSpPr>
        <p:sp>
          <p:nvSpPr>
            <p:cNvPr id="2" name="Rounded Rectangle 5"/>
            <p:cNvSpPr/>
            <p:nvPr>
              <p:custDataLst>
                <p:tags r:id="rId9"/>
              </p:custDataLst>
            </p:nvPr>
          </p:nvSpPr>
          <p:spPr>
            <a:xfrm>
              <a:off x="1253" y="2520"/>
              <a:ext cx="16589" cy="1469"/>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6"/>
            <p:cNvSpPr txBox="1"/>
            <p:nvPr>
              <p:custDataLst>
                <p:tags r:id="rId10"/>
              </p:custDataLst>
            </p:nvPr>
          </p:nvSpPr>
          <p:spPr>
            <a:xfrm>
              <a:off x="1483" y="2913"/>
              <a:ext cx="5904" cy="613"/>
            </a:xfrm>
            <a:prstGeom prst="rect">
              <a:avLst/>
            </a:prstGeom>
            <a:noFill/>
          </p:spPr>
          <p:txBody>
            <a:bodyPr wrap="square" lIns="54864" tIns="36576">
              <a:spAutoFit/>
            </a:bodyPr>
            <a:lstStyle/>
            <a:p>
              <a:pPr>
                <a:spcAft>
                  <a:spcPts val="700"/>
                </a:spcAft>
                <a:defRPr sz="1700" b="1">
                  <a:solidFill>
                    <a:srgbClr val="091430"/>
                  </a:solidFill>
                  <a:latin typeface="Aptos"/>
                </a:defRPr>
              </a:pPr>
              <a:r>
                <a:rPr sz="2000"/>
                <a:t>1   Temporal exploration</a:t>
              </a:r>
            </a:p>
          </p:txBody>
        </p:sp>
        <p:sp>
          <p:nvSpPr>
            <p:cNvPr id="34" name="TextBox 7"/>
            <p:cNvSpPr txBox="1"/>
            <p:nvPr>
              <p:custDataLst>
                <p:tags r:id="rId11"/>
              </p:custDataLst>
            </p:nvPr>
          </p:nvSpPr>
          <p:spPr>
            <a:xfrm>
              <a:off x="7387" y="2750"/>
              <a:ext cx="10022" cy="1001"/>
            </a:xfrm>
            <a:prstGeom prst="rect">
              <a:avLst/>
            </a:prstGeom>
            <a:noFill/>
          </p:spPr>
          <p:txBody>
            <a:bodyPr wrap="square" lIns="54864" tIns="36576">
              <a:spAutoFit/>
            </a:bodyPr>
            <a:lstStyle/>
            <a:p>
              <a:pPr>
                <a:spcAft>
                  <a:spcPts val="700"/>
                </a:spcAft>
                <a:defRPr sz="1400" b="0">
                  <a:solidFill>
                    <a:srgbClr val="091430"/>
                  </a:solidFill>
                  <a:latin typeface="Aptos"/>
                </a:defRPr>
              </a:pPr>
              <a:r>
                <a:rPr sz="1800"/>
                <a:t>Daily Flow visualises how station conditions change, rather than showing only the latest counts.</a:t>
              </a:r>
            </a:p>
          </p:txBody>
        </p:sp>
      </p:grpSp>
      <p:grpSp>
        <p:nvGrpSpPr>
          <p:cNvPr id="49" name="组合 48"/>
          <p:cNvGrpSpPr/>
          <p:nvPr/>
        </p:nvGrpSpPr>
        <p:grpSpPr>
          <a:xfrm>
            <a:off x="795655" y="2758440"/>
            <a:ext cx="10533380" cy="932180"/>
            <a:chOff x="1253" y="4205"/>
            <a:chExt cx="16588" cy="1468"/>
          </a:xfrm>
        </p:grpSpPr>
        <p:sp>
          <p:nvSpPr>
            <p:cNvPr id="40" name="Rounded Rectangle 8"/>
            <p:cNvSpPr/>
            <p:nvPr>
              <p:custDataLst>
                <p:tags r:id="rId6"/>
              </p:custDataLst>
            </p:nvPr>
          </p:nvSpPr>
          <p:spPr>
            <a:xfrm>
              <a:off x="1253" y="4205"/>
              <a:ext cx="16589" cy="1469"/>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9"/>
            <p:cNvSpPr txBox="1"/>
            <p:nvPr>
              <p:custDataLst>
                <p:tags r:id="rId7"/>
              </p:custDataLst>
            </p:nvPr>
          </p:nvSpPr>
          <p:spPr>
            <a:xfrm>
              <a:off x="1483" y="4598"/>
              <a:ext cx="5904" cy="613"/>
            </a:xfrm>
            <a:prstGeom prst="rect">
              <a:avLst/>
            </a:prstGeom>
            <a:noFill/>
          </p:spPr>
          <p:txBody>
            <a:bodyPr wrap="square" lIns="54864" tIns="36576">
              <a:spAutoFit/>
            </a:bodyPr>
            <a:lstStyle/>
            <a:p>
              <a:pPr>
                <a:spcAft>
                  <a:spcPts val="700"/>
                </a:spcAft>
                <a:defRPr sz="1700" b="1">
                  <a:solidFill>
                    <a:srgbClr val="091430"/>
                  </a:solidFill>
                  <a:latin typeface="Aptos"/>
                </a:defRPr>
              </a:pPr>
              <a:r>
                <a:rPr sz="2000"/>
                <a:t>2   Two-sided availability</a:t>
              </a:r>
            </a:p>
          </p:txBody>
        </p:sp>
        <p:sp>
          <p:nvSpPr>
            <p:cNvPr id="42" name="TextBox 10"/>
            <p:cNvSpPr txBox="1"/>
            <p:nvPr>
              <p:custDataLst>
                <p:tags r:id="rId8"/>
              </p:custDataLst>
            </p:nvPr>
          </p:nvSpPr>
          <p:spPr>
            <a:xfrm>
              <a:off x="7387" y="4435"/>
              <a:ext cx="10022" cy="1001"/>
            </a:xfrm>
            <a:prstGeom prst="rect">
              <a:avLst/>
            </a:prstGeom>
            <a:noFill/>
          </p:spPr>
          <p:txBody>
            <a:bodyPr wrap="square" lIns="54864" tIns="36576">
              <a:spAutoFit/>
            </a:bodyPr>
            <a:lstStyle/>
            <a:p>
              <a:pPr>
                <a:spcAft>
                  <a:spcPts val="700"/>
                </a:spcAft>
                <a:defRPr sz="1400" b="0">
                  <a:solidFill>
                    <a:srgbClr val="091430"/>
                  </a:solidFill>
                  <a:latin typeface="Aptos"/>
                </a:defRPr>
              </a:pPr>
              <a:r>
                <a:rPr sz="1800"/>
                <a:t>“Find a bike” and “Return a bike” solve different problems with context-aware legends.</a:t>
              </a:r>
            </a:p>
          </p:txBody>
        </p:sp>
      </p:grpSp>
      <p:grpSp>
        <p:nvGrpSpPr>
          <p:cNvPr id="51" name="组合 50"/>
          <p:cNvGrpSpPr/>
          <p:nvPr/>
        </p:nvGrpSpPr>
        <p:grpSpPr>
          <a:xfrm>
            <a:off x="795655" y="3916680"/>
            <a:ext cx="10533380" cy="932180"/>
            <a:chOff x="1253" y="6179"/>
            <a:chExt cx="16588" cy="1468"/>
          </a:xfrm>
        </p:grpSpPr>
        <p:sp>
          <p:nvSpPr>
            <p:cNvPr id="43" name="Rounded Rectangle 11"/>
            <p:cNvSpPr/>
            <p:nvPr>
              <p:custDataLst>
                <p:tags r:id="rId3"/>
              </p:custDataLst>
            </p:nvPr>
          </p:nvSpPr>
          <p:spPr>
            <a:xfrm>
              <a:off x="1253" y="6179"/>
              <a:ext cx="16589" cy="1469"/>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12"/>
            <p:cNvSpPr txBox="1"/>
            <p:nvPr>
              <p:custDataLst>
                <p:tags r:id="rId4"/>
              </p:custDataLst>
            </p:nvPr>
          </p:nvSpPr>
          <p:spPr>
            <a:xfrm>
              <a:off x="1483" y="6572"/>
              <a:ext cx="5904" cy="613"/>
            </a:xfrm>
            <a:prstGeom prst="rect">
              <a:avLst/>
            </a:prstGeom>
            <a:noFill/>
          </p:spPr>
          <p:txBody>
            <a:bodyPr wrap="square" lIns="54864" tIns="36576">
              <a:spAutoFit/>
            </a:bodyPr>
            <a:lstStyle/>
            <a:p>
              <a:pPr>
                <a:spcAft>
                  <a:spcPts val="700"/>
                </a:spcAft>
                <a:defRPr sz="1700" b="1">
                  <a:solidFill>
                    <a:srgbClr val="091430"/>
                  </a:solidFill>
                  <a:latin typeface="Aptos"/>
                </a:defRPr>
              </a:pPr>
              <a:r>
                <a:rPr sz="2000"/>
                <a:t>3   Evidence-informed safety</a:t>
              </a:r>
            </a:p>
          </p:txBody>
        </p:sp>
        <p:sp>
          <p:nvSpPr>
            <p:cNvPr id="45" name="TextBox 13"/>
            <p:cNvSpPr txBox="1"/>
            <p:nvPr>
              <p:custDataLst>
                <p:tags r:id="rId5"/>
              </p:custDataLst>
            </p:nvPr>
          </p:nvSpPr>
          <p:spPr>
            <a:xfrm>
              <a:off x="7387" y="6409"/>
              <a:ext cx="10022" cy="1001"/>
            </a:xfrm>
            <a:prstGeom prst="rect">
              <a:avLst/>
            </a:prstGeom>
            <a:noFill/>
          </p:spPr>
          <p:txBody>
            <a:bodyPr wrap="square" lIns="54864" tIns="36576">
              <a:spAutoFit/>
            </a:bodyPr>
            <a:lstStyle/>
            <a:p>
              <a:pPr>
                <a:spcAft>
                  <a:spcPts val="700"/>
                </a:spcAft>
                <a:defRPr sz="1400" b="0">
                  <a:solidFill>
                    <a:srgbClr val="091430"/>
                  </a:solidFill>
                  <a:latin typeface="Aptos"/>
                </a:defRPr>
              </a:pPr>
              <a:r>
                <a:rPr sz="1800"/>
                <a:t>Historic collision filters offer environmental context, with clear uncertainty labels.</a:t>
              </a:r>
            </a:p>
          </p:txBody>
        </p:sp>
      </p:grpSp>
      <p:grpSp>
        <p:nvGrpSpPr>
          <p:cNvPr id="52" name="组合 51"/>
          <p:cNvGrpSpPr/>
          <p:nvPr/>
        </p:nvGrpSpPr>
        <p:grpSpPr>
          <a:xfrm>
            <a:off x="795655" y="5074920"/>
            <a:ext cx="10533380" cy="932180"/>
            <a:chOff x="1253" y="7991"/>
            <a:chExt cx="16588" cy="1468"/>
          </a:xfrm>
        </p:grpSpPr>
        <p:sp>
          <p:nvSpPr>
            <p:cNvPr id="48" name="Rounded Rectangle 14"/>
            <p:cNvSpPr/>
            <p:nvPr/>
          </p:nvSpPr>
          <p:spPr>
            <a:xfrm>
              <a:off x="1253" y="7991"/>
              <a:ext cx="16589" cy="1469"/>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15"/>
            <p:cNvSpPr txBox="1"/>
            <p:nvPr>
              <p:custDataLst>
                <p:tags r:id="rId1"/>
              </p:custDataLst>
            </p:nvPr>
          </p:nvSpPr>
          <p:spPr>
            <a:xfrm>
              <a:off x="1483" y="8384"/>
              <a:ext cx="5904" cy="613"/>
            </a:xfrm>
            <a:prstGeom prst="rect">
              <a:avLst/>
            </a:prstGeom>
            <a:noFill/>
          </p:spPr>
          <p:txBody>
            <a:bodyPr wrap="square" lIns="54864" tIns="36576">
              <a:spAutoFit/>
            </a:bodyPr>
            <a:lstStyle/>
            <a:p>
              <a:pPr>
                <a:spcAft>
                  <a:spcPts val="700"/>
                </a:spcAft>
                <a:defRPr sz="1700" b="1">
                  <a:solidFill>
                    <a:srgbClr val="091430"/>
                  </a:solidFill>
                  <a:latin typeface="Aptos"/>
                </a:defRPr>
              </a:pPr>
              <a:r>
                <a:rPr sz="2000"/>
                <a:t>4   Explainable station insight</a:t>
              </a:r>
            </a:p>
          </p:txBody>
        </p:sp>
        <p:sp>
          <p:nvSpPr>
            <p:cNvPr id="47" name="TextBox 16"/>
            <p:cNvSpPr txBox="1"/>
            <p:nvPr>
              <p:custDataLst>
                <p:tags r:id="rId2"/>
              </p:custDataLst>
            </p:nvPr>
          </p:nvSpPr>
          <p:spPr>
            <a:xfrm>
              <a:off x="7387" y="8222"/>
              <a:ext cx="10022" cy="1001"/>
            </a:xfrm>
            <a:prstGeom prst="rect">
              <a:avLst/>
            </a:prstGeom>
            <a:noFill/>
          </p:spPr>
          <p:txBody>
            <a:bodyPr wrap="square" lIns="54864" tIns="36576">
              <a:spAutoFit/>
            </a:bodyPr>
            <a:lstStyle/>
            <a:p>
              <a:pPr>
                <a:spcAft>
                  <a:spcPts val="700"/>
                </a:spcAft>
                <a:defRPr sz="1400" b="0">
                  <a:solidFill>
                    <a:srgbClr val="091430"/>
                  </a:solidFill>
                  <a:latin typeface="Aptos"/>
                </a:defRPr>
              </a:pPr>
              <a:r>
                <a:rPr sz="1800"/>
                <a:t>Compare now versus usual, inspect faults and show data timestamp and source.</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Who will do what, and when?"/>
          <p:cNvSpPr>
            <a:spLocks noGrp="1"/>
          </p:cNvSpPr>
          <p:nvPr/>
        </p:nvSpPr>
        <p:spPr>
          <a:xfrm>
            <a:off x="838200" y="654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endParaRPr sz="3300" b="1">
              <a:solidFill>
                <a:srgbClr val="04091D"/>
              </a:solidFill>
              <a:latin typeface="Arial" panose="020B0604020202020204"/>
              <a:ea typeface="Arial" panose="020B0604020202020204"/>
              <a:cs typeface="Arial" panose="020B0604020202020204"/>
            </a:endParaRPr>
          </a:p>
        </p:txBody>
      </p:sp>
      <p:sp>
        <p:nvSpPr>
          <p:cNvPr id="3" name="05"/>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lang="en-US" sz="1275" b="0" dirty="0">
                <a:solidFill>
                  <a:srgbClr val="727580"/>
                </a:solidFill>
                <a:latin typeface="Arial" panose="020B0604020202020204"/>
                <a:ea typeface="Arial" panose="020B0604020202020204"/>
                <a:cs typeface="Arial" panose="020B0604020202020204"/>
              </a:rPr>
              <a:t>13</a:t>
            </a:r>
            <a:endParaRPr sz="1275" b="0" dirty="0">
              <a:solidFill>
                <a:srgbClr val="727580"/>
              </a:solidFill>
              <a:latin typeface="Arial" panose="020B0604020202020204"/>
              <a:ea typeface="Arial" panose="020B0604020202020204"/>
              <a:cs typeface="Arial" panose="020B0604020202020204"/>
            </a:endParaRPr>
          </a:p>
        </p:txBody>
      </p:sp>
      <p:sp>
        <p:nvSpPr>
          <p:cNvPr id="4" name="Team responsibilities"/>
          <p:cNvSpPr>
            <a:spLocks noGrp="1"/>
          </p:cNvSpPr>
          <p:nvPr/>
        </p:nvSpPr>
        <p:spPr>
          <a:xfrm>
            <a:off x="838200" y="1722755"/>
            <a:ext cx="6191250" cy="381000"/>
          </a:xfrm>
          <a:prstGeom prst="rect">
            <a:avLst/>
          </a:prstGeom>
          <a:noFill/>
          <a:ln w="0">
            <a:noFill/>
          </a:ln>
        </p:spPr>
        <p:txBody>
          <a:bodyPr wrap="square" lIns="0" tIns="0" rIns="0" bIns="0" anchor="t">
            <a:noAutofit/>
          </a:bodyPr>
          <a:lstStyle>
            <a:defPPr>
              <a:defRPr sz="2175" b="1">
                <a:solidFill>
                  <a:srgbClr val="04091D"/>
                </a:solidFill>
                <a:latin typeface="Arial" panose="020B0604020202020204"/>
                <a:ea typeface="Arial" panose="020B0604020202020204"/>
                <a:cs typeface="Arial" panose="020B0604020202020204"/>
              </a:defRPr>
            </a:defPPr>
          </a:lstStyle>
          <a:p>
            <a:pPr>
              <a:lnSpc>
                <a:spcPct val="113000"/>
              </a:lnSpc>
              <a:buNone/>
              <a:defRPr sz="2175" b="1">
                <a:solidFill>
                  <a:srgbClr val="04091D"/>
                </a:solidFill>
                <a:latin typeface="Arial" panose="020B0604020202020204"/>
                <a:ea typeface="Arial" panose="020B0604020202020204"/>
                <a:cs typeface="Arial" panose="020B0604020202020204"/>
              </a:defRPr>
            </a:pPr>
            <a:r>
              <a:rPr sz="2175" b="1">
                <a:solidFill>
                  <a:srgbClr val="04091D"/>
                </a:solidFill>
                <a:latin typeface="Arial" panose="020B0604020202020204"/>
                <a:ea typeface="Arial" panose="020B0604020202020204"/>
                <a:cs typeface="Arial" panose="020B0604020202020204"/>
              </a:rPr>
              <a:t>Team responsibilities</a:t>
            </a:r>
          </a:p>
        </p:txBody>
      </p:sp>
      <p:sp>
        <p:nvSpPr>
          <p:cNvPr id="5" name="Proposed milestones"/>
          <p:cNvSpPr>
            <a:spLocks noGrp="1"/>
          </p:cNvSpPr>
          <p:nvPr/>
        </p:nvSpPr>
        <p:spPr>
          <a:xfrm>
            <a:off x="7762875" y="1722755"/>
            <a:ext cx="3590925" cy="381000"/>
          </a:xfrm>
          <a:prstGeom prst="rect">
            <a:avLst/>
          </a:prstGeom>
          <a:noFill/>
          <a:ln w="0">
            <a:noFill/>
          </a:ln>
        </p:spPr>
        <p:txBody>
          <a:bodyPr wrap="square" lIns="0" tIns="0" rIns="0" bIns="0" anchor="t">
            <a:noAutofit/>
          </a:bodyPr>
          <a:lstStyle>
            <a:defPPr>
              <a:defRPr sz="2175" b="1">
                <a:solidFill>
                  <a:srgbClr val="04091D"/>
                </a:solidFill>
                <a:latin typeface="Arial" panose="020B0604020202020204"/>
                <a:ea typeface="Arial" panose="020B0604020202020204"/>
                <a:cs typeface="Arial" panose="020B0604020202020204"/>
              </a:defRPr>
            </a:defPPr>
          </a:lstStyle>
          <a:p>
            <a:pPr>
              <a:lnSpc>
                <a:spcPct val="113000"/>
              </a:lnSpc>
              <a:buNone/>
              <a:defRPr sz="2175" b="1">
                <a:solidFill>
                  <a:srgbClr val="04091D"/>
                </a:solidFill>
                <a:latin typeface="Arial" panose="020B0604020202020204"/>
                <a:ea typeface="Arial" panose="020B0604020202020204"/>
                <a:cs typeface="Arial" panose="020B0604020202020204"/>
              </a:defRPr>
            </a:pPr>
            <a:r>
              <a:rPr sz="2175" b="1">
                <a:solidFill>
                  <a:srgbClr val="04091D"/>
                </a:solidFill>
                <a:latin typeface="Arial" panose="020B0604020202020204"/>
                <a:ea typeface="Arial" panose="020B0604020202020204"/>
                <a:cs typeface="Arial" panose="020B0604020202020204"/>
              </a:rPr>
              <a:t>Proposed milestones</a:t>
            </a:r>
          </a:p>
        </p:txBody>
      </p:sp>
      <p:sp>
        <p:nvSpPr>
          <p:cNvPr id="6" name="Yifei Gong"/>
          <p:cNvSpPr>
            <a:spLocks noGrp="1"/>
          </p:cNvSpPr>
          <p:nvPr/>
        </p:nvSpPr>
        <p:spPr>
          <a:xfrm>
            <a:off x="838200" y="23228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Yifei Gong</a:t>
            </a:r>
          </a:p>
        </p:txBody>
      </p:sp>
      <p:sp>
        <p:nvSpPr>
          <p:cNvPr id="7" name="Express API, collection, deployment"/>
          <p:cNvSpPr>
            <a:spLocks noGrp="1"/>
          </p:cNvSpPr>
          <p:nvPr/>
        </p:nvSpPr>
        <p:spPr>
          <a:xfrm>
            <a:off x="3095625" y="2332355"/>
            <a:ext cx="4000500"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3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Express API, collection, deployment</a:t>
            </a:r>
          </a:p>
        </p:txBody>
      </p:sp>
      <p:sp>
        <p:nvSpPr>
          <p:cNvPr id="8" name="Jialing Zhao"/>
          <p:cNvSpPr>
            <a:spLocks noGrp="1"/>
          </p:cNvSpPr>
          <p:nvPr/>
        </p:nvSpPr>
        <p:spPr>
          <a:xfrm>
            <a:off x="838200" y="29324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Jialing Zhao</a:t>
            </a:r>
          </a:p>
        </p:txBody>
      </p:sp>
      <p:sp>
        <p:nvSpPr>
          <p:cNvPr id="9" name="MySQL setup and Python analysis"/>
          <p:cNvSpPr>
            <a:spLocks noGrp="1"/>
          </p:cNvSpPr>
          <p:nvPr/>
        </p:nvSpPr>
        <p:spPr>
          <a:xfrm>
            <a:off x="3095625" y="2941955"/>
            <a:ext cx="4000500"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3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MySQL setup and Python analysis</a:t>
            </a:r>
          </a:p>
        </p:txBody>
      </p:sp>
      <p:sp>
        <p:nvSpPr>
          <p:cNvPr id="10" name="Zeyu Cheng"/>
          <p:cNvSpPr>
            <a:spLocks noGrp="1"/>
          </p:cNvSpPr>
          <p:nvPr/>
        </p:nvSpPr>
        <p:spPr>
          <a:xfrm>
            <a:off x="838200" y="35420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Zeyu Cheng</a:t>
            </a:r>
          </a:p>
        </p:txBody>
      </p:sp>
      <p:sp>
        <p:nvSpPr>
          <p:cNvPr id="11" name="Leaflet map, station panel and charts"/>
          <p:cNvSpPr>
            <a:spLocks noGrp="1"/>
          </p:cNvSpPr>
          <p:nvPr/>
        </p:nvSpPr>
        <p:spPr>
          <a:xfrm>
            <a:off x="3095625" y="3551555"/>
            <a:ext cx="4000500"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3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Leaflet map, station panel and charts</a:t>
            </a:r>
          </a:p>
        </p:txBody>
      </p:sp>
      <p:sp>
        <p:nvSpPr>
          <p:cNvPr id="12" name="Jiahan Xie"/>
          <p:cNvSpPr>
            <a:spLocks noGrp="1"/>
          </p:cNvSpPr>
          <p:nvPr/>
        </p:nvSpPr>
        <p:spPr>
          <a:xfrm>
            <a:off x="838200" y="41516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Jiahan Xie</a:t>
            </a:r>
          </a:p>
        </p:txBody>
      </p:sp>
      <p:sp>
        <p:nvSpPr>
          <p:cNvPr id="13" name="Wireframes, CSS and interface testing"/>
          <p:cNvSpPr>
            <a:spLocks noGrp="1"/>
          </p:cNvSpPr>
          <p:nvPr/>
        </p:nvSpPr>
        <p:spPr>
          <a:xfrm>
            <a:off x="3095625" y="4161155"/>
            <a:ext cx="4277360"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3000"/>
              </a:lnSpc>
              <a:buNone/>
              <a:defRPr sz="1725" b="0">
                <a:solidFill>
                  <a:srgbClr val="3A3C52"/>
                </a:solidFill>
                <a:latin typeface="Arial" panose="020B0604020202020204"/>
                <a:ea typeface="Arial" panose="020B0604020202020204"/>
                <a:cs typeface="Arial" panose="020B0604020202020204"/>
              </a:defRPr>
            </a:pPr>
            <a:r>
              <a:rPr sz="1725" b="0" dirty="0">
                <a:solidFill>
                  <a:srgbClr val="3A3C52"/>
                </a:solidFill>
                <a:latin typeface="Arial" panose="020B0604020202020204"/>
                <a:ea typeface="Arial" panose="020B0604020202020204"/>
                <a:cs typeface="Arial" panose="020B0604020202020204"/>
              </a:rPr>
              <a:t>Wireframes, CSS and </a:t>
            </a:r>
            <a:r>
              <a:rPr lang="en-US" sz="1725" b="0" dirty="0">
                <a:solidFill>
                  <a:srgbClr val="3A3C52"/>
                </a:solidFill>
                <a:latin typeface="Arial" panose="020B0604020202020204"/>
                <a:ea typeface="Arial" panose="020B0604020202020204"/>
                <a:cs typeface="Arial" panose="020B0604020202020204"/>
              </a:rPr>
              <a:t>interactive </a:t>
            </a:r>
            <a:r>
              <a:rPr sz="1725" b="0" dirty="0">
                <a:solidFill>
                  <a:srgbClr val="3A3C52"/>
                </a:solidFill>
                <a:latin typeface="Arial" panose="020B0604020202020204"/>
                <a:ea typeface="Arial" panose="020B0604020202020204"/>
                <a:cs typeface="Arial" panose="020B0604020202020204"/>
              </a:rPr>
              <a:t>interface</a:t>
            </a:r>
          </a:p>
        </p:txBody>
      </p:sp>
      <p:sp>
        <p:nvSpPr>
          <p:cNvPr id="14" name="Shamima Akhtar"/>
          <p:cNvSpPr>
            <a:spLocks noGrp="1"/>
          </p:cNvSpPr>
          <p:nvPr/>
        </p:nvSpPr>
        <p:spPr>
          <a:xfrm>
            <a:off x="838200" y="47612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Shamima Akhtar</a:t>
            </a:r>
          </a:p>
        </p:txBody>
      </p:sp>
      <p:sp>
        <p:nvSpPr>
          <p:cNvPr id="15" name="Other pages, research and user tests"/>
          <p:cNvSpPr>
            <a:spLocks noGrp="1"/>
          </p:cNvSpPr>
          <p:nvPr/>
        </p:nvSpPr>
        <p:spPr>
          <a:xfrm>
            <a:off x="3095624" y="4770755"/>
            <a:ext cx="4295775"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defRPr sz="1725" b="0">
                <a:solidFill>
                  <a:srgbClr val="3A3C52"/>
                </a:solidFill>
                <a:latin typeface="Arial" panose="020B0604020202020204"/>
                <a:ea typeface="Arial" panose="020B0604020202020204"/>
                <a:cs typeface="Arial" panose="020B0604020202020204"/>
              </a:defRPr>
            </a:pPr>
            <a:r>
              <a:rPr lang="zh-CN" altLang="zh-CN" sz="1725" dirty="0">
                <a:solidFill>
                  <a:srgbClr val="3A3C52"/>
                </a:solidFill>
                <a:latin typeface="Arial" panose="020B0604020202020204"/>
              </a:rPr>
              <a:t>UX Design, Research and Testing</a:t>
            </a:r>
            <a:endParaRPr sz="1725" b="0" dirty="0">
              <a:solidFill>
                <a:srgbClr val="3A3C52"/>
              </a:solidFill>
              <a:latin typeface="Arial" panose="020B0604020202020204"/>
              <a:ea typeface="Arial" panose="020B0604020202020204"/>
              <a:cs typeface="Arial" panose="020B0604020202020204"/>
            </a:endParaRPr>
          </a:p>
        </p:txBody>
      </p:sp>
      <p:sp>
        <p:nvSpPr>
          <p:cNvPr id="16" name="矩形 15"/>
          <p:cNvSpPr>
            <a:spLocks noGrp="1"/>
          </p:cNvSpPr>
          <p:nvPr/>
        </p:nvSpPr>
        <p:spPr>
          <a:xfrm>
            <a:off x="7372350" y="2237105"/>
            <a:ext cx="19050" cy="3143250"/>
          </a:xfrm>
          <a:prstGeom prst="rect">
            <a:avLst/>
          </a:prstGeom>
          <a:solidFill>
            <a:srgbClr val="DDE0E5"/>
          </a:solidFill>
          <a:ln w="0">
            <a:noFill/>
          </a:ln>
        </p:spPr>
      </p:sp>
      <p:sp>
        <p:nvSpPr>
          <p:cNvPr id="17" name="18-21 Oct"/>
          <p:cNvSpPr>
            <a:spLocks noGrp="1"/>
          </p:cNvSpPr>
          <p:nvPr/>
        </p:nvSpPr>
        <p:spPr>
          <a:xfrm>
            <a:off x="7762875" y="22942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18-21 Oct</a:t>
            </a:r>
          </a:p>
        </p:txBody>
      </p:sp>
      <p:sp>
        <p:nvSpPr>
          <p:cNvPr id="18" name="Collection and database"/>
          <p:cNvSpPr>
            <a:spLocks noGrp="1"/>
          </p:cNvSpPr>
          <p:nvPr/>
        </p:nvSpPr>
        <p:spPr>
          <a:xfrm>
            <a:off x="7762875" y="25704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Collection and database</a:t>
            </a:r>
          </a:p>
        </p:txBody>
      </p:sp>
      <p:sp>
        <p:nvSpPr>
          <p:cNvPr id="19" name="22-28 Oct"/>
          <p:cNvSpPr>
            <a:spLocks noGrp="1"/>
          </p:cNvSpPr>
          <p:nvPr/>
        </p:nvSpPr>
        <p:spPr>
          <a:xfrm>
            <a:off x="7762875" y="29038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22-28 Oct</a:t>
            </a:r>
          </a:p>
        </p:txBody>
      </p:sp>
      <p:sp>
        <p:nvSpPr>
          <p:cNvPr id="20" name="Live map and station panel"/>
          <p:cNvSpPr>
            <a:spLocks noGrp="1"/>
          </p:cNvSpPr>
          <p:nvPr/>
        </p:nvSpPr>
        <p:spPr>
          <a:xfrm>
            <a:off x="7762875" y="31800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Live map and station panel</a:t>
            </a:r>
          </a:p>
        </p:txBody>
      </p:sp>
      <p:sp>
        <p:nvSpPr>
          <p:cNvPr id="21" name="29 Oct-3 Nov"/>
          <p:cNvSpPr>
            <a:spLocks noGrp="1"/>
          </p:cNvSpPr>
          <p:nvPr/>
        </p:nvSpPr>
        <p:spPr>
          <a:xfrm>
            <a:off x="7762875" y="35134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29 Oct-3 Nov</a:t>
            </a:r>
          </a:p>
        </p:txBody>
      </p:sp>
      <p:sp>
        <p:nvSpPr>
          <p:cNvPr id="22" name="Analysis and collision layer"/>
          <p:cNvSpPr>
            <a:spLocks noGrp="1"/>
          </p:cNvSpPr>
          <p:nvPr/>
        </p:nvSpPr>
        <p:spPr>
          <a:xfrm>
            <a:off x="7762875" y="37896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Analysis and collision layer</a:t>
            </a:r>
          </a:p>
        </p:txBody>
      </p:sp>
      <p:sp>
        <p:nvSpPr>
          <p:cNvPr id="23" name="4-12 Nov"/>
          <p:cNvSpPr>
            <a:spLocks noGrp="1"/>
          </p:cNvSpPr>
          <p:nvPr/>
        </p:nvSpPr>
        <p:spPr>
          <a:xfrm>
            <a:off x="7762875" y="41230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4-12 Nov</a:t>
            </a:r>
          </a:p>
        </p:txBody>
      </p:sp>
      <p:sp>
        <p:nvSpPr>
          <p:cNvPr id="24" name="User tests and report"/>
          <p:cNvSpPr>
            <a:spLocks noGrp="1"/>
          </p:cNvSpPr>
          <p:nvPr/>
        </p:nvSpPr>
        <p:spPr>
          <a:xfrm>
            <a:off x="7762875" y="43992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User tests and report</a:t>
            </a:r>
          </a:p>
        </p:txBody>
      </p:sp>
      <p:sp>
        <p:nvSpPr>
          <p:cNvPr id="25" name="13-15 Nov"/>
          <p:cNvSpPr>
            <a:spLocks noGrp="1"/>
          </p:cNvSpPr>
          <p:nvPr/>
        </p:nvSpPr>
        <p:spPr>
          <a:xfrm>
            <a:off x="7762875" y="47326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13-15 Nov</a:t>
            </a:r>
          </a:p>
        </p:txBody>
      </p:sp>
      <p:sp>
        <p:nvSpPr>
          <p:cNvPr id="26" name="Final checks and submission"/>
          <p:cNvSpPr>
            <a:spLocks noGrp="1"/>
          </p:cNvSpPr>
          <p:nvPr/>
        </p:nvSpPr>
        <p:spPr>
          <a:xfrm>
            <a:off x="7762875" y="50088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Final checks and submission</a:t>
            </a:r>
          </a:p>
        </p:txBody>
      </p:sp>
      <p:sp>
        <p:nvSpPr>
          <p:cNvPr id="27" name="矩形 26"/>
          <p:cNvSpPr>
            <a:spLocks noGrp="1"/>
          </p:cNvSpPr>
          <p:nvPr/>
        </p:nvSpPr>
        <p:spPr>
          <a:xfrm>
            <a:off x="838200" y="5704840"/>
            <a:ext cx="10515600" cy="28575"/>
          </a:xfrm>
          <a:prstGeom prst="rect">
            <a:avLst/>
          </a:prstGeom>
          <a:solidFill>
            <a:srgbClr val="0BE4F7"/>
          </a:solidFill>
          <a:ln w="0">
            <a:noFill/>
          </a:ln>
        </p:spPr>
      </p:sp>
      <p:sp>
        <p:nvSpPr>
          <p:cNvPr id="28" name="Everyone documents their work, commits regularly and reviews the "/>
          <p:cNvSpPr>
            <a:spLocks noGrp="1"/>
          </p:cNvSpPr>
          <p:nvPr/>
        </p:nvSpPr>
        <p:spPr>
          <a:xfrm>
            <a:off x="838200" y="5980430"/>
            <a:ext cx="10515600" cy="590550"/>
          </a:xfrm>
          <a:prstGeom prst="rect">
            <a:avLst/>
          </a:prstGeom>
          <a:noFill/>
          <a:ln w="0">
            <a:noFill/>
          </a:ln>
        </p:spPr>
        <p:txBody>
          <a:bodyPr wrap="square" lIns="0" tIns="0" rIns="0" bIns="0" anchor="t">
            <a:noAutofit/>
          </a:bodyPr>
          <a:lstStyle>
            <a:defPPr>
              <a:defRPr sz="1800" b="0">
                <a:solidFill>
                  <a:srgbClr val="3A3C52"/>
                </a:solidFill>
                <a:latin typeface="Arial" panose="020B0604020202020204"/>
                <a:ea typeface="Arial" panose="020B0604020202020204"/>
                <a:cs typeface="Arial" panose="020B0604020202020204"/>
              </a:defRPr>
            </a:defPPr>
          </a:lstStyle>
          <a:p>
            <a:pPr>
              <a:lnSpc>
                <a:spcPct val="113000"/>
              </a:lnSpc>
              <a:buNone/>
              <a:defRPr sz="1800" b="0">
                <a:solidFill>
                  <a:srgbClr val="3A3C52"/>
                </a:solidFill>
                <a:latin typeface="Arial" panose="020B0604020202020204"/>
                <a:ea typeface="Arial" panose="020B0604020202020204"/>
                <a:cs typeface="Arial" panose="020B0604020202020204"/>
              </a:defRPr>
            </a:pPr>
            <a:r>
              <a:rPr sz="1800" b="0">
                <a:solidFill>
                  <a:srgbClr val="3A3C52"/>
                </a:solidFill>
                <a:latin typeface="Arial" panose="020B0604020202020204"/>
                <a:ea typeface="Arial" panose="020B0604020202020204"/>
                <a:cs typeface="Arial" panose="020B0604020202020204"/>
              </a:rPr>
              <a:t>Everyone documents their work, commits regularly and reviews the team’s changes.</a:t>
            </a:r>
          </a:p>
        </p:txBody>
      </p:sp>
      <p:sp>
        <p:nvSpPr>
          <p:cNvPr id="3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dirty="0">
                <a:solidFill>
                  <a:srgbClr val="04091D"/>
                </a:solidFill>
                <a:latin typeface="Arial" panose="020B0604020202020204"/>
                <a:ea typeface="Arial" panose="020B0604020202020204"/>
                <a:cs typeface="Arial" panose="020B0604020202020204"/>
                <a:sym typeface="+mn-ea"/>
              </a:rPr>
              <a:t>6. </a:t>
            </a:r>
            <a:r>
              <a:rPr sz="3300" dirty="0">
                <a:solidFill>
                  <a:srgbClr val="04091D"/>
                </a:solidFill>
                <a:latin typeface="Arial" panose="020B0604020202020204"/>
                <a:ea typeface="Arial" panose="020B0604020202020204"/>
                <a:cs typeface="Arial" panose="020B0604020202020204"/>
                <a:sym typeface="+mn-ea"/>
              </a:rPr>
              <a:t>Who will do what, and when?</a:t>
            </a:r>
            <a:r>
              <a:rPr sz="3300" dirty="0">
                <a:sym typeface="+mn-ea"/>
              </a:rPr>
              <a:t> </a:t>
            </a:r>
            <a:endParaRPr lang="en-US" sz="3300" dirty="0">
              <a:sym typeface="+mn-ea"/>
            </a:endParaRPr>
          </a:p>
        </p:txBody>
      </p:sp>
      <p:sp>
        <p:nvSpPr>
          <p:cNvPr id="33" name="矩形 32"/>
          <p:cNvSpPr>
            <a:spLocks noGrp="1"/>
          </p:cNvSpPr>
          <p:nvPr/>
        </p:nvSpPr>
        <p:spPr>
          <a:xfrm>
            <a:off x="584835" y="1148715"/>
            <a:ext cx="11128375" cy="76200"/>
          </a:xfrm>
          <a:prstGeom prst="rect">
            <a:avLst/>
          </a:prstGeom>
          <a:solidFill>
            <a:srgbClr val="0BE4F7"/>
          </a:solidFill>
          <a:ln w="0">
            <a:noFill/>
          </a:ln>
        </p:spPr>
      </p:sp>
      <p:sp>
        <p:nvSpPr>
          <p:cNvPr id="35"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7"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3"/>
          <p:cNvSpPr/>
          <p:nvPr/>
        </p:nvSpPr>
        <p:spPr>
          <a:xfrm>
            <a:off x="534111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3"/>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33">
            <a:extLst>
              <a:ext uri="{FF2B5EF4-FFF2-40B4-BE49-F238E27FC236}">
                <a16:creationId xmlns:a16="http://schemas.microsoft.com/office/drawing/2014/main" id="{EB993E97-E901-2A3D-1804-B2042A13D156}"/>
              </a:ext>
            </a:extLst>
          </p:cNvPr>
          <p:cNvSpPr/>
          <p:nvPr/>
        </p:nvSpPr>
        <p:spPr>
          <a:xfrm>
            <a:off x="5970397"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1" name="Database: station status and history"/>
          <p:cNvSpPr>
            <a:spLocks noGrp="1"/>
          </p:cNvSpPr>
          <p:nvPr/>
        </p:nvSpPr>
        <p:spPr>
          <a:xfrm>
            <a:off x="838200" y="42862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0000"/>
              </a:lnSpc>
              <a:buNone/>
              <a:defRPr sz="3300" b="1">
                <a:solidFill>
                  <a:srgbClr val="04091D"/>
                </a:solidFill>
                <a:latin typeface="Arial" panose="020B0604020202020204"/>
                <a:ea typeface="Arial" panose="020B0604020202020204"/>
                <a:cs typeface="Arial" panose="020B0604020202020204"/>
              </a:defRPr>
            </a:pPr>
            <a:r>
              <a:rPr sz="3300" b="1">
                <a:solidFill>
                  <a:srgbClr val="04091D"/>
                </a:solidFill>
                <a:latin typeface="Arial" panose="020B0604020202020204"/>
                <a:ea typeface="Arial" panose="020B0604020202020204"/>
                <a:cs typeface="Arial" panose="020B0604020202020204"/>
              </a:rPr>
              <a:t>Database: station status and history</a:t>
            </a:r>
          </a:p>
        </p:txBody>
      </p:sp>
      <p:sp>
        <p:nvSpPr>
          <p:cNvPr id="2" name="矩形 1"/>
          <p:cNvSpPr>
            <a:spLocks noGrp="1"/>
          </p:cNvSpPr>
          <p:nvPr/>
        </p:nvSpPr>
        <p:spPr>
          <a:xfrm>
            <a:off x="838200" y="1438275"/>
            <a:ext cx="10515600" cy="38100"/>
          </a:xfrm>
          <a:prstGeom prst="rect">
            <a:avLst/>
          </a:prstGeom>
          <a:solidFill>
            <a:srgbClr val="0BE4F7"/>
          </a:solidFill>
          <a:ln w="0">
            <a:noFill/>
          </a:ln>
        </p:spPr>
      </p:sp>
      <p:sp>
        <p:nvSpPr>
          <p:cNvPr id="3" name="06"/>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06</a:t>
            </a:r>
          </a:p>
        </p:txBody>
      </p:sp>
      <p:sp>
        <p:nvSpPr>
          <p:cNvPr id="4" name="bike_stations"/>
          <p:cNvSpPr>
            <a:spLocks noGrp="1"/>
          </p:cNvSpPr>
          <p:nvPr/>
        </p:nvSpPr>
        <p:spPr>
          <a:xfrm>
            <a:off x="838200" y="1685925"/>
            <a:ext cx="4953000" cy="34290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0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bike_stations</a:t>
            </a:r>
          </a:p>
        </p:txBody>
      </p:sp>
      <p:sp>
        <p:nvSpPr>
          <p:cNvPr id="5" name="Latest station state and update times"/>
          <p:cNvSpPr>
            <a:spLocks noGrp="1"/>
          </p:cNvSpPr>
          <p:nvPr/>
        </p:nvSpPr>
        <p:spPr>
          <a:xfrm>
            <a:off x="838200" y="2085975"/>
            <a:ext cx="4953000"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0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Latest station state and update times</a:t>
            </a:r>
          </a:p>
        </p:txBody>
      </p:sp>
      <p:sp>
        <p:nvSpPr>
          <p:cNvPr id="6" name="availability_history"/>
          <p:cNvSpPr>
            <a:spLocks noGrp="1"/>
          </p:cNvSpPr>
          <p:nvPr/>
        </p:nvSpPr>
        <p:spPr>
          <a:xfrm>
            <a:off x="6362700" y="1685925"/>
            <a:ext cx="4991100" cy="34290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0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availability_history</a:t>
            </a:r>
          </a:p>
        </p:txBody>
      </p:sp>
      <p:sp>
        <p:nvSpPr>
          <p:cNvPr id="7" name="Snapshots for the availability chart"/>
          <p:cNvSpPr>
            <a:spLocks noGrp="1"/>
          </p:cNvSpPr>
          <p:nvPr/>
        </p:nvSpPr>
        <p:spPr>
          <a:xfrm>
            <a:off x="6362700" y="2085975"/>
            <a:ext cx="4991100"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0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Snapshots for the availability chart</a:t>
            </a:r>
          </a:p>
        </p:txBody>
      </p:sp>
      <p:pic>
        <p:nvPicPr>
          <p:cNvPr id="8" name="图片 7"/>
          <p:cNvPicPr>
            <a:picLocks noChangeAspect="1"/>
          </p:cNvPicPr>
          <p:nvPr/>
        </p:nvPicPr>
        <p:blipFill>
          <a:blip r:embed="rId3"/>
          <a:stretch>
            <a:fillRect/>
          </a:stretch>
        </p:blipFill>
        <p:spPr>
          <a:xfrm>
            <a:off x="2110068" y="2543175"/>
            <a:ext cx="2409265" cy="3810000"/>
          </a:xfrm>
          <a:prstGeom prst="rect">
            <a:avLst/>
          </a:prstGeom>
        </p:spPr>
      </p:pic>
      <p:pic>
        <p:nvPicPr>
          <p:cNvPr id="9" name="图片 8"/>
          <p:cNvPicPr>
            <a:picLocks noChangeAspect="1"/>
          </p:cNvPicPr>
          <p:nvPr/>
        </p:nvPicPr>
        <p:blipFill>
          <a:blip r:embed="rId4"/>
          <a:stretch>
            <a:fillRect/>
          </a:stretch>
        </p:blipFill>
        <p:spPr>
          <a:xfrm>
            <a:off x="7464949" y="2543175"/>
            <a:ext cx="2786602" cy="3810000"/>
          </a:xfrm>
          <a:prstGeom prst="rect">
            <a:avLst/>
          </a:prstGeom>
        </p:spPr>
      </p:pic>
      <p:sp>
        <p:nvSpPr>
          <p:cNvPr id="10" name="APPENDIX   Team-provided database schema screenshots"/>
          <p:cNvSpPr>
            <a:spLocks noGrp="1"/>
          </p:cNvSpPr>
          <p:nvPr/>
        </p:nvSpPr>
        <p:spPr>
          <a:xfrm>
            <a:off x="838200" y="6543675"/>
            <a:ext cx="9525000" cy="228600"/>
          </a:xfrm>
          <a:prstGeom prst="rect">
            <a:avLst/>
          </a:prstGeom>
          <a:noFill/>
          <a:ln w="0">
            <a:noFill/>
          </a:ln>
        </p:spPr>
        <p:txBody>
          <a:bodyPr wrap="square" lIns="0" tIns="0" rIns="0" bIns="0" anchor="t">
            <a:noAutofit/>
          </a:bodyPr>
          <a:lstStyle>
            <a:defPPr>
              <a:defRPr sz="1275" b="0">
                <a:solidFill>
                  <a:srgbClr val="727580"/>
                </a:solidFill>
                <a:latin typeface="Arial" panose="020B0604020202020204"/>
                <a:ea typeface="Arial" panose="020B0604020202020204"/>
                <a:cs typeface="Arial" panose="020B0604020202020204"/>
              </a:defRPr>
            </a:defPPr>
          </a:lstStyle>
          <a:p>
            <a:pP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APPENDIX   Team-provided database schema screenshots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1" name="Database: collisions and fault reports"/>
          <p:cNvSpPr>
            <a:spLocks noGrp="1"/>
          </p:cNvSpPr>
          <p:nvPr/>
        </p:nvSpPr>
        <p:spPr>
          <a:xfrm>
            <a:off x="838200" y="42862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0000"/>
              </a:lnSpc>
              <a:buNone/>
              <a:defRPr sz="3300" b="1">
                <a:solidFill>
                  <a:srgbClr val="04091D"/>
                </a:solidFill>
                <a:latin typeface="Arial" panose="020B0604020202020204"/>
                <a:ea typeface="Arial" panose="020B0604020202020204"/>
                <a:cs typeface="Arial" panose="020B0604020202020204"/>
              </a:defRPr>
            </a:pPr>
            <a:r>
              <a:rPr sz="3300" b="1">
                <a:solidFill>
                  <a:srgbClr val="04091D"/>
                </a:solidFill>
                <a:latin typeface="Arial" panose="020B0604020202020204"/>
                <a:ea typeface="Arial" panose="020B0604020202020204"/>
                <a:cs typeface="Arial" panose="020B0604020202020204"/>
              </a:rPr>
              <a:t>Database: collisions and fault reports</a:t>
            </a:r>
          </a:p>
        </p:txBody>
      </p:sp>
      <p:sp>
        <p:nvSpPr>
          <p:cNvPr id="2" name="矩形 1"/>
          <p:cNvSpPr>
            <a:spLocks noGrp="1"/>
          </p:cNvSpPr>
          <p:nvPr/>
        </p:nvSpPr>
        <p:spPr>
          <a:xfrm>
            <a:off x="838200" y="1438275"/>
            <a:ext cx="10515600" cy="38100"/>
          </a:xfrm>
          <a:prstGeom prst="rect">
            <a:avLst/>
          </a:prstGeom>
          <a:solidFill>
            <a:srgbClr val="0BE4F7"/>
          </a:solidFill>
          <a:ln w="0">
            <a:noFill/>
          </a:ln>
        </p:spPr>
      </p:sp>
      <p:sp>
        <p:nvSpPr>
          <p:cNvPr id="3" name="07"/>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07</a:t>
            </a:r>
          </a:p>
        </p:txBody>
      </p:sp>
      <p:sp>
        <p:nvSpPr>
          <p:cNvPr id="4" name="collisions"/>
          <p:cNvSpPr>
            <a:spLocks noGrp="1"/>
          </p:cNvSpPr>
          <p:nvPr/>
        </p:nvSpPr>
        <p:spPr>
          <a:xfrm>
            <a:off x="838200" y="1685925"/>
            <a:ext cx="4953000" cy="34290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0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collisions</a:t>
            </a:r>
          </a:p>
        </p:txBody>
      </p:sp>
      <p:sp>
        <p:nvSpPr>
          <p:cNvPr id="5" name="Recorded collisions and cycling involvement"/>
          <p:cNvSpPr>
            <a:spLocks noGrp="1"/>
          </p:cNvSpPr>
          <p:nvPr/>
        </p:nvSpPr>
        <p:spPr>
          <a:xfrm>
            <a:off x="838200" y="2085975"/>
            <a:ext cx="4953000"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0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Recorded collisions and cycling involvement</a:t>
            </a:r>
          </a:p>
        </p:txBody>
      </p:sp>
      <p:sp>
        <p:nvSpPr>
          <p:cNvPr id="6" name="fault_reports"/>
          <p:cNvSpPr>
            <a:spLocks noGrp="1"/>
          </p:cNvSpPr>
          <p:nvPr/>
        </p:nvSpPr>
        <p:spPr>
          <a:xfrm>
            <a:off x="6362700" y="1685925"/>
            <a:ext cx="4991100" cy="34290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0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fault_reports</a:t>
            </a:r>
          </a:p>
        </p:txBody>
      </p:sp>
      <p:sp>
        <p:nvSpPr>
          <p:cNvPr id="7" name="Fields for a possible reporting feature"/>
          <p:cNvSpPr>
            <a:spLocks noGrp="1"/>
          </p:cNvSpPr>
          <p:nvPr/>
        </p:nvSpPr>
        <p:spPr>
          <a:xfrm>
            <a:off x="6362700" y="2085975"/>
            <a:ext cx="4991100"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0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Fields for a possible reporting feature</a:t>
            </a:r>
          </a:p>
        </p:txBody>
      </p:sp>
      <p:pic>
        <p:nvPicPr>
          <p:cNvPr id="8" name="图片 7"/>
          <p:cNvPicPr>
            <a:picLocks noChangeAspect="1"/>
          </p:cNvPicPr>
          <p:nvPr/>
        </p:nvPicPr>
        <p:blipFill>
          <a:blip r:embed="rId3"/>
          <a:stretch>
            <a:fillRect/>
          </a:stretch>
        </p:blipFill>
        <p:spPr>
          <a:xfrm>
            <a:off x="1833890" y="2543175"/>
            <a:ext cx="2961619" cy="3810000"/>
          </a:xfrm>
          <a:prstGeom prst="rect">
            <a:avLst/>
          </a:prstGeom>
        </p:spPr>
      </p:pic>
      <p:pic>
        <p:nvPicPr>
          <p:cNvPr id="9" name="图片 8"/>
          <p:cNvPicPr>
            <a:picLocks noChangeAspect="1"/>
          </p:cNvPicPr>
          <p:nvPr/>
        </p:nvPicPr>
        <p:blipFill>
          <a:blip r:embed="rId4"/>
          <a:stretch>
            <a:fillRect/>
          </a:stretch>
        </p:blipFill>
        <p:spPr>
          <a:xfrm>
            <a:off x="7508554" y="2543175"/>
            <a:ext cx="2699393" cy="3810000"/>
          </a:xfrm>
          <a:prstGeom prst="rect">
            <a:avLst/>
          </a:prstGeom>
        </p:spPr>
      </p:pic>
      <p:sp>
        <p:nvSpPr>
          <p:cNvPr id="10" name="APPENDIX   Collision data source and reporting workflow remain to be c"/>
          <p:cNvSpPr>
            <a:spLocks noGrp="1"/>
          </p:cNvSpPr>
          <p:nvPr/>
        </p:nvSpPr>
        <p:spPr>
          <a:xfrm>
            <a:off x="838200" y="6543675"/>
            <a:ext cx="9906000" cy="228600"/>
          </a:xfrm>
          <a:prstGeom prst="rect">
            <a:avLst/>
          </a:prstGeom>
          <a:noFill/>
          <a:ln w="0">
            <a:noFill/>
          </a:ln>
        </p:spPr>
        <p:txBody>
          <a:bodyPr wrap="square" lIns="0" tIns="0" rIns="0" bIns="0" anchor="t">
            <a:noAutofit/>
          </a:bodyPr>
          <a:lstStyle>
            <a:defPPr>
              <a:defRPr sz="1275" b="0">
                <a:solidFill>
                  <a:srgbClr val="727580"/>
                </a:solidFill>
                <a:latin typeface="Arial" panose="020B0604020202020204"/>
                <a:ea typeface="Arial" panose="020B0604020202020204"/>
                <a:cs typeface="Arial" panose="020B0604020202020204"/>
              </a:defRPr>
            </a:defPPr>
          </a:lstStyle>
          <a:p>
            <a:pP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APPENDIX   Collision data source and reporting workflow remain to be confirmed</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Database query: sample station records"/>
          <p:cNvSpPr>
            <a:spLocks noGrp="1"/>
          </p:cNvSpPr>
          <p:nvPr/>
        </p:nvSpPr>
        <p:spPr>
          <a:xfrm>
            <a:off x="838200" y="42862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0000"/>
              </a:lnSpc>
              <a:buNone/>
              <a:defRPr sz="3300" b="1">
                <a:solidFill>
                  <a:srgbClr val="04091D"/>
                </a:solidFill>
                <a:latin typeface="Arial" panose="020B0604020202020204"/>
                <a:ea typeface="Arial" panose="020B0604020202020204"/>
                <a:cs typeface="Arial" panose="020B0604020202020204"/>
              </a:defRPr>
            </a:pPr>
            <a:r>
              <a:rPr sz="3300" b="1">
                <a:solidFill>
                  <a:srgbClr val="04091D"/>
                </a:solidFill>
                <a:latin typeface="Arial" panose="020B0604020202020204"/>
                <a:ea typeface="Arial" panose="020B0604020202020204"/>
                <a:cs typeface="Arial" panose="020B0604020202020204"/>
              </a:rPr>
              <a:t>Database query: sample station records</a:t>
            </a:r>
          </a:p>
        </p:txBody>
      </p:sp>
      <p:sp>
        <p:nvSpPr>
          <p:cNvPr id="2" name="矩形 1"/>
          <p:cNvSpPr>
            <a:spLocks noGrp="1"/>
          </p:cNvSpPr>
          <p:nvPr/>
        </p:nvSpPr>
        <p:spPr>
          <a:xfrm>
            <a:off x="838200" y="1438275"/>
            <a:ext cx="10515600" cy="38100"/>
          </a:xfrm>
          <a:prstGeom prst="rect">
            <a:avLst/>
          </a:prstGeom>
          <a:solidFill>
            <a:srgbClr val="0BE4F7"/>
          </a:solidFill>
          <a:ln w="0">
            <a:noFill/>
          </a:ln>
        </p:spPr>
      </p:sp>
      <p:sp>
        <p:nvSpPr>
          <p:cNvPr id="3" name="08"/>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08</a:t>
            </a:r>
          </a:p>
        </p:txBody>
      </p:sp>
      <p:pic>
        <p:nvPicPr>
          <p:cNvPr id="4" name="图片 3"/>
          <p:cNvPicPr>
            <a:picLocks noChangeAspect="1"/>
          </p:cNvPicPr>
          <p:nvPr/>
        </p:nvPicPr>
        <p:blipFill>
          <a:blip r:embed="rId3"/>
          <a:stretch>
            <a:fillRect/>
          </a:stretch>
        </p:blipFill>
        <p:spPr>
          <a:xfrm>
            <a:off x="2325392" y="1657350"/>
            <a:ext cx="7541216" cy="4695825"/>
          </a:xfrm>
          <a:prstGeom prst="rect">
            <a:avLst/>
          </a:prstGeom>
        </p:spPr>
      </p:pic>
      <p:sp>
        <p:nvSpPr>
          <p:cNvPr id="5" name="APPENDIX   Query sample dated 11 October 2026. Counts belong to this s"/>
          <p:cNvSpPr>
            <a:spLocks noGrp="1"/>
          </p:cNvSpPr>
          <p:nvPr/>
        </p:nvSpPr>
        <p:spPr>
          <a:xfrm>
            <a:off x="838200" y="6543675"/>
            <a:ext cx="9906000" cy="228600"/>
          </a:xfrm>
          <a:prstGeom prst="rect">
            <a:avLst/>
          </a:prstGeom>
          <a:noFill/>
          <a:ln w="0">
            <a:noFill/>
          </a:ln>
        </p:spPr>
        <p:txBody>
          <a:bodyPr wrap="square" lIns="0" tIns="0" rIns="0" bIns="0" anchor="t">
            <a:noAutofit/>
          </a:bodyPr>
          <a:lstStyle>
            <a:defPPr>
              <a:defRPr sz="1275" b="0">
                <a:solidFill>
                  <a:srgbClr val="727580"/>
                </a:solidFill>
                <a:latin typeface="Arial" panose="020B0604020202020204"/>
                <a:ea typeface="Arial" panose="020B0604020202020204"/>
                <a:cs typeface="Arial" panose="020B0604020202020204"/>
              </a:defRPr>
            </a:defPPr>
          </a:lstStyle>
          <a:p>
            <a:pP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APPENDIX   Query sample dated 11 October 2026. Counts belong to this sample.</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0&quot;:[50063507,50063596,5006359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9.xml><?xml version="1.0" encoding="utf-8"?>
<p:tagLst xmlns:a="http://schemas.openxmlformats.org/drawingml/2006/main" xmlns:r="http://schemas.openxmlformats.org/officeDocument/2006/relationships" xmlns:p="http://schemas.openxmlformats.org/presentationml/2006/main">
  <p:tag name="KSO_DOCER_RESOURCE_TRACE_INFO" val="{&quot;id&quot;:&quot;50063596&quot;,&quot;origin&quot;:0,&quot;type&quot;:&quot;icons&quot;,&quot;user&quot;:&quot;681059035&quot;}"/>
</p:tagLst>
</file>

<file path=ppt/tags/tag20.xml><?xml version="1.0" encoding="utf-8"?>
<p:tagLst xmlns:a="http://schemas.openxmlformats.org/drawingml/2006/main" xmlns:r="http://schemas.openxmlformats.org/officeDocument/2006/relationships" xmlns:p="http://schemas.openxmlformats.org/presentationml/2006/main">
  <p:tag name="KSO_DOCER_RESOURCE_TRACE_INFO" val="{&quot;id&quot;:&quot;50063598&quot;,&quot;origin&quot;:0,&quot;type&quot;:&quot;icons&quot;,&quot;user&quot;:&quot;681059035&quot;}"/>
</p:tagLst>
</file>

<file path=ppt/tags/tag21.xml><?xml version="1.0" encoding="utf-8"?>
<p:tagLst xmlns:a="http://schemas.openxmlformats.org/drawingml/2006/main" xmlns:r="http://schemas.openxmlformats.org/officeDocument/2006/relationships" xmlns:p="http://schemas.openxmlformats.org/presentationml/2006/main">
  <p:tag name="KSO_DOCER_RESOURCE_TRACE_INFO" val="{&quot;id&quot;:&quot;50063507&quot;,&quot;origin&quot;:0,&quot;type&quot;:&quot;icons&quot;,&quot;user&quot;:&quot;681059035&quot;}"/>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4270</Words>
  <Application>Microsoft Office PowerPoint</Application>
  <PresentationFormat>宽屏</PresentationFormat>
  <Paragraphs>256</Paragraphs>
  <Slides>16</Slides>
  <Notes>16</Notes>
  <HiddenSlides>3</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16</vt:i4>
      </vt:variant>
    </vt:vector>
  </HeadingPairs>
  <TitlesOfParts>
    <vt:vector size="20" baseType="lpstr">
      <vt:lpstr>Aptos</vt:lpstr>
      <vt:lpstr>Aptos Display</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Jiahan Xie</cp:lastModifiedBy>
  <cp:revision>11</cp:revision>
  <dcterms:created xsi:type="dcterms:W3CDTF">2026-10-16T23:49:00Z</dcterms:created>
  <dcterms:modified xsi:type="dcterms:W3CDTF">2026-10-21T19:30:16Z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E6BEE5470B17400B9FB2054A125CCDF7_12</vt:lpwstr>
  </property>
</Properties>
</file>